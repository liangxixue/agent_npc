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03" r:id="rId2"/>
    <p:sldId id="561" r:id="rId3"/>
    <p:sldId id="257" r:id="rId4"/>
    <p:sldId id="258" r:id="rId5"/>
    <p:sldId id="56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408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等线" panose="02010600030101010101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7661E-92E0-4F2F-85C8-1349F0222E3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E0C75-5793-26A2-42DA-0C8C5A3FB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426BE8-E1BF-052B-C4EC-3EAA44A5B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38D9D1-767D-28A5-EF2B-F3EA5B5F4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ea typeface="等线" panose="02010600030101010101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FAD485-65A0-DBF7-674E-BC74EE472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CE9E52-5BFC-4146-85C0-958F413DF35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557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这页把原来的问题定义和项目目标合在一起讲。左边是为什么普通 LLM 角色对话不够：它可能把说出来的内容误当成已经发生的事实，也可能因为缺少稳定上下文而让角色知识边界断裂；如果只保存最后回复，后续也很难复盘行为原因。右边是项目为了解决这些问题补上的四个支柱：状态、记忆、校验和 trace。核心目标是把 LLM 的表达能力保留下来，但让世界事实由可验证的程序流程维护。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这页展开项目演进的前半部分。第一阶段先做单 NPC 记忆对话原型，是为了验证最小闭环：系统能读取状态、调用 LLM、生成回复，并把过程保存下来。这样项目不是停留在 prompt demo，而是有了 SQLite、workflow 和 trace 作为后续扩展基座。第二阶段加入分层上下文和玩家端，是因为早期原型只看当前输入时角色容易断裂。把 lore、近期上下文、长期记忆和 UI 入口分开后，角色回复更稳定，也更容易调试和展示。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CC42F-F5B4-C0A4-2E8F-EE98B5F41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5A6D5-CFF9-9E4E-68DE-5EC9315FB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799B32-EDCA-4900-7FCB-9ED6B25BB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这页展开项目演进的前半部分。第一阶段先做单 NPC 记忆对话原型，是为了验证最小闭环：系统能读取状态、调用 LLM、生成回复，并把过程保存下来。这样项目不是停留在 prompt demo，而是有了 SQLite、workflow 和 trace 作为后续扩展基座。第二阶段加入分层上下文和玩家端，是因为早期原型只看当前输入时角色容易断裂。把 lore、近期上下文、长期记忆和 UI 入口分开后，角色回复更稳定，也更容易调试和展示。</a:t>
            </a:r>
          </a:p>
        </p:txBody>
      </p:sp>
    </p:spTree>
    <p:extLst>
      <p:ext uri="{BB962C8B-B14F-4D97-AF65-F5344CB8AC3E}">
        <p14:creationId xmlns:p14="http://schemas.microsoft.com/office/powerpoint/2010/main" val="424519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在进入 Sable 之前，先说明另外三个基础 NPC 的设定。Lina 是酒馆老板，既是信息交汇点，也是隐藏入口的保护者，她关注的是玩家是否可信；Ron 是守卫，他代表公共安全和证据门控，要求时间、地点、见证人或徽章等可核验材料；Mira 是遗迹学者，她关注一手观察、田野笔记和不确定性的标注。这三位角色共同说明系统不是让所有 NPC 都随意回答，而是给每个角色明确职责、记忆边界和行动条件。这样后面再看 Sable，就能看出它的特殊性：它不是更有权限，而是通过非正式信息渠道影响路线优势。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这页展示第一个真实运行结果：classroom showcase。这个 run 使用的是 truth-seeking 风格的 Arin the Cartographer，总共跑了 20 轮，最终 outcome 是 guardian_advantage，arc phase 为 resolved，tension 为 4。它覆盖了 Lina、Ron、Mira 和 Sable 四个 NPC，并在过程中记录了 Traveler 的行动理由、NPC 回复、关系变化、exploration leads 和 arc evidence。这个结果最适合课堂展示，因为它说明 Traveler 会按 profile 主动规划路线，并且每一步都有可复盘证据。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这页展示第二个真实运行结果：Sable advantage。这个 run 使用的是 prestige / follow_rumors 风格的 Elyan Vale，总共跑了 15 轮，最终 outcome 是 sable_advantage，最终位置在 market。它和 classroom showcase 的差异很明显：Traveler 一开始就接触 Sable，后续路线也更偏向非正式信息渠道；Round 14 还记录了 secret hinted。这个结果说明不同 profile 会改变路线优先级和最终优势方向，但状态推进仍然由 Validator 和 arc rules 控制。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5708" y="2163253"/>
            <a:ext cx="10130154" cy="1527266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zh-CN" altLang="zh-CN" b="1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记忆驱动的可验证LLM 角色 Agent 系统</a:t>
            </a:r>
            <a:br>
              <a:rPr lang="zh-CN" altLang="zh-CN" b="1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</a:br>
            <a:endParaRPr lang="zh-CN" altLang="zh-CN" b="1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989627" y="4275804"/>
            <a:ext cx="5078871" cy="838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  <a:cs typeface="+mn-lt"/>
              </a:rPr>
              <a:t>薛良玺</a:t>
            </a:r>
            <a:endParaRPr lang="en-US" altLang="zh-CN" sz="2200" dirty="0">
              <a:latin typeface="微软雅黑" panose="020B0503020204020204" charset="-122"/>
              <a:ea typeface="微软雅黑" panose="020B0503020204020204" charset="-122"/>
              <a:cs typeface="+mn-lt"/>
            </a:endParaRPr>
          </a:p>
          <a:p>
            <a:pPr algn="r"/>
            <a:r>
              <a:rPr lang="en-US" altLang="zh-CN" sz="2200" dirty="0">
                <a:latin typeface="微软雅黑" panose="020B0503020204020204" charset="-122"/>
                <a:ea typeface="微软雅黑" panose="020B0503020204020204" charset="-122"/>
                <a:cs typeface="+mn-lt"/>
              </a:rPr>
              <a:t>2026.6.9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11"/>
          <p:cNvPicPr>
            <a:picLocks noChangeAspect="1"/>
          </p:cNvPicPr>
          <p:nvPr/>
        </p:nvPicPr>
        <p:blipFill>
          <a:blip r:embed="rId3"/>
          <a:srcRect l="11034" t="39479" r="4617" b="32153"/>
          <a:stretch>
            <a:fillRect/>
          </a:stretch>
        </p:blipFill>
        <p:spPr>
          <a:xfrm>
            <a:off x="9779942" y="95939"/>
            <a:ext cx="2268840" cy="76304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645967"/>
            <a:ext cx="794456" cy="646331"/>
          </a:xfrm>
          <a:prstGeom prst="rect">
            <a:avLst/>
          </a:prstGeom>
          <a:solidFill>
            <a:srgbClr val="99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00" y="5403850"/>
            <a:ext cx="5372100" cy="29083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841248" y="3931115"/>
            <a:ext cx="10506456" cy="54864"/>
            <a:chOff x="841248" y="4294797"/>
            <a:chExt cx="10506456" cy="54864"/>
          </a:xfrm>
        </p:grpSpPr>
        <p:sp>
          <p:nvSpPr>
            <p:cNvPr id="6" name="Rectangle 15"/>
            <p:cNvSpPr>
              <a:spLocks noGrp="1" noRot="1" noChangeAspect="1" noMove="1" noResize="1" noEditPoints="1" noAdjustHandles="1" noChangeArrowheads="1" noChangeShapeType="1" noTextEdit="1"/>
            </p:cNvSpPr>
            <p:nvPr/>
          </p:nvSpPr>
          <p:spPr>
            <a:xfrm rot="5400000">
              <a:off x="9346882" y="2348839"/>
              <a:ext cx="54864" cy="394677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13"/>
            <p:cNvSpPr>
              <a:spLocks noGrp="1"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841248" y="4331166"/>
              <a:ext cx="10506456" cy="18288"/>
            </a:xfrm>
            <a:prstGeom prst="rect">
              <a:avLst/>
            </a:prstGeom>
            <a:solidFill>
              <a:srgbClr val="D5D5D5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004155" y="3228866"/>
            <a:ext cx="7343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24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从单 NPC 对话到 Traveler living-world runtime</a:t>
            </a:r>
          </a:p>
        </p:txBody>
      </p:sp>
    </p:spTree>
  </p:cSld>
  <p:clrMapOvr>
    <a:masterClrMapping/>
  </p:clrMapOvr>
  <p:transition advTm="963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69C74-F22A-7F29-6562-83C9C355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C905042B-142F-D8D6-5C84-140E1A9462F5}"/>
              </a:ext>
            </a:extLst>
          </p:cNvPr>
          <p:cNvSpPr txBox="1"/>
          <p:nvPr/>
        </p:nvSpPr>
        <p:spPr>
          <a:xfrm>
            <a:off x="794456" y="600710"/>
            <a:ext cx="108692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Noto Sans" panose="020B0502040504020204" pitchFamily="34" charset="0"/>
              </a:rPr>
              <a:t>项目灵感来源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  <a:cs typeface="Noto Sans" panose="020B0502040504020204" pitchFamily="34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71CA014E-3562-761C-7221-8080480FF3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34" t="39479" r="4617" b="32153"/>
          <a:stretch>
            <a:fillRect/>
          </a:stretch>
        </p:blipFill>
        <p:spPr>
          <a:xfrm>
            <a:off x="9779942" y="95939"/>
            <a:ext cx="2268840" cy="76304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17740FE-FC40-D37D-2C6D-3B8E771C1445}"/>
              </a:ext>
            </a:extLst>
          </p:cNvPr>
          <p:cNvSpPr/>
          <p:nvPr/>
        </p:nvSpPr>
        <p:spPr>
          <a:xfrm>
            <a:off x="0" y="645967"/>
            <a:ext cx="794456" cy="646331"/>
          </a:xfrm>
          <a:prstGeom prst="rect">
            <a:avLst/>
          </a:prstGeom>
          <a:solidFill>
            <a:srgbClr val="990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8D34DEE0-BD14-761D-9EC4-61814FB17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6737" y="6356350"/>
            <a:ext cx="2743200" cy="365125"/>
          </a:xfrm>
        </p:spPr>
        <p:txBody>
          <a:bodyPr/>
          <a:lstStyle/>
          <a:p>
            <a:fld id="{4DE74C0C-118F-4E55-9712-312D2E4D9470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9ECC28E-249B-04EF-997D-BC011951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71" y="2043518"/>
            <a:ext cx="7342941" cy="339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BD70A8-941F-82D5-DF89-E0E438C18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241" y="1726346"/>
            <a:ext cx="3943402" cy="402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48229"/>
      </p:ext>
    </p:extLst>
  </p:cSld>
  <p:clrMapOvr>
    <a:masterClrMapping/>
  </p:clrMapOvr>
  <p:transition advTm="5497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251164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角色对话如何变成可验证系统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75798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</a:t>
            </a:r>
            <a:r>
              <a:rPr lang="en-US" alt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AI</a:t>
            </a:r>
            <a:r>
              <a:rPr lang="zh-CN" altLang="en-US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不仅停留在普通对话，而是能真正扮演角色进行活动</a:t>
            </a:r>
            <a:endParaRPr lang="zh-CN" sz="18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7483" y="1967412"/>
            <a:ext cx="40081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普通 LLM 角色对话的三类风险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2245" y="2579393"/>
            <a:ext cx="5333191" cy="2654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1. 语言幻觉：</a:t>
            </a:r>
            <a:r>
              <a:rPr lang="zh-CN" altLang="en-US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语言描述的行为或回复</a:t>
            </a:r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不等于状态已改变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2245" y="3055643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2. 上下文断裂：角色难以稳定保持记忆和边界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245" y="3531893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3. 无法复盘：只保存回复就难以解释行为原因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86568" y="4743722"/>
            <a:ext cx="1077218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项目</a:t>
            </a:r>
            <a:r>
              <a:rPr lang="zh-CN" altLang="en-US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目标</a:t>
            </a:r>
            <a:endParaRPr lang="zh-CN" sz="2100" b="1" dirty="0">
              <a:solidFill>
                <a:srgbClr val="A40012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2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52B3A6D-F5D7-65AB-9B34-9D26C784265C}"/>
              </a:ext>
            </a:extLst>
          </p:cNvPr>
          <p:cNvSpPr txBox="1"/>
          <p:nvPr/>
        </p:nvSpPr>
        <p:spPr>
          <a:xfrm>
            <a:off x="7758365" y="2653822"/>
            <a:ext cx="3914269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如何让 LLM 参与角色认知、目标选择、行动意图和语言生成</a:t>
            </a:r>
            <a:endParaRPr lang="en-US" altLang="zh-CN" sz="1725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  <a:p>
            <a:pPr algn="ctr"/>
            <a:r>
              <a:rPr lang="zh-CN" alt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同时保证世界事实、任务推进和状态变化仍由系统流程控制</a:t>
            </a:r>
            <a:r>
              <a:rPr lang="zh-CN" altLang="en-US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？</a:t>
            </a:r>
            <a:endParaRPr lang="zh-CN" altLang="zh-CN" sz="1725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C06CB335-100D-EF9D-8F92-D204183199B1}"/>
              </a:ext>
            </a:extLst>
          </p:cNvPr>
          <p:cNvSpPr/>
          <p:nvPr/>
        </p:nvSpPr>
        <p:spPr>
          <a:xfrm>
            <a:off x="6284686" y="2844850"/>
            <a:ext cx="1030514" cy="62406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67DFCDFC-A5F1-891C-9ACD-238134129F6C}"/>
              </a:ext>
            </a:extLst>
          </p:cNvPr>
          <p:cNvSpPr txBox="1"/>
          <p:nvPr/>
        </p:nvSpPr>
        <p:spPr>
          <a:xfrm>
            <a:off x="4101094" y="4467076"/>
            <a:ext cx="5129609" cy="8764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构建可运行、可观察、可验证的角色</a:t>
            </a:r>
            <a:r>
              <a:rPr lang="en-US" altLang="zh-CN" sz="20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 Agent</a:t>
            </a: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由记忆、状态、行动校验和运行轨迹共同支撑</a:t>
            </a:r>
            <a:endParaRPr lang="zh-CN" sz="20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1308050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606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前两次演进解决的是最小闭环和角色稳定性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709385" y="255651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06565" y="2825115"/>
            <a:ext cx="31848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1. 单 NPC 记忆对话原型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4185" y="331035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14185" y="3717444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先验证最小可运行闭环：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4185" y="3965094"/>
            <a:ext cx="30684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读取状态、调用 LLM、回复玩家，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4185" y="4212744"/>
            <a:ext cx="96180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并保存结果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4185" y="4966335"/>
            <a:ext cx="29384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项目不再停留在 prompt demo；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4185" y="5213985"/>
            <a:ext cx="26684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SQLite、workflow 和 trace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14185" y="5461635"/>
            <a:ext cx="153888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成为后续扩展基座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71985" y="2556510"/>
            <a:ext cx="47625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569165" y="2825115"/>
            <a:ext cx="31113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2. 分层上下文与玩家端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74880" y="331577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576785" y="365841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早期原型只看当前输入，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9165" y="393763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角色知识边界、地点和关系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76785" y="4212744"/>
            <a:ext cx="250068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容易断裂，需要把上下文拆层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88668" y="4570818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76785" y="4966335"/>
            <a:ext cx="26284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lore、长期记忆、近期上下文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76785" y="5213985"/>
            <a:ext cx="17283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 UI 入口分开后，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76785" y="5461635"/>
            <a:ext cx="2500685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回复更稳定，也便于调试展示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9385" y="6039639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28585" y="6039639"/>
            <a:ext cx="5636158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系统从“能说话”推进到“带着世界设定和历史上下文说话”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72F92CF7-215A-8750-DDC6-2B03DA3EFF1B}"/>
              </a:ext>
            </a:extLst>
          </p:cNvPr>
          <p:cNvSpPr/>
          <p:nvPr/>
        </p:nvSpPr>
        <p:spPr>
          <a:xfrm>
            <a:off x="2058760" y="2196318"/>
            <a:ext cx="7968343" cy="45719"/>
          </a:xfrm>
          <a:custGeom>
            <a:avLst/>
            <a:gdLst/>
            <a:ahLst/>
            <a:cxnLst/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Ellipse 8">
            <a:extLst>
              <a:ext uri="{FF2B5EF4-FFF2-40B4-BE49-F238E27FC236}">
                <a16:creationId xmlns:a16="http://schemas.microsoft.com/office/drawing/2014/main" id="{9A199B8E-ECEB-785E-981C-7B8FB622F0FF}"/>
              </a:ext>
            </a:extLst>
          </p:cNvPr>
          <p:cNvSpPr/>
          <p:nvPr/>
        </p:nvSpPr>
        <p:spPr>
          <a:xfrm>
            <a:off x="2711903" y="2091543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1" name="Ellipse 12">
            <a:extLst>
              <a:ext uri="{FF2B5EF4-FFF2-40B4-BE49-F238E27FC236}">
                <a16:creationId xmlns:a16="http://schemas.microsoft.com/office/drawing/2014/main" id="{40E9FCD8-5D91-C8D0-A0EE-DA5B028564BB}"/>
              </a:ext>
            </a:extLst>
          </p:cNvPr>
          <p:cNvSpPr/>
          <p:nvPr/>
        </p:nvSpPr>
        <p:spPr>
          <a:xfrm>
            <a:off x="4649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2" name="Ellipse 16">
            <a:extLst>
              <a:ext uri="{FF2B5EF4-FFF2-40B4-BE49-F238E27FC236}">
                <a16:creationId xmlns:a16="http://schemas.microsoft.com/office/drawing/2014/main" id="{9DA9EB53-9B60-25BB-6015-107944611A44}"/>
              </a:ext>
            </a:extLst>
          </p:cNvPr>
          <p:cNvSpPr/>
          <p:nvPr/>
        </p:nvSpPr>
        <p:spPr>
          <a:xfrm>
            <a:off x="6935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3" name="Ellipse 20">
            <a:extLst>
              <a:ext uri="{FF2B5EF4-FFF2-40B4-BE49-F238E27FC236}">
                <a16:creationId xmlns:a16="http://schemas.microsoft.com/office/drawing/2014/main" id="{AD837F0B-E787-BAC3-CD9B-C27E7ECEC80C}"/>
              </a:ext>
            </a:extLst>
          </p:cNvPr>
          <p:cNvSpPr/>
          <p:nvPr/>
        </p:nvSpPr>
        <p:spPr>
          <a:xfrm>
            <a:off x="9221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AAEA7CC-4095-1003-F527-292D9838B548}"/>
              </a:ext>
            </a:extLst>
          </p:cNvPr>
          <p:cNvSpPr txBox="1"/>
          <p:nvPr/>
        </p:nvSpPr>
        <p:spPr>
          <a:xfrm>
            <a:off x="2031546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单 NPC 原型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B4E3A67-5C81-0ADD-C820-F9CBEA21577E}"/>
              </a:ext>
            </a:extLst>
          </p:cNvPr>
          <p:cNvSpPr txBox="1"/>
          <p:nvPr/>
        </p:nvSpPr>
        <p:spPr>
          <a:xfrm>
            <a:off x="4083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加入上下文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261F205-5745-754E-DD77-58E82E0A3CB3}"/>
              </a:ext>
            </a:extLst>
          </p:cNvPr>
          <p:cNvSpPr txBox="1"/>
          <p:nvPr/>
        </p:nvSpPr>
        <p:spPr>
          <a:xfrm>
            <a:off x="6369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心智与校验</a:t>
            </a:r>
            <a:endParaRPr lang="zh-CN" altLang="en-US" dirty="0"/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99DDBA43-1E67-69EF-C884-1BD969F7DEDC}"/>
              </a:ext>
            </a:extLst>
          </p:cNvPr>
          <p:cNvSpPr txBox="1"/>
          <p:nvPr/>
        </p:nvSpPr>
        <p:spPr>
          <a:xfrm>
            <a:off x="1014185" y="4570818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7611786-55B3-8442-0A78-EF7B55931C78}"/>
              </a:ext>
            </a:extLst>
          </p:cNvPr>
          <p:cNvSpPr txBox="1"/>
          <p:nvPr/>
        </p:nvSpPr>
        <p:spPr>
          <a:xfrm>
            <a:off x="7931752" y="1602281"/>
            <a:ext cx="2808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Living world &amp; Traveler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6240-CC27-D2ED-DC2F-60CB233D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>
            <a:extLst>
              <a:ext uri="{FF2B5EF4-FFF2-40B4-BE49-F238E27FC236}">
                <a16:creationId xmlns:a16="http://schemas.microsoft.com/office/drawing/2014/main" id="{7F2F9484-D5AA-5EE0-F12A-BD5F0DF33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D8EAE5F0-57D4-1644-21D5-068668C35ED9}"/>
              </a:ext>
            </a:extLst>
          </p:cNvPr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BD56948-895C-6009-DCC3-1AE070666C37}"/>
              </a:ext>
            </a:extLst>
          </p:cNvPr>
          <p:cNvSpPr txBox="1"/>
          <p:nvPr/>
        </p:nvSpPr>
        <p:spPr>
          <a:xfrm>
            <a:off x="843915" y="715328"/>
            <a:ext cx="1308050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7813293-6805-20E0-9576-F053026B1062}"/>
              </a:ext>
            </a:extLst>
          </p:cNvPr>
          <p:cNvSpPr txBox="1"/>
          <p:nvPr/>
        </p:nvSpPr>
        <p:spPr>
          <a:xfrm>
            <a:off x="853440" y="1101090"/>
            <a:ext cx="5309146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后两次演进解决的是事实边界、主动行为和</a:t>
            </a:r>
            <a:r>
              <a:rPr lang="zh-CN" altLang="en-US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自主演进</a:t>
            </a:r>
            <a:endParaRPr lang="zh-CN" altLang="zh-CN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C7EDBFC-F0A5-BE72-D504-56783D6C89B7}"/>
              </a:ext>
            </a:extLst>
          </p:cNvPr>
          <p:cNvSpPr/>
          <p:nvPr/>
        </p:nvSpPr>
        <p:spPr>
          <a:xfrm>
            <a:off x="709385" y="255651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96CABE0-27FF-99DD-CD75-1F4378263222}"/>
              </a:ext>
            </a:extLst>
          </p:cNvPr>
          <p:cNvSpPr txBox="1"/>
          <p:nvPr/>
        </p:nvSpPr>
        <p:spPr>
          <a:xfrm>
            <a:off x="1006565" y="2825115"/>
            <a:ext cx="2723502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3. </a:t>
            </a:r>
            <a:r>
              <a:rPr lang="zh-CN" altLang="en-US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可控心智与行动边界</a:t>
            </a:r>
            <a:endParaRPr lang="zh-CN" altLang="zh-CN" sz="2100" b="1" dirty="0">
              <a:solidFill>
                <a:srgbClr val="A40012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D1247E-66C6-A4C9-5303-9CD0DBC31260}"/>
              </a:ext>
            </a:extLst>
          </p:cNvPr>
          <p:cNvSpPr txBox="1"/>
          <p:nvPr/>
        </p:nvSpPr>
        <p:spPr>
          <a:xfrm>
            <a:off x="1014185" y="331035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2DE3B3F-A94D-F616-5C53-CC563557C220}"/>
              </a:ext>
            </a:extLst>
          </p:cNvPr>
          <p:cNvSpPr txBox="1"/>
          <p:nvPr/>
        </p:nvSpPr>
        <p:spPr>
          <a:xfrm>
            <a:off x="952499" y="3616966"/>
            <a:ext cx="4174671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输出不可控、容易越权改写状态</a:t>
            </a:r>
            <a:endParaRPr lang="en-US" alt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只负责角色认知与表达</a:t>
            </a:r>
            <a:endParaRPr lang="en-US" alt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世界事实和执行权由程序流程掌握。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086B433-A062-0ECB-1742-7286C5198F16}"/>
              </a:ext>
            </a:extLst>
          </p:cNvPr>
          <p:cNvSpPr txBox="1"/>
          <p:nvPr/>
        </p:nvSpPr>
        <p:spPr>
          <a:xfrm>
            <a:off x="1014185" y="4909185"/>
            <a:ext cx="2224968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500" dirty="0" err="1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NPCMind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生成心智状态，</a:t>
            </a:r>
          </a:p>
          <a:p>
            <a:pPr algn="l"/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Environment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转换行动，</a:t>
            </a:r>
          </a:p>
          <a:p>
            <a:pPr algn="l"/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Validator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拦截越界行为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C330A435-9B1E-AFA2-10F5-29CC7600377B}"/>
              </a:ext>
            </a:extLst>
          </p:cNvPr>
          <p:cNvSpPr/>
          <p:nvPr/>
        </p:nvSpPr>
        <p:spPr>
          <a:xfrm>
            <a:off x="6271985" y="2556510"/>
            <a:ext cx="47625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26F91C7-B03C-885F-D802-8455CAB40D6A}"/>
              </a:ext>
            </a:extLst>
          </p:cNvPr>
          <p:cNvSpPr txBox="1"/>
          <p:nvPr/>
        </p:nvSpPr>
        <p:spPr>
          <a:xfrm>
            <a:off x="6569165" y="2825115"/>
            <a:ext cx="3380221" cy="3231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4</a:t>
            </a:r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. </a:t>
            </a:r>
            <a:r>
              <a:rPr lang="zh-CN" alt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Living World 与 Traveler</a:t>
            </a:r>
            <a:endParaRPr lang="zh-CN" altLang="en-US" sz="2100" b="1" dirty="0">
              <a:solidFill>
                <a:srgbClr val="A40012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CAD0B2B-01D1-69B0-9864-1A69C07844FE}"/>
              </a:ext>
            </a:extLst>
          </p:cNvPr>
          <p:cNvSpPr txBox="1"/>
          <p:nvPr/>
        </p:nvSpPr>
        <p:spPr>
          <a:xfrm>
            <a:off x="6574880" y="3315779"/>
            <a:ext cx="471283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Goal</a:t>
            </a:r>
            <a:endParaRPr lang="zh-CN" sz="1650" b="1" dirty="0">
              <a:solidFill>
                <a:srgbClr val="000000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F33EAD2-59A6-FE11-D6C2-56303EA02FDB}"/>
              </a:ext>
            </a:extLst>
          </p:cNvPr>
          <p:cNvSpPr txBox="1"/>
          <p:nvPr/>
        </p:nvSpPr>
        <p:spPr>
          <a:xfrm>
            <a:off x="6576785" y="3658415"/>
            <a:ext cx="2500685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让系统从单轮对话，</a:t>
            </a: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扩展为多角色持续运行的世界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1C39827-9AE6-4ED2-AC9F-B6B95D7D2FAE}"/>
              </a:ext>
            </a:extLst>
          </p:cNvPr>
          <p:cNvSpPr txBox="1"/>
          <p:nvPr/>
        </p:nvSpPr>
        <p:spPr>
          <a:xfrm>
            <a:off x="6576785" y="4566129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2D3143AC-355C-E9AA-0DE9-A64B816E9B55}"/>
              </a:ext>
            </a:extLst>
          </p:cNvPr>
          <p:cNvSpPr txBox="1"/>
          <p:nvPr/>
        </p:nvSpPr>
        <p:spPr>
          <a:xfrm>
            <a:off x="709385" y="6039639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5EE6A2E-59E4-A88F-B7ED-9D3B04596ECC}"/>
              </a:ext>
            </a:extLst>
          </p:cNvPr>
          <p:cNvSpPr txBox="1"/>
          <p:nvPr/>
        </p:nvSpPr>
        <p:spPr>
          <a:xfrm>
            <a:off x="1928585" y="6039639"/>
            <a:ext cx="6379952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系统从“对话程序”推进到“可控、主动、可复盘的 living world”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D8A6BAB-5C19-5244-DA3E-A0D54FC91613}"/>
              </a:ext>
            </a:extLst>
          </p:cNvPr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  <p:sp>
        <p:nvSpPr>
          <p:cNvPr id="39" name="Line 7">
            <a:extLst>
              <a:ext uri="{FF2B5EF4-FFF2-40B4-BE49-F238E27FC236}">
                <a16:creationId xmlns:a16="http://schemas.microsoft.com/office/drawing/2014/main" id="{2DD1C397-BE53-63CF-49E1-87BBB6037522}"/>
              </a:ext>
            </a:extLst>
          </p:cNvPr>
          <p:cNvSpPr/>
          <p:nvPr/>
        </p:nvSpPr>
        <p:spPr>
          <a:xfrm>
            <a:off x="2058760" y="2196318"/>
            <a:ext cx="7968343" cy="45719"/>
          </a:xfrm>
          <a:custGeom>
            <a:avLst/>
            <a:gdLst/>
            <a:ahLst/>
            <a:cxnLst/>
            <a:rect l="l" t="t" r="r" b="b"/>
            <a:pathLst>
              <a:path w="8839200" h="9525">
                <a:moveTo>
                  <a:pt x="0" y="0"/>
                </a:moveTo>
                <a:lnTo>
                  <a:pt x="8839200" y="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Ellipse 8">
            <a:extLst>
              <a:ext uri="{FF2B5EF4-FFF2-40B4-BE49-F238E27FC236}">
                <a16:creationId xmlns:a16="http://schemas.microsoft.com/office/drawing/2014/main" id="{4D4E2289-8DED-334C-BD3C-80C2EB722384}"/>
              </a:ext>
            </a:extLst>
          </p:cNvPr>
          <p:cNvSpPr/>
          <p:nvPr/>
        </p:nvSpPr>
        <p:spPr>
          <a:xfrm>
            <a:off x="2711903" y="2091543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1" name="Ellipse 12">
            <a:extLst>
              <a:ext uri="{FF2B5EF4-FFF2-40B4-BE49-F238E27FC236}">
                <a16:creationId xmlns:a16="http://schemas.microsoft.com/office/drawing/2014/main" id="{09134DF8-21B8-125D-8BE8-C61DB6DCFE0B}"/>
              </a:ext>
            </a:extLst>
          </p:cNvPr>
          <p:cNvSpPr/>
          <p:nvPr/>
        </p:nvSpPr>
        <p:spPr>
          <a:xfrm>
            <a:off x="4649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2" name="Ellipse 16">
            <a:extLst>
              <a:ext uri="{FF2B5EF4-FFF2-40B4-BE49-F238E27FC236}">
                <a16:creationId xmlns:a16="http://schemas.microsoft.com/office/drawing/2014/main" id="{35557217-32F6-83D4-C5FF-302673CC6835}"/>
              </a:ext>
            </a:extLst>
          </p:cNvPr>
          <p:cNvSpPr/>
          <p:nvPr/>
        </p:nvSpPr>
        <p:spPr>
          <a:xfrm>
            <a:off x="6935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3" name="Ellipse 20">
            <a:extLst>
              <a:ext uri="{FF2B5EF4-FFF2-40B4-BE49-F238E27FC236}">
                <a16:creationId xmlns:a16="http://schemas.microsoft.com/office/drawing/2014/main" id="{9DB4D6A6-67D3-6A53-0741-001E540631CF}"/>
              </a:ext>
            </a:extLst>
          </p:cNvPr>
          <p:cNvSpPr/>
          <p:nvPr/>
        </p:nvSpPr>
        <p:spPr>
          <a:xfrm>
            <a:off x="9221560" y="2082018"/>
            <a:ext cx="228600" cy="228600"/>
          </a:xfrm>
          <a:prstGeom prst="ellipse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14A6FC0-901F-301B-C109-C412A8CC596F}"/>
              </a:ext>
            </a:extLst>
          </p:cNvPr>
          <p:cNvSpPr txBox="1"/>
          <p:nvPr/>
        </p:nvSpPr>
        <p:spPr>
          <a:xfrm>
            <a:off x="2031546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单 NPC 原型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8441D08-2062-323F-66A5-9482017862E7}"/>
              </a:ext>
            </a:extLst>
          </p:cNvPr>
          <p:cNvSpPr txBox="1"/>
          <p:nvPr/>
        </p:nvSpPr>
        <p:spPr>
          <a:xfrm>
            <a:off x="4083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加入上下文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A581B38-3F6A-C304-6583-1E19F2C62B09}"/>
              </a:ext>
            </a:extLst>
          </p:cNvPr>
          <p:cNvSpPr txBox="1"/>
          <p:nvPr/>
        </p:nvSpPr>
        <p:spPr>
          <a:xfrm>
            <a:off x="6369503" y="1619250"/>
            <a:ext cx="1589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心智与校验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BA4335F-AD53-CEE5-E533-7CA2E91EE012}"/>
              </a:ext>
            </a:extLst>
          </p:cNvPr>
          <p:cNvSpPr txBox="1"/>
          <p:nvPr/>
        </p:nvSpPr>
        <p:spPr>
          <a:xfrm>
            <a:off x="7931752" y="1602281"/>
            <a:ext cx="2808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Living world &amp; Traveler</a:t>
            </a:r>
            <a:endParaRPr lang="zh-CN" altLang="en-US" dirty="0"/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233F99CF-7468-1DF0-80CD-9E48E260F98C}"/>
              </a:ext>
            </a:extLst>
          </p:cNvPr>
          <p:cNvSpPr txBox="1"/>
          <p:nvPr/>
        </p:nvSpPr>
        <p:spPr>
          <a:xfrm>
            <a:off x="1014185" y="4570818"/>
            <a:ext cx="525144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Work</a:t>
            </a:r>
          </a:p>
        </p:txBody>
      </p:sp>
      <p:sp>
        <p:nvSpPr>
          <p:cNvPr id="2" name="TextBox 15">
            <a:extLst>
              <a:ext uri="{FF2B5EF4-FFF2-40B4-BE49-F238E27FC236}">
                <a16:creationId xmlns:a16="http://schemas.microsoft.com/office/drawing/2014/main" id="{795ADB1D-A6C7-817C-5C5A-300EB85A2944}"/>
              </a:ext>
            </a:extLst>
          </p:cNvPr>
          <p:cNvSpPr txBox="1"/>
          <p:nvPr/>
        </p:nvSpPr>
        <p:spPr>
          <a:xfrm>
            <a:off x="6576785" y="4909185"/>
            <a:ext cx="2846933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构建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autonomous NPC runtime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，</a:t>
            </a: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加入 </a:t>
            </a:r>
            <a:r>
              <a:rPr lang="en-US" altLang="zh-CN" sz="1500" dirty="0" err="1">
                <a:solidFill>
                  <a:srgbClr val="333333"/>
                </a:solidFill>
                <a:latin typeface="Arial"/>
                <a:ea typeface="DengXian"/>
                <a:cs typeface="Arial"/>
              </a:rPr>
              <a:t>ArcDirector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、主线结局，</a:t>
            </a:r>
          </a:p>
          <a:p>
            <a:pPr algn="l"/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并用 </a:t>
            </a:r>
            <a:r>
              <a:rPr lang="en-US" alt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</a:t>
            </a:r>
            <a:r>
              <a:rPr lang="zh-CN" altLang="en-US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自动探索世界</a:t>
            </a:r>
            <a:endParaRPr lang="zh-CN" sz="1500" dirty="0">
              <a:solidFill>
                <a:srgbClr val="333333"/>
              </a:solidFill>
              <a:latin typeface="Arial"/>
              <a:ea typeface="DengXian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292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951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总体架构：输入到 timeline 的受控链路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082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负责提出意图，事实改变交给校验、执行和状态写入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78193" y="2047875"/>
            <a:ext cx="10248900" cy="819150"/>
            <a:chOff x="838200" y="2038350"/>
            <a:chExt cx="10248900" cy="819150"/>
          </a:xfrm>
        </p:grpSpPr>
        <p:sp>
          <p:nvSpPr>
            <p:cNvPr id="7" name="Rectangle 7"/>
            <p:cNvSpPr/>
            <p:nvPr/>
          </p:nvSpPr>
          <p:spPr>
            <a:xfrm>
              <a:off x="8382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15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212" y="2518410"/>
              <a:ext cx="1198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玩家 / Traveler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0985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91133" y="22126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9895" y="2518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状态切片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8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7517" y="2518410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531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8565" y="2212658"/>
              <a:ext cx="9198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176" y="251841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belief / plan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5468" y="22126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2846" y="2518410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decision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964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9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51841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/ repair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2288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5146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005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862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7721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579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295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31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012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749743" y="2867025"/>
            <a:ext cx="8591550" cy="2019300"/>
            <a:chOff x="1809750" y="2857500"/>
            <a:chExt cx="85915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180975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8666" y="40890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1858" y="4445318"/>
              <a:ext cx="19875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将 decision 转为 action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00761" y="4089082"/>
              <a:ext cx="2190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8742" y="44453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保存任务、物品、关系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14837" y="4089082"/>
              <a:ext cx="1763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Timeline Export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77002" y="4445318"/>
              <a:ext cx="103874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输出复盘证据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0391775" y="28575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095625" y="339090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5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095625" y="3390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038475" y="3790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381500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714875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381875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715250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54" name="Line 54"/>
          <p:cNvSpPr/>
          <p:nvPr/>
        </p:nvSpPr>
        <p:spPr>
          <a:xfrm>
            <a:off x="843915" y="5272087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631" y="5707539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关键边界：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72831" y="5707539"/>
            <a:ext cx="44022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提出意图，系统决定事实是否发生。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9021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模块职责：LLM 参与认知，系统掌握执行权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三层责任边界：认知、校验、事实与证据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1924050"/>
            <a:ext cx="11104245" cy="2800350"/>
            <a:chOff x="914400" y="1924050"/>
            <a:chExt cx="11104245" cy="2800350"/>
          </a:xfrm>
        </p:grpSpPr>
        <p:sp>
          <p:nvSpPr>
            <p:cNvPr id="7" name="Rectangle 7"/>
            <p:cNvSpPr/>
            <p:nvPr/>
          </p:nvSpPr>
          <p:spPr>
            <a:xfrm>
              <a:off x="9144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53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认知与意图层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2717482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3098482"/>
              <a:ext cx="878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9195" y="3479482"/>
              <a:ext cx="1373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 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402621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补充上下文，形成 belief / goal / plan，提出行动意图。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14850" y="1924050"/>
              <a:ext cx="3143250" cy="28003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4850" y="1924050"/>
              <a:ext cx="3143250" cy="533400"/>
            </a:xfrm>
            <a:prstGeom prst="rect">
              <a:avLst/>
            </a:prstGeom>
            <a:solidFill>
              <a:srgbClr val="FFF1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583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校验与执行层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9645" y="2717482"/>
              <a:ext cx="16921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9645" y="30984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9645" y="347948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 Surface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40262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检查行动是否允许，把 decision 转成系统 action。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153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62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事实与证据层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095" y="271748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0095" y="309848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 / Timeline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0095" y="3479482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Traveler Runtime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3905" y="4026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保存事实状态，把运行过程导出为复盘证据。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05765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41960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765810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2005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汇报重点：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2640" y="5615940"/>
            <a:ext cx="68265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可以决定“想做什么”，但事实只由校验后的系统流程写入。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记忆与检索：让角色带着上下文行动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2462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回复和 decision 不只依赖当前一句输入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450" y="1809750"/>
            <a:ext cx="2857500" cy="3105150"/>
            <a:chOff x="933450" y="1809750"/>
            <a:chExt cx="2857500" cy="3105150"/>
          </a:xfrm>
        </p:grpSpPr>
        <p:sp>
          <p:nvSpPr>
            <p:cNvPr id="7" name="Rectangle 7"/>
            <p:cNvSpPr/>
            <p:nvPr/>
          </p:nvSpPr>
          <p:spPr>
            <a:xfrm>
              <a:off x="933450" y="18097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2012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近期上下文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33450" y="26479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2850832"/>
              <a:ext cx="977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 lore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4861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245" y="36890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43243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8245" y="45272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任务与状态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790950" y="21050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Line 17"/>
          <p:cNvSpPr/>
          <p:nvPr/>
        </p:nvSpPr>
        <p:spPr>
          <a:xfrm>
            <a:off x="3790950" y="29432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8" name="Line 18"/>
          <p:cNvSpPr/>
          <p:nvPr/>
        </p:nvSpPr>
        <p:spPr>
          <a:xfrm>
            <a:off x="3790950" y="37814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9" name="Line 19"/>
          <p:cNvSpPr/>
          <p:nvPr/>
        </p:nvSpPr>
        <p:spPr>
          <a:xfrm>
            <a:off x="3790950" y="46196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400550" y="2105025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1" name="Line 21"/>
          <p:cNvSpPr/>
          <p:nvPr/>
        </p:nvSpPr>
        <p:spPr>
          <a:xfrm>
            <a:off x="4400550" y="3362325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4825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2552700"/>
            <a:ext cx="2000250" cy="1619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62723" y="2992755"/>
            <a:ext cx="13618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Retrieval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9472" y="34004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typed + semantic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85862" y="3721418"/>
            <a:ext cx="1915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返回 memory snippets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3362325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777240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867650" y="1962150"/>
            <a:ext cx="3429000" cy="28003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47685" y="2246948"/>
            <a:ext cx="28754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合成后的 Agent 上下文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495" y="285083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Observation：当前局面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51495" y="323183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Memory：历史互动与关系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51495" y="3612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Lore：稳定世界设定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1495" y="3993832"/>
            <a:ext cx="1791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Quest：任务条件</a:t>
            </a:r>
          </a:p>
        </p:txBody>
      </p:sp>
      <p:sp>
        <p:nvSpPr>
          <p:cNvPr id="35" name="Line 3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后台流程：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2640" y="5615940"/>
            <a:ext cx="65865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 jobs 将运行中的交互和反思整理成后续可检索内容。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+ ActionValidator：自由表达，受控执行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角色可以有主观状态，但世界事实必须经过规则边界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0600" y="1981200"/>
            <a:ext cx="10210800" cy="2724150"/>
            <a:chOff x="990600" y="1981200"/>
            <a:chExt cx="10210800" cy="2724150"/>
          </a:xfrm>
        </p:grpSpPr>
        <p:sp>
          <p:nvSpPr>
            <p:cNvPr id="7" name="Rectangle 7"/>
            <p:cNvSpPr/>
            <p:nvPr/>
          </p:nvSpPr>
          <p:spPr>
            <a:xfrm>
              <a:off x="990600" y="1981200"/>
              <a:ext cx="419100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2233612"/>
              <a:ext cx="125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3492" y="2842736"/>
              <a:ext cx="229809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belief：角色相信什么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3492" y="3223736"/>
              <a:ext cx="25281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emotion：当前情绪倾向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492" y="3604736"/>
              <a:ext cx="25856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goal / plan：下一步策略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63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让角色回复前先形成可记录的主观判断。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10400" y="1981200"/>
              <a:ext cx="4191000" cy="2724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6625" y="2233612"/>
              <a:ext cx="24199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3292" y="2842736"/>
              <a:ext cx="22635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 action 是否存在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3292" y="3223736"/>
              <a:ext cx="28041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检查任务、地点、物品条件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3292" y="3604736"/>
              <a:ext cx="211407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阻止或修复越界输出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确保自然语言不能直接改写数据库事实。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181600" y="3343275"/>
            <a:ext cx="1828800" cy="9525"/>
          </a:xfrm>
          <a:custGeom>
            <a:avLst/>
            <a:gdLst/>
            <a:ahLst/>
            <a:cxnLst/>
            <a:rect l="l" t="t" r="r" b="b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15150" y="32861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86901" y="3009900"/>
            <a:ext cx="818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decision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2640" y="5615940"/>
            <a:ext cx="7246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保留角色语言的灵活性，同时避免一句自然语言直接改变世界事实。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5559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Autonomous NPC Runtime：NPC 响应世界事件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545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 不只等待玩家输入，也能在事件触发后生成受约束主动行为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2171700"/>
            <a:ext cx="10572750" cy="781050"/>
            <a:chOff x="876300" y="2171700"/>
            <a:chExt cx="10572750" cy="781050"/>
          </a:xfrm>
        </p:grpSpPr>
        <p:sp>
          <p:nvSpPr>
            <p:cNvPr id="7" name="Rectangle 7"/>
            <p:cNvSpPr/>
            <p:nvPr/>
          </p:nvSpPr>
          <p:spPr>
            <a:xfrm>
              <a:off x="87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766" y="24603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world 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32784" y="2460308"/>
              <a:ext cx="10210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 inbox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8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5754" y="24603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ActionCatalog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91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1289" y="246030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LLM tick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96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8291" y="2460308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validate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0" y="2171700"/>
              <a:ext cx="104775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31091" y="2362200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1081" y="2619375"/>
              <a:ext cx="748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mailbox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0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8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30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9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1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40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002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0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0150" y="3848100"/>
            <a:ext cx="9791700" cy="990600"/>
            <a:chOff x="1200150" y="3848100"/>
            <a:chExt cx="979170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001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30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850" y="4391025"/>
              <a:ext cx="26284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可行动作来自 ActionCatalog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1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3950" y="4391025"/>
              <a:ext cx="2498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自主 tick 也经过 Validator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343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72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1050" y="4391025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结果写入 mailbox 与 trace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3440" y="5615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运行时价值：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01240" y="5615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让世界事件以可约束、可复盘的方式影响角色行为。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Runtime：用 profile 驱动自动探索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905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是 living-world simulation 中可配置的自动探索角色</a:t>
            </a:r>
          </a:p>
        </p:txBody>
      </p:sp>
      <p:sp>
        <p:nvSpPr>
          <p:cNvPr id="7" name="Rectangle 7"/>
          <p:cNvSpPr/>
          <p:nvPr/>
        </p:nvSpPr>
        <p:spPr>
          <a:xfrm>
            <a:off x="990600" y="1847850"/>
            <a:ext cx="3429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97405"/>
            <a:ext cx="18322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YAML Profile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495" y="2717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公开身份：角色如何自我介绍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495" y="3098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私人目标：探索偏好与动机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95" y="34794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隐藏信息：不能直接暴露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495" y="3860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行动边界：移动、询问、检查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495" y="4241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探索风格：谨慎或追求声望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19700" y="1981200"/>
            <a:ext cx="4991100" cy="2724150"/>
            <a:chOff x="5219700" y="1981200"/>
            <a:chExt cx="4991100" cy="2724150"/>
          </a:xfrm>
        </p:grpSpPr>
        <p:sp>
          <p:nvSpPr>
            <p:cNvPr id="14" name="Rectangle 14"/>
            <p:cNvSpPr/>
            <p:nvPr/>
          </p:nvSpPr>
          <p:spPr>
            <a:xfrm>
              <a:off x="52197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9939" y="2184082"/>
              <a:ext cx="9330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7738" y="2184082"/>
              <a:ext cx="955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Retrieve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1981200"/>
              <a:ext cx="1333500" cy="5905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7553" y="21840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Decide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773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41572" y="43176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8245" y="4317682"/>
              <a:ext cx="834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Reflect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9532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7820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544050" y="257175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486900" y="4019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44100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82000" y="4352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886450" y="4410075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86450" y="2571750"/>
              <a:ext cx="9525" cy="1838325"/>
            </a:xfrm>
            <a:custGeom>
              <a:avLst/>
              <a:gdLst/>
              <a:ahLst/>
              <a:cxnLst/>
              <a:rect l="l" t="t" r="r" b="b"/>
              <a:pathLst>
                <a:path w="9525" h="1838325">
                  <a:moveTo>
                    <a:pt x="0" y="1838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829300" y="2571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36" name="Line 36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3440" y="561594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字段：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96490" y="5615940"/>
            <a:ext cx="71266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行动理由、Traveler 发言、NPC 回复、状态变化、arc evidence。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062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真实证据：界面、课堂 trace 与多 NPC 覆盖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1304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当前仓库中的真实截图和 trace 文件证明系统已经可运行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723900" y="16764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056" y="1885950"/>
            <a:ext cx="4563687" cy="34861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2505" y="5454968"/>
            <a:ext cx="52369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React/Vite 玩家端界面截图：保留交互界面和开发者 trace 面板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20050" y="1676400"/>
            <a:ext cx="32766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6280" y="1964055"/>
            <a:ext cx="21262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Trace 证据字段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1995" y="2603182"/>
            <a:ext cx="25612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发言与行动理由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1995" y="2984182"/>
            <a:ext cx="20111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 回复与角色意图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1995" y="33651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关系变化和状态更新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1995" y="3746182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探索线索与 arc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1995" y="4127182"/>
            <a:ext cx="24512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outcome 与 timing</a:t>
            </a:r>
          </a:p>
        </p:txBody>
      </p:sp>
      <p:sp>
        <p:nvSpPr>
          <p:cNvPr id="17" name="Line 17"/>
          <p:cNvSpPr/>
          <p:nvPr/>
        </p:nvSpPr>
        <p:spPr>
          <a:xfrm>
            <a:off x="8362950" y="47815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5805" y="499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classroom_showcase_llm_run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5805" y="52644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sable_advantage_llm_run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2379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基础 NPC 设定：三类角色支撑可信世界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03059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先建立普通角色的职责边界，再说明 Sable 为什么是特殊路线节点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47850"/>
            <a:ext cx="3143250" cy="30289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54430" y="2097405"/>
            <a:ext cx="209689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Lina：酒馆老板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1098" y="261127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功能定位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2050" y="296227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信息交汇点与入口保护者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1098" y="335422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决策依据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2050" y="370522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观察玩家是否可信、是否急于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2050" y="3952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获取敏感遗迹信息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63955" y="4369118"/>
            <a:ext cx="2833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代表机制：lost_key / trust gate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14850" y="1847850"/>
            <a:ext cx="3143250" cy="3028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4792980" y="2097405"/>
            <a:ext cx="20086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Ron：城镇守卫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99648" y="261127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功能定位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00600" y="29622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公共安全、巡逻记录与证据门控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99648" y="335422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决策依据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00600" y="370522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时间、地点、见证人、徽章号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00600" y="3952875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等可核验材料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02505" y="4369118"/>
            <a:ext cx="2932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代表机制：gate_badge / guard log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153400" y="1847850"/>
            <a:ext cx="3143250" cy="30289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431530" y="2097405"/>
            <a:ext cx="215570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Mira：遗迹学者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38198" y="261127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功能定位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39150" y="29622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研究解释、田野笔记与证据整理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38198" y="3354229"/>
            <a:ext cx="92211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决策依据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39150" y="370522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一手观察、符号细节、地点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39150" y="3952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和不确定性的标注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41055" y="4369118"/>
            <a:ext cx="33377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代表机制：ancient_notes / field notes</a:t>
            </a:r>
          </a:p>
        </p:txBody>
      </p:sp>
      <p:sp>
        <p:nvSpPr>
          <p:cNvPr id="31" name="Line 31"/>
          <p:cNvSpPr/>
          <p:nvPr/>
        </p:nvSpPr>
        <p:spPr>
          <a:xfrm>
            <a:off x="876300" y="531495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53440" y="55206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共同点：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958340" y="5520690"/>
            <a:ext cx="58664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三位 NPC 都有清晰职责、记忆边界和可验证行动条件。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9155" y="5912168"/>
            <a:ext cx="72171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对比基础：Sable 的特殊性不在于“更强”，而在于它会把非正式信息渠道转化为路线优势。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0631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路线：语言行为与状态变化分离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真实 trace 显示：角色关系可以推进，但任务事实仍由规则控制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1847850"/>
            <a:ext cx="10439400" cy="2952750"/>
            <a:chOff x="876300" y="1847850"/>
            <a:chExt cx="10439400" cy="2952750"/>
          </a:xfrm>
        </p:grpSpPr>
        <p:sp>
          <p:nvSpPr>
            <p:cNvPr id="7" name="Rectangle 7"/>
            <p:cNvSpPr/>
            <p:nvPr/>
          </p:nvSpPr>
          <p:spPr>
            <a:xfrm>
              <a:off x="876300" y="1847850"/>
              <a:ext cx="1043940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201263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Traveler reason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8495" y="2012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通过非正式信息渠道建立信任，并获取遗迹相关传闻。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34981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action: speak_to_npc / ask_about_ruins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914650"/>
              <a:ext cx="10439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3079432"/>
              <a:ext cx="17053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Sable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8495" y="3079432"/>
              <a:ext cx="4827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可以试探、转移话题、引导 Traveler 继续对话。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4166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relationship delta recorded / dialogue strategy changed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981450"/>
              <a:ext cx="1043940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9195" y="414623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Response constraints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3795" y="41462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不能声称遗迹入口已经解锁，也不能声称玩家获得物品奖励。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4483418"/>
              <a:ext cx="5686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state transition remains controlled by validator and quest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案例结论：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40" y="56159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允许角色关系和对话策略推进，不允许绕过规则完成任务。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42016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运行结果（一）：Classroom Showcase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82667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truth-seeking profile：先找证人、交叉验证，再形成 guardian advantage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8575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20260606T061944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总轮次：20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202206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最终位置：archive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guardian_advantage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覆盖与状态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27509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覆盖 NPC：Lina / Ron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33236"/>
            <a:ext cx="137798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Mira / Sable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14236"/>
            <a:ext cx="182653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phase: resolved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795236"/>
            <a:ext cx="11939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tension: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6792" y="417623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Ron trust 0.20 / affinity 0.40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53400" y="1866900"/>
            <a:ext cx="3143250" cy="28575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8200" y="2733675"/>
            <a:ext cx="22083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1：先访问 Lina，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8200" y="29813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建立第一手证词。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8200" y="3400425"/>
            <a:ext cx="28484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5：Mira 提供研究视角，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0" y="3648075"/>
            <a:ext cx="1918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arc 进入 resolved。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8200" y="4067175"/>
            <a:ext cx="25784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8：补齐 Sable 视角，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8200" y="43148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形成多 NPC 覆盖。</a:t>
            </a:r>
          </a:p>
        </p:txBody>
      </p:sp>
      <p:sp>
        <p:nvSpPr>
          <p:cNvPr id="28" name="Line 28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2640" y="5368290"/>
            <a:ext cx="108350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会按 profile 主动规划路线，并且每一步都留下 reason、reply、state 和 arc evidence。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1060" y="5928360"/>
            <a:ext cx="44630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classroom_showcase_llm_run / 20260606T061944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6882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运行结果（二）：Sable Advantage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1506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prestige profile：更早接触 Sable，路线明显偏向非正式信息渠道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8575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20260606T185547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总轮次：15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19990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05719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sable_advantage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路线差异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50512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 首先接触 Sable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90386"/>
            <a:ext cx="240161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 outcome 转为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14236"/>
            <a:ext cx="188404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sable_advantage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795236"/>
            <a:ext cx="312620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14 记录 secret hinted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6792" y="4176236"/>
            <a:ext cx="36322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trust 0.15 / affinity 0.30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53400" y="1866900"/>
            <a:ext cx="3143250" cy="28575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8200" y="2733675"/>
            <a:ext cx="2198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要求许可或担保，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8200" y="2981325"/>
            <a:ext cx="27884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阻止 Traveler 直接获得传闻。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8200" y="3400425"/>
            <a:ext cx="17283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后续围绕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0" y="3648075"/>
            <a:ext cx="19983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网络收集线索。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8200" y="4067175"/>
            <a:ext cx="28084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advantage 与 prestige 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8200" y="431482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follow_rumors profile 一致。</a:t>
            </a:r>
          </a:p>
        </p:txBody>
      </p:sp>
      <p:sp>
        <p:nvSpPr>
          <p:cNvPr id="28" name="Line 28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2640" y="5368290"/>
            <a:ext cx="86988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不同 profile 会改变路线优先级，但状态推进仍由 Validator 和 arc rules 控制。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1060" y="5928360"/>
            <a:ext cx="41349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sable_advantage_llm_run / 20260606T185547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7063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评估：已有证据与下一步指标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当前不虚构大规模统计结论，而是用 trace 证明关键机制可复盘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2307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已有证据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850832"/>
            <a:ext cx="12410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demo trace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195" y="3212782"/>
            <a:ext cx="27922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JSON / Markdown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574732"/>
            <a:ext cx="2715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与 Validator 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936682"/>
            <a:ext cx="21321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route 输出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962150"/>
            <a:ext cx="3143250" cy="25908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能说明什么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7745" y="28508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角色知识边界可复盘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7745" y="32127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状态写入与回复分离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7745" y="35747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越权行动有拦截路径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7745" y="3936682"/>
            <a:ext cx="1945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profile 会影响路线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下一步指标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295" y="285083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固定对话集一致性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6295" y="321278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越权拦截频次统计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357473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同初始态多次运行对比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6295" y="39366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图形化回放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边界说明：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61594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目前评估仍以案例 trace 和人工复盘为主，后续需要自动分析。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23085" y="1723072"/>
            <a:ext cx="8649653" cy="4458653"/>
            <a:chOff x="1823085" y="1723072"/>
            <a:chExt cx="8649653" cy="4458653"/>
          </a:xfrm>
        </p:grpSpPr>
        <p:sp>
          <p:nvSpPr>
            <p:cNvPr id="5" name="TextBox 5"/>
            <p:cNvSpPr txBox="1"/>
            <p:nvPr/>
          </p:nvSpPr>
          <p:spPr>
            <a:xfrm>
              <a:off x="1823085" y="1723072"/>
              <a:ext cx="80339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66900" y="25717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40230" y="3011805"/>
              <a:ext cx="57800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本项目把 LLM 放入受规则约束的运行链路中：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2135" y="3523298"/>
              <a:ext cx="86306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语言生成提供表达和推理能力；系统流程维护事实、校验行动并记录结果。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6900" y="4381500"/>
              <a:ext cx="8496300" cy="7239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6940" y="4644390"/>
              <a:ext cx="79187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后续工作：多 Agent 调度、长期记忆质量、自动评估和 timeline 可视化。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464" y="5633085"/>
              <a:ext cx="48130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Thanks for your listening!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3448</Words>
  <Application>Microsoft Office PowerPoint</Application>
  <PresentationFormat>宽屏</PresentationFormat>
  <Paragraphs>326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微软雅黑</vt:lpstr>
      <vt:lpstr>Arial</vt:lpstr>
      <vt:lpstr>Calibri</vt:lpstr>
      <vt:lpstr>Office Theme</vt:lpstr>
      <vt:lpstr>记忆驱动的可验证LLM 角色 Agent 系统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良玺 薛</cp:lastModifiedBy>
  <cp:revision>2</cp:revision>
  <dcterms:created xsi:type="dcterms:W3CDTF">2026-06-09T05:12:03Z</dcterms:created>
  <dcterms:modified xsi:type="dcterms:W3CDTF">2026-06-09T06:41:18Z</dcterms:modified>
  <cp:category/>
  <cp:contentStatus/>
  <dc:language/>
</cp:coreProperties>
</file>