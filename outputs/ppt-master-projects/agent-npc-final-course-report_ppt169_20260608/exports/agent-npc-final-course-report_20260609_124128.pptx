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大家好，我是薛良玺。这次课程汇报的主题是“记忆驱动的可验证 LLM 角色 Agent 系统”。项目关注的不是做一个普通聊天界面，而是把 LLM 角色对话放入状态、记忆、校验和 trace 组成的运行链路中。接下来我会先说明普通角色聊天为什么不足，再展示项目如何从单 NPC 对话逐步演进到 Traveler living-world runtime。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这页把原来的问题定义和项目目标合在一起讲。左边是为什么普通 LLM 角色对话不够：它可能把说出来的内容误当成已经发生的事实，也可能因为缺少稳定上下文而让角色知识边界断裂；如果只保存最后回复，后续也很难复盘行为原因。右边是项目为了解决这些问题补上的四个支柱：状态、记忆、校验和 trace。核心目标是把 LLM 的表达能力保留下来，但让世界事实由可验证的程序流程维护。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这页展开项目演进的前半部分。第一阶段先做单 NPC 记忆对话原型，是为了验证最小闭环：系统能读取状态、调用 LLM、生成回复，并把过程保存下来。这样项目不是停留在 prompt demo，而是有了 SQLite、workflow 和 trace 作为后续扩展基座。第二阶段加入分层上下文和玩家端，是因为早期原型只看当前输入时角色容易断裂。把 lore、近期上下文、长期记忆和 UI 入口分开后，角色回复更稳定，也更容易调试和展示。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这页展开项目演进的后半部分。第三阶段拆出 NPCMind、NarrativeEnvironment 和 ActionValidator，是因为 LLM 可以生成合理语言，但不能直接拥有改写任务、物品和关系事实的执行权。这样角色心智、语言意图和世界执行被分离，越界行动可以被拒绝、修复并记录。第四阶段加入 autonomous runtime 和 Traveler，是因为课程展示需要多 NPC 覆盖、自动探索路线和真实运行证据，而不是手工单轮问答。Traveler profile 可以驱动路线选择，timeline 可以展示每轮理由、回复、状态变化和 outcome。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总体架构的关键，是把 LLM 放在“提出意图”的位置，而不是让它直接拥有执行权。玩家或 Traveler 的输入先变成 observation，再经过记忆与 lore 检索，进入 NPCMind 形成 belief、goal 和 plan；LLM 基于这些上下文输出结构化 decision。这个 decision 必须经过 ActionValidator 和 NarrativeEnvironment，才能写入 SQLite 世界状态。最后，系统会把过程导出为 trace 和 timeline，这也是后面报告和演示的主要证据来源。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这页进一步拆开模块职责。NarrativeEnvironment 负责组织 observation 和执行 action，Memory 系统负责补充上下文，NPCMind 负责形成角色内部判断，LLM Decision 负责提出结构化意图。真正守住事实边界的是 ActionValidator 和 SQLite World State，前者决定行动是否允许，后者保存任务、地点、物品和关系的真实变化。这样的分工让项目更容易解释，也让后续测试和定位问题更清楚。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角色要表现得稳定，不能只看当前一句输入。项目把近期上下文、稳定 lore、长期记忆和任务状态作为不同来源，再通过检索合成当前 Agent 的上下文。这样，NPC 在回复前能知道当前地点、之前互动、自己应该知道或不知道的设定，以及当前任务条件。后台 memory jobs 的作用，是把运行过程中产生的交互和反思整理成后续可检索内容，避免所有历史都挤在单轮 prompt 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NPCMind 和 ActionValidator 是项目里最重要的一组边界。NPCMind 让角色在回复前先形成 belief、emotion、goal、plan 和 social strategy，所以角色不是只在模板里说话，而是有可记录的主观状态。ActionValidator 则从相反方向工作：它检查 LLM 提出的 action 是否符合当前世界状态，如果越界就阻止或修复。这样既保留了角色语言的灵活性，又避免一句自然语言直接改变数据库事实。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autonomous NPC runtime 中，NPC 可以响应世界事件，而不是永远等待玩家输入。流程从 world event 开始，事件进入 NPC inbox，系统根据 NPC 状态和 ActionCatalog 构造可行动作集合，然后让 LLM 在这个集合内做 constrained decision。即使是自主 tick，结果仍然必须经过 Validator，最后写入 mailbox、runtime state 和 trace。这个设计的重点不是让 NPC 随机行动，而是让世界事件以可约束、可复盘的方式影响角色。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Traveler runtime 是项目后期最适合课堂展示的部分。Traveler 不是手工输入的玩家，而是由 YAML profile 配置的角色 Agent，它有公开身份、私人目标、隐藏信息、行动边界和探索风格。每一轮它会观察世界、检索线索、决定移动或询问，再执行行动并反思。timeline 导出会记录行动理由、Traveler 发言、NPC 回复、状态变化、timing breakdown 和 arc evidence，因此不同 profile 的路线差异也可以被实际复盘。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为了避免汇报停留在架构图上，这页放的是当前仓库里的真实界面和 trace 证据。左侧是 React/Vite 玩家端界面截图，右侧列出 timeline 中用于复盘的关键字段，包括 Traveler 发言、NPC 回复、关系变化、探索线索、arc evidence、最终 outcome 和 timing。项目还保留了课堂展示 trace 和 Sable 路线 trace，所以报告中的结果不是虚构描述，而是从当前项目运行输出中整理出来的。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Sable 路线可以很好地说明语言层和状态层的分离。这个真实 trace 中，Traveler 选择和 Sable 对话，理由是希望通过非正式信息渠道建立信任并获取遗迹传闻；Sable 的决策意图是转移遗迹询问，关系值也确实发生了变化。但是 trace 同时明确记录了 response constraints：不能声称遗迹入口已经解锁，也不能声称玩家获得了物品奖励。所以这里允许的是角色关系和对话策略推进，不是绕过规则完成任务。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这页展示第一个真实运行结果：classroom showcase。这个 run 使用的是 truth-seeking 风格的 Arin the Cartographer，总共跑了 20 轮，最终 outcome 是 guardian_advantage，arc phase 为 resolved，tension 为 4。它覆盖了 Lina、Ron、Mira 和 Sable 四个 NPC，并在过程中记录了 Traveler 的行动理由、NPC 回复、关系变化、exploration leads 和 arc evidence。这个结果最适合课堂展示，因为它说明 Traveler 会按 profile 主动规划路线，并且每一步都有可复盘证据。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这页展示第二个真实运行结果：Sable advantage。这个 run 使用的是 prestige / follow_rumors 风格的 Elyan Vale，总共跑了 15 轮，最终 outcome 是 sable_advantage，最终位置在 market。它和 classroom showcase 的差异很明显：Traveler 一开始就接触 Sable，后续路线也更偏向非正式信息渠道；Round 14 还记录了 secret hinted。这个结果说明不同 profile 会改变路线优先级和最终优势方向，但状态推进仍然由 Validator 和 arc rules 控制。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当前评估主要依赖 demo trace、JSON 和 Markdown timeline，以及人工复盘。它已经能说明一些关键问题，例如角色知识边界能不能复盘，状态变化是否经过 Validator，Traveler profile 是否会影响路线，以及 timing breakdown 能不能帮助定位开销。局限也很明确：目前还不是大规模自动统计，文本 timeline 阅读成本也偏高。后续更合理的方向，是在已有 trace 基础上构建自动分析脚本和图形化回放界面。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总结来说，这个项目的关键设计是把 LLM 放入受规则约束的运行链路中，而不是让它自由决定世界事实。角色先读取状态、检索记忆、形成心智，再由 LLM 提出意图，最后经过校验、执行和 timeline 导出。这样既保留了 LLM 在交互叙事中的表达优势，也降低了幻觉和越权行动对系统状态的破坏。后续如果继续发展，我会重点加强多 Agent 调度、长期记忆质量、自动评估和 timeline 可视化。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image" Target="../media/image_825dc1ad8da2edc6.png"/>
  <Relationship Id="rId4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75326772a572153.png"/>
  <Relationship Id="rId3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838200" y="2071688"/>
            <a:ext cx="10865453" cy="3719512"/>
            <a:chOff x="838200" y="2071688"/>
            <a:chExt cx="10865453" cy="3719512"/>
          </a:xfrm>
        </p:grpSpPr>
        <p:sp>
          <p:nvSpPr>
            <p:cNvPr id="5" name="TextBox 5"/>
            <p:cNvSpPr txBox="1"/>
            <p:nvPr/>
          </p:nvSpPr>
          <p:spPr>
            <a:xfrm>
              <a:off x="4295775" y="2071688"/>
              <a:ext cx="429577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记忆驱动的可验证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295775" y="2700338"/>
              <a:ext cx="508337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LLM 角色 Agent 系统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17547" y="3335655"/>
              <a:ext cx="618610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从单 NPC 对话到 Traveler living-world runtime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38200" y="3981450"/>
              <a:ext cx="10496550" cy="9525"/>
            </a:xfrm>
            <a:custGeom>
              <a:avLst/>
              <a:gdLst/>
              <a:ahLst/>
              <a:cxnLst/>
              <a:rect l="l" t="t" r="r" b="b"/>
              <a:pathLst>
                <a:path w="10496550" h="9525">
                  <a:moveTo>
                    <a:pt x="0" y="0"/>
                  </a:moveTo>
                  <a:lnTo>
                    <a:pt x="1049655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7391400" y="3952875"/>
              <a:ext cx="3943350" cy="9525"/>
            </a:xfrm>
            <a:custGeom>
              <a:avLst/>
              <a:gdLst/>
              <a:ahLst/>
              <a:cxnLst/>
              <a:rect l="l" t="t" r="r" b="b"/>
              <a:pathLst>
                <a:path w="3943350" h="9525">
                  <a:moveTo>
                    <a:pt x="0" y="0"/>
                  </a:moveTo>
                  <a:lnTo>
                    <a:pt x="3943350" y="0"/>
                  </a:lnTo>
                </a:path>
              </a:pathLst>
            </a:custGeom>
            <a:noFill/>
            <a:ln w="38100">
              <a:solidFill>
                <a:srgbClr val="E8752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81875" y="4348162"/>
              <a:ext cx="24574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课程项目最终汇报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75721" y="5009198"/>
              <a:ext cx="186975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汇报人：薛良玺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31646" y="542544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2026年6月9日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84861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问题与目标：角色对话如何变成可验证系统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53263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合并原问题定义和项目目标，保留最关键的逻辑链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85950"/>
            <a:ext cx="4762500" cy="31432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154555"/>
            <a:ext cx="400813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普通 LLM 角色对话的三类风险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8242" y="2766536"/>
            <a:ext cx="4759404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1. 语言幻觉：说“入口解锁”不等于状态已改变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8242" y="3242786"/>
            <a:ext cx="473640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2. 上下文断裂：角色难以稳定保持记忆和边界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8242" y="3719036"/>
            <a:ext cx="473640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3. 无法复盘：只保存回复就难以解释行为原因</a:t>
            </a:r>
          </a:p>
        </p:txBody>
      </p:sp>
      <p:sp>
        <p:nvSpPr>
          <p:cNvPr id="12" name="Line 12"/>
          <p:cNvSpPr/>
          <p:nvPr/>
        </p:nvSpPr>
        <p:spPr>
          <a:xfrm>
            <a:off x="1200150" y="4362450"/>
            <a:ext cx="4019550" cy="9525"/>
          </a:xfrm>
          <a:custGeom>
            <a:avLst/>
            <a:gdLst/>
            <a:ahLst/>
            <a:cxnLst/>
            <a:rect l="l" t="t" r="r" b="b"/>
            <a:pathLst>
              <a:path w="4019550" h="9525">
                <a:moveTo>
                  <a:pt x="0" y="0"/>
                </a:moveTo>
                <a:lnTo>
                  <a:pt x="401955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181100" y="4543425"/>
            <a:ext cx="54387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核心问题：如何保留表达能力，同时让世界事实由规则维护？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438900" y="1885950"/>
            <a:ext cx="47625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736080" y="2154555"/>
            <a:ext cx="299370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项目要补上的四个支柱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40842" y="2766536"/>
            <a:ext cx="523096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状态：SQLite 保存任务、地点、物品、关系和事件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40842" y="3242786"/>
            <a:ext cx="523096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记忆：近期上下文、长期记忆、稳定 lore 进入决策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40842" y="3719036"/>
            <a:ext cx="4356854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校验：Validator 拦截越界行动并安全降级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40842" y="4195286"/>
            <a:ext cx="4690396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Trace：记录决策、状态变化和 timeline 证据</a:t>
            </a:r>
          </a:p>
        </p:txBody>
      </p:sp>
      <p:sp>
        <p:nvSpPr>
          <p:cNvPr id="20" name="Line 20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53440" y="5615940"/>
            <a:ext cx="80181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目标：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01140" y="5615940"/>
            <a:ext cx="784669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构建可运行、可观察、可验证的 LLM 角色 Agent，而不是只做聊天界面。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63411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项目演进（一）：从“能对话”到“带上下文对话”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6062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前两次演进解决的是最小闭环和角色稳定性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28800"/>
            <a:ext cx="4762500" cy="32004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097405"/>
            <a:ext cx="318483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1. 单 NPC 记忆对话原型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9195" y="26984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为什么这样做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1100" y="3076575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先验证最小可运行闭环：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1100" y="3324225"/>
            <a:ext cx="30684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读取状态、调用 LLM、回复玩家，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1100" y="3571875"/>
            <a:ext cx="1838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并把过程保存下来。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9195" y="3860482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带来的好处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1100" y="4238625"/>
            <a:ext cx="293846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项目不再停留在 prompt demo；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1100" y="4486275"/>
            <a:ext cx="26684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SQLite、workflow 和 trace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1100" y="4733925"/>
            <a:ext cx="1838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成为后续扩展基座。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438900" y="1828800"/>
            <a:ext cx="47625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36080" y="2097405"/>
            <a:ext cx="311132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2. 分层上下文与玩家端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41795" y="26984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为什么这样做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43700" y="3076575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早期原型只看当前输入，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43700" y="3324225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角色知识边界、地点和关系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43700" y="3571875"/>
            <a:ext cx="2838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容易断裂，需要把上下文拆层。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41795" y="3860482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带来的好处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43700" y="4238625"/>
            <a:ext cx="26284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lore、长期记忆、近期上下文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43700" y="4486275"/>
            <a:ext cx="17283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和 UI 入口分开后，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43700" y="4733925"/>
            <a:ext cx="2838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回复更稳定，也便于调试展示。</a:t>
            </a:r>
          </a:p>
        </p:txBody>
      </p:sp>
      <p:sp>
        <p:nvSpPr>
          <p:cNvPr id="27" name="Line 27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阶段结果：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72640" y="5615940"/>
            <a:ext cx="63345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系统从“能说话”推进到“带着世界设定和历史上下文说话”。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47344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项目演进（二）：从执行边界到 Traveler 展示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5566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后两次演进解决的是事实边界、主动行为和课堂复盘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28800"/>
            <a:ext cx="4762500" cy="32004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097405"/>
            <a:ext cx="322893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3. NPCMind + Validator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9195" y="26984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为什么这样做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1100" y="3076575"/>
            <a:ext cx="206835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能生成合理语言，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1100" y="3324225"/>
            <a:ext cx="2038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但不能直接改写任务、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1100" y="357187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物品和关系事实。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79195" y="3860482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带来的好处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1100" y="4238625"/>
            <a:ext cx="1838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角色心智、语言意图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1100" y="4486275"/>
            <a:ext cx="1838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和世界执行被分离；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1100" y="4733925"/>
            <a:ext cx="30384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越界行动可被拒绝、修复、记录。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438900" y="1828800"/>
            <a:ext cx="4762500" cy="320040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36080" y="2097405"/>
            <a:ext cx="490494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4. Autonomous Runtime + Traveler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41795" y="26984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为什么这样做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43700" y="3076575"/>
            <a:ext cx="28884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课程展示需要看到多 NPC 覆盖、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43700" y="3324225"/>
            <a:ext cx="2838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主动探索路线和真实运行证据，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43700" y="3571875"/>
            <a:ext cx="2038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而不是手工单轮问答。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41795" y="3860482"/>
            <a:ext cx="11970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带来的好处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43700" y="4238625"/>
            <a:ext cx="305847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Traveler profile 驱动路线选择；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743700" y="4486275"/>
            <a:ext cx="246840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timeline 展示理由、回复、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43700" y="4733925"/>
            <a:ext cx="21083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状态变化和 outcome。</a:t>
            </a:r>
          </a:p>
        </p:txBody>
      </p:sp>
      <p:sp>
        <p:nvSpPr>
          <p:cNvPr id="27" name="Line 27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阶段结果：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72640" y="5615940"/>
            <a:ext cx="701859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系统从“对话程序”推进到“可控、主动、可复盘的 living world”。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29519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总体架构：输入到 timeline 的受控链路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08247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负责提出意图，事实改变交给校验、执行和状态写入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838200" y="2038350"/>
            <a:ext cx="10248900" cy="819150"/>
            <a:chOff x="838200" y="2038350"/>
            <a:chExt cx="10248900" cy="819150"/>
          </a:xfrm>
        </p:grpSpPr>
        <p:sp>
          <p:nvSpPr>
            <p:cNvPr id="7" name="Rectangle 7"/>
            <p:cNvSpPr/>
            <p:nvPr/>
          </p:nvSpPr>
          <p:spPr>
            <a:xfrm>
              <a:off x="8382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8154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输入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34212" y="2518410"/>
              <a:ext cx="11986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玩家 / Traveler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60985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591133" y="221265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Observation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69895" y="251841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状态切片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815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2484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17517" y="2518410"/>
              <a:ext cx="111861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memory / lore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53150" y="2038350"/>
              <a:ext cx="139065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88565" y="2212658"/>
              <a:ext cx="9198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61176" y="2518410"/>
              <a:ext cx="9745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belief / plan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924800" y="2038350"/>
              <a:ext cx="139065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85468" y="2212658"/>
              <a:ext cx="4693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LLM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2846" y="2518410"/>
              <a:ext cx="6545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decision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696450" y="2038350"/>
              <a:ext cx="139065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139791" y="2212658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校验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56458" y="2518410"/>
              <a:ext cx="12706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allowed / repair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22288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25146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7" name="Line 27"/>
            <p:cNvSpPr/>
            <p:nvPr/>
          </p:nvSpPr>
          <p:spPr>
            <a:xfrm>
              <a:off x="400050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8" name="Polygon 28"/>
            <p:cNvSpPr/>
            <p:nvPr/>
          </p:nvSpPr>
          <p:spPr>
            <a:xfrm>
              <a:off x="428625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9" name="Line 29"/>
            <p:cNvSpPr/>
            <p:nvPr/>
          </p:nvSpPr>
          <p:spPr>
            <a:xfrm>
              <a:off x="57721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0" name="Polygon 30"/>
            <p:cNvSpPr/>
            <p:nvPr/>
          </p:nvSpPr>
          <p:spPr>
            <a:xfrm>
              <a:off x="60579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1" name="Line 31"/>
            <p:cNvSpPr/>
            <p:nvPr/>
          </p:nvSpPr>
          <p:spPr>
            <a:xfrm>
              <a:off x="754380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82955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9315450" y="24479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9601200" y="23907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grpSp>
        <p:nvGrpSpPr>
          <p:cNvPr id="53" name="Group 53"/>
          <p:cNvGrpSpPr/>
          <p:nvPr/>
        </p:nvGrpSpPr>
        <p:grpSpPr>
          <a:xfrm>
            <a:off x="1809750" y="2857500"/>
            <a:ext cx="8591550" cy="2019300"/>
            <a:chOff x="1809750" y="2857500"/>
            <a:chExt cx="8591550" cy="2019300"/>
          </a:xfrm>
        </p:grpSpPr>
        <p:sp>
          <p:nvSpPr>
            <p:cNvPr id="36" name="Rectangle 36"/>
            <p:cNvSpPr/>
            <p:nvPr/>
          </p:nvSpPr>
          <p:spPr>
            <a:xfrm>
              <a:off x="1809750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838666" y="4089082"/>
              <a:ext cx="251391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NarrativeEnvironment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01858" y="4445318"/>
              <a:ext cx="19875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将 decision 转为 action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810125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000761" y="4089082"/>
              <a:ext cx="219047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SQLite World State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78742" y="44453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保存任务、物品、关系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810500" y="3886200"/>
              <a:ext cx="2571750" cy="990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14837" y="4089082"/>
              <a:ext cx="17630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Timeline Export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59140" y="444531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输出课堂复盘证据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10391775" y="2857500"/>
              <a:ext cx="9525" cy="533400"/>
            </a:xfrm>
            <a:custGeom>
              <a:avLst/>
              <a:gdLst/>
              <a:ahLst/>
              <a:cxnLst/>
              <a:rect l="l" t="t" r="r" b="b"/>
              <a:pathLst>
                <a:path w="9525" h="53340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3095625" y="3390900"/>
              <a:ext cx="7296150" cy="9525"/>
            </a:xfrm>
            <a:custGeom>
              <a:avLst/>
              <a:gdLst/>
              <a:ahLst/>
              <a:cxnLst/>
              <a:rect l="l" t="t" r="r" b="b"/>
              <a:pathLst>
                <a:path w="7296150" h="9525">
                  <a:moveTo>
                    <a:pt x="729615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3095625" y="339090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rgbClr val="BFBFBF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3038475" y="37909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49" name="Line 49"/>
            <p:cNvSpPr/>
            <p:nvPr/>
          </p:nvSpPr>
          <p:spPr>
            <a:xfrm>
              <a:off x="4381500" y="43815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4714875" y="4324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51" name="Line 51"/>
            <p:cNvSpPr/>
            <p:nvPr/>
          </p:nvSpPr>
          <p:spPr>
            <a:xfrm>
              <a:off x="7381875" y="4381500"/>
              <a:ext cx="428625" cy="9525"/>
            </a:xfrm>
            <a:custGeom>
              <a:avLst/>
              <a:gdLst/>
              <a:ahLst/>
              <a:cxnLst/>
              <a:rect l="l" t="t" r="r" b="b"/>
              <a:pathLst>
                <a:path w="428625" h="9525">
                  <a:moveTo>
                    <a:pt x="0" y="0"/>
                  </a:moveTo>
                  <a:lnTo>
                    <a:pt x="428625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7715250" y="4324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sp>
        <p:nvSpPr>
          <p:cNvPr id="54" name="Line 54"/>
          <p:cNvSpPr/>
          <p:nvPr/>
        </p:nvSpPr>
        <p:spPr>
          <a:xfrm>
            <a:off x="876300" y="55245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53440" y="57302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关键边界：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072640" y="5730240"/>
            <a:ext cx="44022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提出意图，系统决定事实是否发生。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90217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模块职责：LLM 参与认知，系统掌握执行权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3662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三层责任边界：认知、校验、事实与证据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14400" y="1924050"/>
            <a:ext cx="11104245" cy="2800350"/>
            <a:chOff x="914400" y="1924050"/>
            <a:chExt cx="11104245" cy="2800350"/>
          </a:xfrm>
        </p:grpSpPr>
        <p:sp>
          <p:nvSpPr>
            <p:cNvPr id="7" name="Rectangle 7"/>
            <p:cNvSpPr/>
            <p:nvPr/>
          </p:nvSpPr>
          <p:spPr>
            <a:xfrm>
              <a:off x="914400" y="1924050"/>
              <a:ext cx="3143250" cy="28003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914400" y="1924050"/>
              <a:ext cx="3143250" cy="533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538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认知与意图层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9195" y="2717482"/>
              <a:ext cx="15931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Memory / Lore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9195" y="3098482"/>
              <a:ext cx="87801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9195" y="3479482"/>
              <a:ext cx="13730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LLM Decision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3005" y="4026218"/>
              <a:ext cx="458885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补充上下文，形成 belief / goal / plan，提出行动意图。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514850" y="1924050"/>
              <a:ext cx="3143250" cy="28003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514850" y="1924050"/>
              <a:ext cx="3143250" cy="533400"/>
            </a:xfrm>
            <a:prstGeom prst="rect">
              <a:avLst/>
            </a:prstGeom>
            <a:solidFill>
              <a:srgbClr val="FFF1E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7583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校验与执行层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79645" y="2717482"/>
              <a:ext cx="16921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ActionValidator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79645" y="3098482"/>
              <a:ext cx="239620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NarrativeEnvironment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79645" y="3479482"/>
              <a:ext cx="16261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 Surface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83455" y="4026218"/>
              <a:ext cx="41478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检查行动是否允许，把 decision 转成系统 action。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115300" y="1924050"/>
              <a:ext cx="3143250" cy="28003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115300" y="1924050"/>
              <a:ext cx="3143250" cy="5334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376285" y="20754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事实与证据层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80095" y="2717482"/>
              <a:ext cx="20881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SQLite World State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80095" y="3098482"/>
              <a:ext cx="17471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Trace / Timeline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80095" y="3479482"/>
              <a:ext cx="185713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Traveler Runtime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83905" y="402621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保存事实状态，把运行过程导出为复盘证据。</a:t>
              </a:r>
            </a:p>
          </p:txBody>
        </p:sp>
      </p:grpSp>
      <p:sp>
        <p:nvSpPr>
          <p:cNvPr id="29" name="Line 29"/>
          <p:cNvSpPr/>
          <p:nvPr/>
        </p:nvSpPr>
        <p:spPr>
          <a:xfrm>
            <a:off x="4057650" y="3324225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4419600" y="32670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31" name="Line 31"/>
          <p:cNvSpPr/>
          <p:nvPr/>
        </p:nvSpPr>
        <p:spPr>
          <a:xfrm>
            <a:off x="7658100" y="3324225"/>
            <a:ext cx="457200" cy="9525"/>
          </a:xfrm>
          <a:custGeom>
            <a:avLst/>
            <a:gdLst/>
            <a:ahLst/>
            <a:cxnLst/>
            <a:rect l="l" t="t" r="r" b="b"/>
            <a:pathLst>
              <a:path w="457200" h="9525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8020050" y="32670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33" name="Line 33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汇报重点：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072640" y="5615940"/>
            <a:ext cx="682656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LLM 可以决定“想做什么”，但事实只由校验后的系统流程写入。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577748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记忆与检索：让角色带着上下文行动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424624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回复和 decision 不只依赖当前一句输入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3450" y="1809750"/>
            <a:ext cx="2857500" cy="3105150"/>
            <a:chOff x="933450" y="1809750"/>
            <a:chExt cx="2857500" cy="3105150"/>
          </a:xfrm>
        </p:grpSpPr>
        <p:sp>
          <p:nvSpPr>
            <p:cNvPr id="7" name="Rectangle 7"/>
            <p:cNvSpPr/>
            <p:nvPr/>
          </p:nvSpPr>
          <p:spPr>
            <a:xfrm>
              <a:off x="933450" y="18097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98245" y="201263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近期上下文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933450" y="26479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8245" y="2850832"/>
              <a:ext cx="97702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稳定 lore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33450" y="34861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8245" y="3689032"/>
              <a:ext cx="92202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长期记忆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33450" y="4324350"/>
              <a:ext cx="2857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98245" y="4527232"/>
              <a:ext cx="1142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任务与状态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3790950" y="21050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7" name="Line 17"/>
          <p:cNvSpPr/>
          <p:nvPr/>
        </p:nvSpPr>
        <p:spPr>
          <a:xfrm>
            <a:off x="3790950" y="29432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8" name="Line 18"/>
          <p:cNvSpPr/>
          <p:nvPr/>
        </p:nvSpPr>
        <p:spPr>
          <a:xfrm>
            <a:off x="3790950" y="37814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19" name="Line 19"/>
          <p:cNvSpPr/>
          <p:nvPr/>
        </p:nvSpPr>
        <p:spPr>
          <a:xfrm>
            <a:off x="3790950" y="4619625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20" name="Line 20"/>
          <p:cNvSpPr/>
          <p:nvPr/>
        </p:nvSpPr>
        <p:spPr>
          <a:xfrm>
            <a:off x="4400550" y="2105025"/>
            <a:ext cx="9525" cy="2514600"/>
          </a:xfrm>
          <a:custGeom>
            <a:avLst/>
            <a:gdLst/>
            <a:ahLst/>
            <a:cxnLst/>
            <a:rect l="l" t="t" r="r" b="b"/>
            <a:pathLst>
              <a:path w="9525" h="2514600">
                <a:moveTo>
                  <a:pt x="0" y="0"/>
                </a:moveTo>
                <a:lnTo>
                  <a:pt x="0" y="2514600"/>
                </a:lnTo>
              </a:path>
            </a:pathLst>
          </a:custGeom>
          <a:noFill/>
          <a:ln w="9525">
            <a:solidFill>
              <a:srgbClr val="BFBFBF"/>
            </a:solidFill>
          </a:ln>
        </p:spPr>
      </p:sp>
      <p:sp>
        <p:nvSpPr>
          <p:cNvPr id="21" name="Line 21"/>
          <p:cNvSpPr/>
          <p:nvPr/>
        </p:nvSpPr>
        <p:spPr>
          <a:xfrm>
            <a:off x="4400550" y="3362325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5048250" y="33051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5143500" y="2552700"/>
            <a:ext cx="2000250" cy="161925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462723" y="2992755"/>
            <a:ext cx="136180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Retrieval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99472" y="3400425"/>
            <a:ext cx="16883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typed + semantic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85862" y="3721418"/>
            <a:ext cx="19155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返回 memory snippets</a:t>
            </a:r>
          </a:p>
        </p:txBody>
      </p:sp>
      <p:sp>
        <p:nvSpPr>
          <p:cNvPr id="27" name="Line 27"/>
          <p:cNvSpPr/>
          <p:nvPr/>
        </p:nvSpPr>
        <p:spPr>
          <a:xfrm>
            <a:off x="7143750" y="3362325"/>
            <a:ext cx="723900" cy="9525"/>
          </a:xfrm>
          <a:custGeom>
            <a:avLst/>
            <a:gdLst/>
            <a:ahLst/>
            <a:cxnLst/>
            <a:rect l="l" t="t" r="r" b="b"/>
            <a:pathLst>
              <a:path w="723900" h="9525">
                <a:moveTo>
                  <a:pt x="0" y="0"/>
                </a:moveTo>
                <a:lnTo>
                  <a:pt x="7239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7772400" y="330517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7867650" y="1962150"/>
            <a:ext cx="3429000" cy="28003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147685" y="2246948"/>
            <a:ext cx="2875433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合成后的 Agent 上下文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51495" y="2850832"/>
            <a:ext cx="24622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Observation：当前局面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151495" y="3231832"/>
            <a:ext cx="261623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Memory：历史互动与关系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51495" y="3612832"/>
            <a:ext cx="20661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Lore：稳定世界设定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51495" y="3993832"/>
            <a:ext cx="179112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Quest：任务条件</a:t>
            </a:r>
          </a:p>
        </p:txBody>
      </p:sp>
      <p:sp>
        <p:nvSpPr>
          <p:cNvPr id="35" name="Line 35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后台流程：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072640" y="5615940"/>
            <a:ext cx="658653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memory jobs 将运行中的交互和反思整理成后续可检索内容。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808042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NPCMind + ActionValidator：自由表达，受控执行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5566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角色可以有主观状态，但世界事实必须经过规则边界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90600" y="1981200"/>
            <a:ext cx="10210800" cy="2724150"/>
            <a:chOff x="990600" y="1981200"/>
            <a:chExt cx="10210800" cy="2724150"/>
          </a:xfrm>
        </p:grpSpPr>
        <p:sp>
          <p:nvSpPr>
            <p:cNvPr id="7" name="Rectangle 7"/>
            <p:cNvSpPr/>
            <p:nvPr/>
          </p:nvSpPr>
          <p:spPr>
            <a:xfrm>
              <a:off x="990600" y="1981200"/>
              <a:ext cx="4191000" cy="2724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6825" y="2233612"/>
              <a:ext cx="1254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NPCMind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73492" y="2842736"/>
              <a:ext cx="2298097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belief：角色相信什么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73492" y="3223736"/>
              <a:ext cx="252812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emotion：当前情绪倾向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73492" y="3604736"/>
              <a:ext cx="258563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goal / plan：下一步策略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76350" y="4105275"/>
              <a:ext cx="3638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让角色回复前先形成可记录的主观判断。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010400" y="1981200"/>
              <a:ext cx="4191000" cy="2724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86625" y="2233612"/>
              <a:ext cx="241994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ActionValidator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93292" y="2842736"/>
              <a:ext cx="2263592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检查 action 是否存在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293292" y="3223736"/>
              <a:ext cx="2804160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检查任务、地点、物品条件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293292" y="3604736"/>
              <a:ext cx="2114074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5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阻止或修复越界输出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296150" y="4105275"/>
              <a:ext cx="36385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确保自然语言不能直接改写数据库事实。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5181600" y="3343275"/>
            <a:ext cx="1828800" cy="9525"/>
          </a:xfrm>
          <a:custGeom>
            <a:avLst/>
            <a:gdLst/>
            <a:ahLst/>
            <a:cxnLst/>
            <a:rect l="l" t="t" r="r" b="b"/>
            <a:pathLst>
              <a:path w="1828800" h="9525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/>
          <a:ln w="19050">
            <a:solidFill>
              <a:srgbClr val="BFBFBF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6915150" y="328612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686901" y="3009900"/>
            <a:ext cx="8181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decision</a:t>
            </a:r>
          </a:p>
        </p:txBody>
      </p:sp>
      <p:sp>
        <p:nvSpPr>
          <p:cNvPr id="23" name="Line 23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设计效果：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72640" y="5615940"/>
            <a:ext cx="72466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保留角色语言的灵活性，同时避免一句自然语言直接改变世界事实。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45559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Autonomous NPC Runtime：NPC 响应世界事件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7545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NPC 不只等待玩家输入，也能在事件触发后生成受约束主动行为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876300" y="2171700"/>
            <a:ext cx="10572750" cy="781050"/>
            <a:chOff x="876300" y="2171700"/>
            <a:chExt cx="10572750" cy="781050"/>
          </a:xfrm>
        </p:grpSpPr>
        <p:sp>
          <p:nvSpPr>
            <p:cNvPr id="7" name="Rectangle 7"/>
            <p:cNvSpPr/>
            <p:nvPr/>
          </p:nvSpPr>
          <p:spPr>
            <a:xfrm>
              <a:off x="876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4766" y="2460308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world event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781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032784" y="2460308"/>
              <a:ext cx="102103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NPC inbox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686300" y="2171700"/>
              <a:ext cx="152400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95754" y="2460308"/>
              <a:ext cx="150509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ActionCatalog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591300" y="2171700"/>
              <a:ext cx="1524000" cy="7810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81289" y="2460308"/>
              <a:ext cx="94402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LLM tick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496300" y="2171700"/>
              <a:ext cx="1524000" cy="7810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08291" y="2460308"/>
              <a:ext cx="9000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validate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401300" y="2171700"/>
              <a:ext cx="1047750" cy="7810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631091" y="2362200"/>
              <a:ext cx="5881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trace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51081" y="2619375"/>
              <a:ext cx="7481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mailbox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40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268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2" name="Line 22"/>
            <p:cNvSpPr/>
            <p:nvPr/>
          </p:nvSpPr>
          <p:spPr>
            <a:xfrm>
              <a:off x="4305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4591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4" name="Line 24"/>
            <p:cNvSpPr/>
            <p:nvPr/>
          </p:nvSpPr>
          <p:spPr>
            <a:xfrm>
              <a:off x="621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49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115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8401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10020300" y="25622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10306050" y="250507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200150" y="3848100"/>
            <a:ext cx="9791700" cy="990600"/>
            <a:chOff x="1200150" y="3848100"/>
            <a:chExt cx="9791700" cy="990600"/>
          </a:xfrm>
        </p:grpSpPr>
        <p:sp>
          <p:nvSpPr>
            <p:cNvPr id="31" name="Rectangle 31"/>
            <p:cNvSpPr/>
            <p:nvPr/>
          </p:nvSpPr>
          <p:spPr>
            <a:xfrm>
              <a:off x="12001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630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66850" y="4391025"/>
              <a:ext cx="26284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可行动作来自 ActionCatalog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6672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9301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33950" y="4391025"/>
              <a:ext cx="249840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自主 tick 也经过 Validator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134350" y="3848100"/>
              <a:ext cx="2857500" cy="9906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397240" y="401574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控制点 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01050" y="4391025"/>
              <a:ext cx="24784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结果写入 mailbox 与 trace</a:t>
              </a:r>
            </a:p>
          </p:txBody>
        </p:sp>
      </p:grpSp>
      <p:sp>
        <p:nvSpPr>
          <p:cNvPr id="41" name="Line 41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853440" y="5615940"/>
            <a:ext cx="15579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运行时价值：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301240" y="5615940"/>
            <a:ext cx="5566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让世界事件以可约束、可复盘的方式影响角色行为。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149155" y="6477952"/>
            <a:ext cx="1036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27707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Runtime：用 profile 驱动自动探索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79056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Traveler 是 living-world simulation 中可配置的自动探索角色</a:t>
            </a:r>
          </a:p>
        </p:txBody>
      </p:sp>
      <p:sp>
        <p:nvSpPr>
          <p:cNvPr id="7" name="Rectangle 7"/>
          <p:cNvSpPr/>
          <p:nvPr/>
        </p:nvSpPr>
        <p:spPr>
          <a:xfrm>
            <a:off x="990600" y="1847850"/>
            <a:ext cx="3429000" cy="31432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287780" y="2097405"/>
            <a:ext cx="18322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YAML Profile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3495" y="2717482"/>
            <a:ext cx="2902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公开身份：角色如何自我介绍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93495" y="3098482"/>
            <a:ext cx="26822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私人目标：探索偏好与动机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3495" y="3479482"/>
            <a:ext cx="24622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隐藏信息：不能直接暴露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3495" y="3860482"/>
            <a:ext cx="29022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行动边界：移动、询问、检查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93495" y="4241482"/>
            <a:ext cx="26822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探索风格：谨慎或追求声望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219700" y="1981200"/>
            <a:ext cx="4991100" cy="2724150"/>
            <a:chOff x="5219700" y="1981200"/>
            <a:chExt cx="4991100" cy="2724150"/>
          </a:xfrm>
        </p:grpSpPr>
        <p:sp>
          <p:nvSpPr>
            <p:cNvPr id="14" name="Rectangle 14"/>
            <p:cNvSpPr/>
            <p:nvPr/>
          </p:nvSpPr>
          <p:spPr>
            <a:xfrm>
              <a:off x="5219700" y="19812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419939" y="2184082"/>
              <a:ext cx="9330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Observe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8500" y="19812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37738" y="2184082"/>
              <a:ext cx="95502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Retrieve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877300" y="1981200"/>
              <a:ext cx="1333500" cy="5905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87553" y="2184082"/>
              <a:ext cx="71299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Decide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77300" y="41148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41572" y="4317682"/>
              <a:ext cx="40495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Act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048500" y="4114800"/>
              <a:ext cx="1333500" cy="5905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98245" y="4317682"/>
              <a:ext cx="8340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Reflect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553200" y="22764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9532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382000" y="22764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87820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28" name="Line 28"/>
            <p:cNvSpPr/>
            <p:nvPr/>
          </p:nvSpPr>
          <p:spPr>
            <a:xfrm>
              <a:off x="9544050" y="2571750"/>
              <a:ext cx="9525" cy="1543050"/>
            </a:xfrm>
            <a:custGeom>
              <a:avLst/>
              <a:gdLst/>
              <a:ahLst/>
              <a:cxnLst/>
              <a:rect l="l" t="t" r="r" b="b"/>
              <a:pathLst>
                <a:path w="9525" h="1543050">
                  <a:moveTo>
                    <a:pt x="0" y="0"/>
                  </a:moveTo>
                  <a:lnTo>
                    <a:pt x="0" y="154305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9486900" y="40195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0" name="Line 30"/>
            <p:cNvSpPr/>
            <p:nvPr/>
          </p:nvSpPr>
          <p:spPr>
            <a:xfrm>
              <a:off x="8382000" y="4410075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4953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8382000" y="43529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5886450" y="4410075"/>
              <a:ext cx="1162050" cy="9525"/>
            </a:xfrm>
            <a:custGeom>
              <a:avLst/>
              <a:gdLst/>
              <a:ahLst/>
              <a:cxnLst/>
              <a:rect l="l" t="t" r="r" b="b"/>
              <a:pathLst>
                <a:path w="1162050" h="9525">
                  <a:moveTo>
                    <a:pt x="11620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5886450" y="2571750"/>
              <a:ext cx="9525" cy="1838325"/>
            </a:xfrm>
            <a:custGeom>
              <a:avLst/>
              <a:gdLst/>
              <a:ahLst/>
              <a:cxnLst/>
              <a:rect l="l" t="t" r="r" b="b"/>
              <a:pathLst>
                <a:path w="9525" h="1838325">
                  <a:moveTo>
                    <a:pt x="0" y="183832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BFBF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5829300" y="25717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</p:sp>
      </p:grpSp>
      <p:sp>
        <p:nvSpPr>
          <p:cNvPr id="36" name="Line 36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53440" y="5615940"/>
            <a:ext cx="184774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Timeline 字段：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396490" y="5615940"/>
            <a:ext cx="712660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行动理由、Traveler 发言、NPC 回复、状态变化、arc evidence。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706284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真实证据：界面、课堂 trace 与多 NPC 覆盖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1304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当前仓库中的真实截图和 trace 文件证明系统已经可运行</a:t>
            </a:r>
          </a:p>
        </p:txBody>
      </p:sp>
      <p:sp>
        <p:nvSpPr>
          <p:cNvPr id="7" name="Rectangle 7"/>
          <p:cNvSpPr/>
          <p:nvPr/>
        </p:nvSpPr>
        <p:spPr>
          <a:xfrm>
            <a:off x="723900" y="1676400"/>
            <a:ext cx="6858000" cy="409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056" y="1885950"/>
            <a:ext cx="4563687" cy="34861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992505" y="5454968"/>
            <a:ext cx="52369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React/Vite 玩家端界面截图：保留交互界面和开发者 trace 面板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020050" y="1676400"/>
            <a:ext cx="3276600" cy="409575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336280" y="1964055"/>
            <a:ext cx="212629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Trace 证据字段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41995" y="2603182"/>
            <a:ext cx="256122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发言与行动理由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41995" y="2984182"/>
            <a:ext cx="201115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 回复与角色意图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41995" y="336518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关系变化和状态更新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41995" y="3746182"/>
            <a:ext cx="25502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探索线索与 arc evidence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41995" y="4127182"/>
            <a:ext cx="245121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 outcome 与 timing</a:t>
            </a:r>
          </a:p>
        </p:txBody>
      </p:sp>
      <p:sp>
        <p:nvSpPr>
          <p:cNvPr id="17" name="Line 17"/>
          <p:cNvSpPr/>
          <p:nvPr/>
        </p:nvSpPr>
        <p:spPr>
          <a:xfrm>
            <a:off x="8362950" y="4781550"/>
            <a:ext cx="2590800" cy="9525"/>
          </a:xfrm>
          <a:custGeom>
            <a:avLst/>
            <a:gdLst/>
            <a:ahLst/>
            <a:cxnLst/>
            <a:rect l="l" t="t" r="r" b="b"/>
            <a:pathLst>
              <a:path w="2590800" h="9525">
                <a:moveTo>
                  <a:pt x="0" y="0"/>
                </a:moveTo>
                <a:lnTo>
                  <a:pt x="25908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8345805" y="4997768"/>
            <a:ext cx="25816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classroom_showcase_llm_run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45805" y="5264468"/>
            <a:ext cx="22125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sable_advantage_llm_run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06312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路线：语言行为与状态变化分离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真实 trace 显示：角色关系可以推进，但任务事实仍由规则控制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76300" y="1847850"/>
            <a:ext cx="10439400" cy="2952750"/>
            <a:chOff x="876300" y="1847850"/>
            <a:chExt cx="10439400" cy="2952750"/>
          </a:xfrm>
        </p:grpSpPr>
        <p:sp>
          <p:nvSpPr>
            <p:cNvPr id="7" name="Rectangle 7"/>
            <p:cNvSpPr/>
            <p:nvPr/>
          </p:nvSpPr>
          <p:spPr>
            <a:xfrm>
              <a:off x="876300" y="1847850"/>
              <a:ext cx="10439400" cy="81915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79195" y="2012632"/>
              <a:ext cx="183238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Traveler reason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198495" y="2012632"/>
              <a:ext cx="53225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通过非正式信息渠道建立信任，并获取遗迹相关传闻。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83005" y="2349818"/>
              <a:ext cx="42648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allowed action: speak_to_npc / ask_about_ruins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76300" y="2914650"/>
              <a:ext cx="10439400" cy="8191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79195" y="3079432"/>
              <a:ext cx="170531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Sable response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98495" y="3079432"/>
              <a:ext cx="482750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可以试探、转移话题、引导 Traveler 继续对话。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3005" y="3416618"/>
              <a:ext cx="49399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relationship delta recorded / dialogue strategy changed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76300" y="3981450"/>
              <a:ext cx="10439400" cy="819150"/>
            </a:xfrm>
            <a:prstGeom prst="rect">
              <a:avLst/>
            </a:prstGeom>
            <a:solidFill>
              <a:srgbClr val="FFF1E5"/>
            </a:solidFill>
            <a:ln w="9525">
              <a:solidFill>
                <a:srgbClr val="D9D9D9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79195" y="4146232"/>
              <a:ext cx="24677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Response constraints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93795" y="4146232"/>
              <a:ext cx="598265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不能声称遗迹入口已经解锁，也不能声称玩家获得物品奖励。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83005" y="4483418"/>
              <a:ext cx="56869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66666"/>
                  </a:solidFill>
                  <a:latin typeface="Arial"/>
                  <a:ea typeface="DengXian"/>
                  <a:cs typeface="Arial"/>
                </a:rPr>
                <a:t>state transition remains controlled by validator and quest rules</a:t>
              </a:r>
            </a:p>
          </p:txBody>
        </p:sp>
      </p:grpSp>
      <p:sp>
        <p:nvSpPr>
          <p:cNvPr id="20" name="Line 20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案例结论：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072640" y="5615940"/>
            <a:ext cx="62865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允许角色关系和对话策略推进，不允许绕过规则完成任务。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6420164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运行结果（一）：Classroom Showcase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826674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truth-seeking profile：先找证人、交叉验证，再形成 guardian advantage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66900"/>
            <a:ext cx="3143250" cy="28575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1164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运行概况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8242" y="2709386"/>
            <a:ext cx="2781157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Run ID: 20260606T061944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8242" y="3090386"/>
            <a:ext cx="204506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总轮次：20 rounds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8242" y="3471386"/>
            <a:ext cx="202206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最终位置：archive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8242" y="3852386"/>
            <a:ext cx="343673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Outcome: guardian_advantage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14850" y="1866900"/>
            <a:ext cx="31432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812030" y="21164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覆盖与状态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16792" y="2709386"/>
            <a:ext cx="2275094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覆盖 NPC：Lina / Ron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16792" y="3033236"/>
            <a:ext cx="137798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Mira / Sable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16792" y="3414236"/>
            <a:ext cx="1826538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phase: resolved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16792" y="3795236"/>
            <a:ext cx="119395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tension: 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6792" y="4176236"/>
            <a:ext cx="343673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Ron trust 0.20 / affinity 0.40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153400" y="1866900"/>
            <a:ext cx="3143250" cy="285750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450580" y="21164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代表性片段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58200" y="2733675"/>
            <a:ext cx="220837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1：先访问 Lina，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58200" y="298132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建立第一手证词。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8200" y="3400425"/>
            <a:ext cx="284845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5：Mira 提供研究视角，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58200" y="3648075"/>
            <a:ext cx="19183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arc 进入 resolved。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58200" y="4067175"/>
            <a:ext cx="25784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8：补齐 Sable 视角，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58200" y="4314825"/>
            <a:ext cx="168830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形成多 NPC 覆盖。</a:t>
            </a:r>
          </a:p>
        </p:txBody>
      </p:sp>
      <p:sp>
        <p:nvSpPr>
          <p:cNvPr id="28" name="Line 28"/>
          <p:cNvSpPr/>
          <p:nvPr/>
        </p:nvSpPr>
        <p:spPr>
          <a:xfrm>
            <a:off x="876300" y="51435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53440" y="536829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展示重点：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72640" y="5368290"/>
            <a:ext cx="1083506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Traveler 会按 profile 主动规划路线，并且每一步都留下 reason、reply、state 和 arc evidence。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1060" y="5928360"/>
            <a:ext cx="44630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Source: classroom_showcase_llm_run / 20260606T061944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568822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运行结果（二）：Sable Advantage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71506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prestige profile：更早接触 Sable，路线明显偏向非正式信息渠道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866900"/>
            <a:ext cx="3143250" cy="28575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1164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运行概况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8242" y="2709386"/>
            <a:ext cx="2781157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Run ID: 20260606T185547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8242" y="3090386"/>
            <a:ext cx="204506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总轮次：15 rounds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8242" y="3471386"/>
            <a:ext cx="1999059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最终位置：market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8242" y="3852386"/>
            <a:ext cx="305719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Outcome: sable_advantage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14850" y="1866900"/>
            <a:ext cx="31432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812030" y="21164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路线差异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16792" y="2709386"/>
            <a:ext cx="250512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1 首先接触 Sable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16792" y="3090386"/>
            <a:ext cx="240161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5 outcome 转为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16792" y="3414236"/>
            <a:ext cx="1884045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sable_advantage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16792" y="3795236"/>
            <a:ext cx="312620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Round 14 记录 secret hinted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6792" y="4176236"/>
            <a:ext cx="363226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trust 0.15 / affinity 0.30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153400" y="1866900"/>
            <a:ext cx="3143250" cy="285750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450580" y="21164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代表性片段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58200" y="2733675"/>
            <a:ext cx="21983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要求许可或担保，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58200" y="2981325"/>
            <a:ext cx="27884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阻止 Traveler 直接获得传闻。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8200" y="3400425"/>
            <a:ext cx="17283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后续围绕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58200" y="3648075"/>
            <a:ext cx="19983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Sable 网络收集线索。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58200" y="4067175"/>
            <a:ext cx="28084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最终 advantage 与 prestige /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58200" y="4314825"/>
            <a:ext cx="28384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follow_rumors profile 一致。</a:t>
            </a:r>
          </a:p>
        </p:txBody>
      </p:sp>
      <p:sp>
        <p:nvSpPr>
          <p:cNvPr id="28" name="Line 28"/>
          <p:cNvSpPr/>
          <p:nvPr/>
        </p:nvSpPr>
        <p:spPr>
          <a:xfrm>
            <a:off x="876300" y="51435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853440" y="536829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展示重点：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72640" y="5368290"/>
            <a:ext cx="869880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不同 profile 会改变路线优先级，但状态推进仍由 Validator 和 arc rules 控制。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1060" y="5928360"/>
            <a:ext cx="41349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Source: sable_advantage_llm_run / 20260606T185547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843915" y="715328"/>
            <a:ext cx="470635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评估：已有证据与下一步指标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440" y="110109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当前不虚构大规模统计结论，而是用 trace 证明关键机制可复盘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1962150"/>
            <a:ext cx="314325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73480" y="2230755"/>
            <a:ext cx="122948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已有证据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9195" y="2850832"/>
            <a:ext cx="124106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demo trace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9195" y="3212782"/>
            <a:ext cx="279225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JSON / Markdown timeline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9195" y="3574732"/>
            <a:ext cx="271524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NPCMind 与 Validator 字段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9195" y="3936682"/>
            <a:ext cx="21321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Traveler route 输出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14850" y="1962150"/>
            <a:ext cx="3143250" cy="2590800"/>
          </a:xfrm>
          <a:prstGeom prst="rect">
            <a:avLst/>
          </a:prstGeom>
          <a:solidFill>
            <a:srgbClr val="FFF1E5"/>
          </a:solidFill>
          <a:ln w="9525">
            <a:solidFill>
              <a:srgbClr val="D9D9D9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812030" y="22307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能说明什么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17745" y="285083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角色知识边界可复盘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17745" y="321278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状态写入与回复分离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17745" y="3574732"/>
            <a:ext cx="20221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越权行动有拦截路径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17745" y="3936682"/>
            <a:ext cx="19451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profile 会影响路线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153400" y="1962150"/>
            <a:ext cx="3143250" cy="2590800"/>
          </a:xfrm>
          <a:prstGeom prst="rect">
            <a:avLst/>
          </a:prstGeom>
          <a:solidFill>
            <a:srgbClr val="F7F7F7"/>
          </a:solidFill>
          <a:ln w="9525">
            <a:solidFill>
              <a:srgbClr val="D9D9D9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450580" y="2230755"/>
            <a:ext cx="15235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40012"/>
                </a:solidFill>
                <a:latin typeface="Arial"/>
                <a:ea typeface="DengXian"/>
                <a:cs typeface="Arial"/>
              </a:rPr>
              <a:t>下一步指标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56295" y="2850832"/>
            <a:ext cx="18021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固定对话集一致性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56295" y="3212782"/>
            <a:ext cx="18021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越权拦截频次统计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56295" y="3574732"/>
            <a:ext cx="22421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同初始态多次运行对比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56295" y="3936682"/>
            <a:ext cx="205516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timeline 图形化回放</a:t>
            </a:r>
          </a:p>
        </p:txBody>
      </p:sp>
      <p:sp>
        <p:nvSpPr>
          <p:cNvPr id="25" name="Line 25"/>
          <p:cNvSpPr/>
          <p:nvPr/>
        </p:nvSpPr>
        <p:spPr>
          <a:xfrm>
            <a:off x="876300" y="5410200"/>
            <a:ext cx="10439400" cy="9525"/>
          </a:xfrm>
          <a:custGeom>
            <a:avLst/>
            <a:gdLst/>
            <a:ahLst/>
            <a:cxnLst/>
            <a:rect l="l" t="t" r="r" b="b"/>
            <a:pathLst>
              <a:path w="10439400" h="9525">
                <a:moveTo>
                  <a:pt x="0" y="0"/>
                </a:moveTo>
                <a:lnTo>
                  <a:pt x="10439400" y="0"/>
                </a:lnTo>
              </a:path>
            </a:pathLst>
          </a:custGeom>
          <a:noFill/>
          <a:ln w="9525">
            <a:solidFill>
              <a:srgbClr val="D9D9D9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853440" y="56159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Arial"/>
                <a:ea typeface="DengXian"/>
                <a:cs typeface="Arial"/>
              </a:rPr>
              <a:t>边界说明：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72640" y="5615940"/>
            <a:ext cx="68505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333333"/>
                </a:solidFill>
                <a:latin typeface="Arial"/>
                <a:ea typeface="DengXian"/>
                <a:cs typeface="Arial"/>
              </a:rPr>
              <a:t>目前评估仍以案例 trace 和人工复盘为主，后续需要自动分析。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0" y="242574"/>
            <a:ext cx="2095500" cy="657852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647700"/>
            <a:ext cx="781050" cy="647700"/>
          </a:xfrm>
          <a:prstGeom prst="rect">
            <a:avLst/>
          </a:prstGeom>
          <a:solidFill>
            <a:srgbClr val="A40012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1823085" y="1723072"/>
            <a:ext cx="8649653" cy="4458653"/>
            <a:chOff x="1823085" y="1723072"/>
            <a:chExt cx="8649653" cy="4458653"/>
          </a:xfrm>
        </p:grpSpPr>
        <p:sp>
          <p:nvSpPr>
            <p:cNvPr id="5" name="TextBox 5"/>
            <p:cNvSpPr txBox="1"/>
            <p:nvPr/>
          </p:nvSpPr>
          <p:spPr>
            <a:xfrm>
              <a:off x="1823085" y="1723072"/>
              <a:ext cx="8033973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A40012"/>
                  </a:solidFill>
                  <a:latin typeface="Arial"/>
                  <a:ea typeface="DengXian"/>
                  <a:cs typeface="Arial"/>
                </a:rPr>
                <a:t>结论：可控 LLM 角色需要可追踪执行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1866900" y="2571750"/>
              <a:ext cx="8496300" cy="9525"/>
            </a:xfrm>
            <a:custGeom>
              <a:avLst/>
              <a:gdLst/>
              <a:ahLst/>
              <a:cxnLst/>
              <a:rect l="l" t="t" r="r" b="b"/>
              <a:pathLst>
                <a:path w="8496300" h="9525">
                  <a:moveTo>
                    <a:pt x="0" y="0"/>
                  </a:moveTo>
                  <a:lnTo>
                    <a:pt x="84963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840230" y="3011805"/>
              <a:ext cx="578005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本项目把 LLM 放入受规则约束的运行链路中：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42135" y="3523298"/>
              <a:ext cx="86306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语言生成提供表达和推理能力；系统流程维护事实、校验行动并记录结果。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866900" y="4381500"/>
              <a:ext cx="8496300" cy="723900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D9D9D9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86940" y="4644390"/>
              <a:ext cx="79187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000000"/>
                  </a:solidFill>
                  <a:latin typeface="Arial"/>
                  <a:ea typeface="DengXian"/>
                  <a:cs typeface="Arial"/>
                </a:rPr>
                <a:t>后续工作：多 Agent 调度、长期记忆质量、自动评估和 timeline 可视化。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89464" y="5633085"/>
              <a:ext cx="481307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333333"/>
                  </a:solidFill>
                  <a:latin typeface="Arial"/>
                  <a:ea typeface="DengXian"/>
                  <a:cs typeface="Arial"/>
                </a:rPr>
                <a:t>Thanks for your listening!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072146" y="6477952"/>
            <a:ext cx="1806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66666"/>
                </a:solidFill>
                <a:latin typeface="Arial"/>
                <a:ea typeface="DengXian"/>
                <a:cs typeface="Arial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2026-06-09T04:41:29Z</dcterms:created>
  <dcterms:modified xsi:type="dcterms:W3CDTF">2026-06-09T04:41:29Z</dcterms:modified>
  <cp:category/>
  <cp:contentStatus/>
</cp:coreProperties>
</file>