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这次汇报的核心结论是：我的项目不是一个普通聊天界面，而是一个可运行、可复盘的 LLM 角色 Agent 系统。LLM 在这里主要负责理解上下文、形成意图和生成自然语言表达；真正改变任务、关系、物品和地点状态的部分，由系统流程控制。封面上的链路概括了整套设计：理解、decision、校验、状态写入和 timeline 证据。接下来我会先说明为什么普通角色聊天不够，再展示这个项目如何一步步扩展成 living-world runtime。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项目的起点是一个很具体的问题：角色说了什么，并不等于世界里真的发生了什么。普通 LLM 对话可能生成“入口已经解锁”这样的文本，但数据库、任务状态和物品并没有对应变化；如果只保存最终回复，也很难回头解释一次行为为什么发生。这里列出的三个风险分别是语言幻觉、上下文断裂和不可复盘。我的设计目标，就是把角色语言能力保留下来，同时把世界事实交给可验证的程序流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基于这个问题，项目目标可以概括为四个支柱：状态、记忆、校验和 trace。状态层用 SQLite 保存任务、地点、物品和关系；记忆层把近期上下文、长期记忆和 lore 带入角色决策；校验层阻止 LLM 直接越权改写世界事实；trace 则记录每一步中间过程。这样，一个 NPC 不只是会回复一句话，而是能在受控流程里读取状态、形成计划、提出行动，并留下证据。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这页用 Git 历史说明项目不是一次性写出来的，而是沿着几个明确阶段演进。最早的提交建立了单 NPC 记忆对话原型，随后加入分层上下文、lore 检索和玩家端界面；中间阶段重构出 NarrativeEnvironment 和 NPCMind，让角色心智和系统执行分开；再往后加入自主 NPC runtime 和受约束 tick。最后的 Traveler 运行时和课堂 trace，则把项目推进到可以自动探索、多 NPC 对话和导出证据的展示阶段。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总体架构的关键，是把 LLM 放在“提出意图”的位置，而不是让它直接拥有执行权。玩家或 Traveler 的输入先变成 observation，再经过记忆与 lore 检索，进入 NPCMind 形成 belief、goal 和 plan；LLM 基于这些上下文输出结构化 decision。这个 decision 必须经过 ActionValidator 和 NarrativeEnvironment，才能写入 SQLite 世界状态。最后，系统会把过程导出为 trace 和 timeline，这也是后面报告和演示的主要证据来源。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这页进一步拆开模块职责。NarrativeEnvironment 负责组织 observation 和执行 action，Memory 系统负责补充上下文，NPCMind 负责形成角色内部判断，LLM Decision 负责提出结构化意图。真正守住事实边界的是 ActionValidator 和 SQLite World State，前者决定行动是否允许，后者保存任务、地点、物品和关系的真实变化。这样的分工让项目更容易解释，也让后续测试和定位问题更清楚。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角色要表现得稳定，不能只看当前一句输入。项目把近期上下文、稳定 lore、长期记忆和任务状态作为不同来源，再通过检索合成当前 Agent 的上下文。这样，NPC 在回复前能知道当前地点、之前互动、自己应该知道或不知道的设定，以及当前任务条件。后台 memory jobs 的作用，是把运行过程中产生的交互和反思整理成后续可检索内容，避免所有历史都挤在单轮 prompt 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NPCMind 和 ActionValidator 是项目里最重要的一组边界。NPCMind 让角色在回复前先形成 belief、emotion、goal、plan 和 social strategy，所以角色不是只在模板里说话，而是有可记录的主观状态。ActionValidator 则从相反方向工作：它检查 LLM 提出的 action 是否符合当前世界状态，如果越界就阻止或修复。这样既保留了角色语言的灵活性，又避免一句自然语言直接改变数据库事实。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 autonomous NPC runtime 中，NPC 可以响应世界事件，而不是永远等待玩家输入。流程从 world event 开始，事件进入 NPC inbox，系统根据 NPC 状态和 ActionCatalog 构造可行动作集合，然后让 LLM 在这个集合内做 constrained decision。即使是自主 tick，结果仍然必须经过 Validator，最后写入 mailbox、runtime state 和 trace。这个设计的重点不是让 NPC 随机行动，而是让世界事件以可约束、可复盘的方式影响角色。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Traveler runtime 是项目后期最适合课堂展示的部分。Traveler 不是手工输入的玩家，而是由 YAML profile 配置的角色 Agent，它有公开身份、私人目标、隐藏信息、行动边界和探索风格。每一轮它会观察世界、检索线索、决定移动或询问，再执行行动并反思。timeline 导出会记录行动理由、Traveler 发言、NPC 回复、状态变化、timing breakdown 和 arc evidence，因此不同 profile 的路线差异也可以被实际复盘。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为了避免汇报停留在架构图上，这页放的是当前仓库里的真实界面和 trace 证据。左侧是 React/Vite 玩家端界面截图，右侧是移动端截图和 timeline 字段清单。项目还保留了课堂展示 trace 和 Sable 路线 trace，它们记录了 Traveler 的发言、NPC 回复、关系变化、探索线索和最终 outcome。也就是说，报告中的结果不是虚构描述，而是从当前项目运行输出中整理出来的。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Sable 路线可以很好地说明语言层和状态层的分离。这个真实 trace 中，Traveler 选择和 Sable 对话，理由是希望通过非正式信息渠道建立信任并获取遗迹传闻；Sable 的决策意图是转移遗迹询问，关系值也确实发生了变化。但是 trace 同时明确记录了 response constraints：不能声称遗迹入口已经解锁，也不能声称玩家获得了物品奖励。所以这里允许的是角色关系和对话策略推进，不是绕过规则完成任务。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当前评估主要依赖 demo trace、JSON 和 Markdown timeline，以及人工复盘。它已经能说明一些关键问题，例如角色知识边界能不能复盘，状态变化是否经过 Validator，Traveler profile 是否会影响路线，以及 timing breakdown 能不能帮助定位开销。局限也很明确：目前还不是大规模自动统计，文本 timeline 阅读成本也偏高。后续更合理的方向，是在已有 trace 基础上构建自动分析脚本和图形化回放界面。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总结来说，这个项目的关键设计是把 LLM 放入受规则约束的运行链路中，而不是让它自由决定世界事实。角色先读取状态、检索记忆、形成心智，再由 LLM 提出意图，最后经过校验、执行和 timeline 导出。这样既保留了 LLM 在交互叙事中的表达优势，也降低了幻觉和越权行动对系统状态的破坏。后续如果继续发展，我会重点加强多 Agent 调度、长期记忆质量、自动评估和 timeline 可视化。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25dc1ad8da2edc6.png"/>
  <Relationship Id="rId3" Type="http://schemas.openxmlformats.org/officeDocument/2006/relationships/image" Target="../media/image_f5b133c4e38d2ef7.pn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5240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33400" y="6096000"/>
              <a:ext cx="111252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36270" y="969645"/>
            <a:ext cx="9819075" cy="1259205"/>
            <a:chOff x="636270" y="969645"/>
            <a:chExt cx="9819075" cy="1259205"/>
          </a:xfrm>
        </p:grpSpPr>
        <p:sp>
          <p:nvSpPr>
            <p:cNvPr id="6" name="TextBox 6"/>
            <p:cNvSpPr txBox="1"/>
            <p:nvPr/>
          </p:nvSpPr>
          <p:spPr>
            <a:xfrm>
              <a:off x="636270" y="969645"/>
              <a:ext cx="9819075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记忆驱动的可验证 LLM 角色 Agent 系统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01040" y="1691640"/>
              <a:ext cx="70545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从单 NPC 对话到 Traveler living-world runtime 的课程项目汇报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23900" y="2190750"/>
              <a:ext cx="6858000" cy="3810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23900" y="2724150"/>
            <a:ext cx="6096000" cy="1600200"/>
            <a:chOff x="723900" y="2724150"/>
            <a:chExt cx="6096000" cy="1600200"/>
          </a:xfrm>
        </p:grpSpPr>
        <p:sp>
          <p:nvSpPr>
            <p:cNvPr id="10" name="Rectangle 10"/>
            <p:cNvSpPr/>
            <p:nvPr/>
          </p:nvSpPr>
          <p:spPr>
            <a:xfrm>
              <a:off x="723900" y="2724150"/>
              <a:ext cx="6096000" cy="16002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43940" y="29870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核心论点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9655" y="3416618"/>
              <a:ext cx="50063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LLM 负责理解、意图和表达；系统负责状态、校验和 trace。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真正要展示的不是一次好看的回复，而是一条可复盘的执行链路。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467600" y="2724150"/>
            <a:ext cx="4076700" cy="2000250"/>
            <a:chOff x="7467600" y="2724150"/>
            <a:chExt cx="4076700" cy="2000250"/>
          </a:xfrm>
        </p:grpSpPr>
        <p:sp>
          <p:nvSpPr>
            <p:cNvPr id="14" name="Rectangle 14"/>
            <p:cNvSpPr/>
            <p:nvPr/>
          </p:nvSpPr>
          <p:spPr>
            <a:xfrm>
              <a:off x="7467600" y="2724150"/>
              <a:ext cx="1104900" cy="723900"/>
            </a:xfrm>
            <a:prstGeom prst="roundRect">
              <a:avLst>
                <a:gd name="adj" fmla="val 10526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870031" y="2917031"/>
              <a:ext cx="242888" cy="242888"/>
              <a:chOff x="7870031" y="2917031"/>
              <a:chExt cx="242888" cy="24288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991475" y="30519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1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897019" y="30519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1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058944" y="29979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1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991475" y="291703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1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870031" y="29979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1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897019" y="291703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866698" y="322040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理解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953500" y="2724150"/>
              <a:ext cx="1104900" cy="723900"/>
            </a:xfrm>
            <a:prstGeom prst="roundRect">
              <a:avLst>
                <a:gd name="adj" fmla="val 10526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9355931" y="2930525"/>
              <a:ext cx="256381" cy="229394"/>
              <a:chOff x="9355931" y="2930525"/>
              <a:chExt cx="256381" cy="22939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423400" y="2997994"/>
                <a:ext cx="107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525">
                    <a:moveTo>
                      <a:pt x="0" y="0"/>
                    </a:move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423400" y="3051969"/>
                <a:ext cx="809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9525">
                    <a:moveTo>
                      <a:pt x="0" y="0"/>
                    </a:move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355931" y="2930525"/>
                <a:ext cx="242888" cy="2293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29394">
                    <a:moveTo>
                      <a:pt x="121444" y="229394"/>
                    </a:moveTo>
                    <a:lnTo>
                      <a:pt x="107950" y="215900"/>
                    </a:lnTo>
                    <a:lnTo>
                      <a:pt x="80962" y="188912"/>
                    </a:lnTo>
                    <a:lnTo>
                      <a:pt x="40481" y="188912"/>
                    </a:lnTo>
                    <a:cubicBezTo>
                      <a:pt x="18124" y="188912"/>
                      <a:pt x="0" y="170788"/>
                      <a:pt x="0" y="148431"/>
                    </a:cubicBezTo>
                    <a:lnTo>
                      <a:pt x="0" y="40481"/>
                    </a:lnTo>
                    <a:cubicBezTo>
                      <a:pt x="0" y="18124"/>
                      <a:pt x="18124" y="0"/>
                      <a:pt x="40481" y="0"/>
                    </a:cubicBezTo>
                    <a:lnTo>
                      <a:pt x="202406" y="0"/>
                    </a:lnTo>
                    <a:cubicBezTo>
                      <a:pt x="224763" y="0"/>
                      <a:pt x="242888" y="18124"/>
                      <a:pt x="242888" y="40481"/>
                    </a:cubicBezTo>
                    <a:lnTo>
                      <a:pt x="242888" y="121444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585325" y="3105944"/>
                <a:ext cx="26987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53975">
                    <a:moveTo>
                      <a:pt x="0" y="53975"/>
                    </a:moveTo>
                    <a:lnTo>
                      <a:pt x="26987" y="2698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9517856" y="3105944"/>
                <a:ext cx="26988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53975">
                    <a:moveTo>
                      <a:pt x="26988" y="0"/>
                    </a:moveTo>
                    <a:lnTo>
                      <a:pt x="0" y="26988"/>
                    </a:lnTo>
                    <a:lnTo>
                      <a:pt x="26988" y="5397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9219581" y="3220402"/>
              <a:ext cx="5727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Decision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0439400" y="2724150"/>
              <a:ext cx="1104900" cy="723900"/>
            </a:xfrm>
            <a:prstGeom prst="roundRect">
              <a:avLst>
                <a:gd name="adj" fmla="val 10526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0823621" y="2917031"/>
              <a:ext cx="263509" cy="242888"/>
              <a:chOff x="10823621" y="2917031"/>
              <a:chExt cx="263509" cy="24288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0823621" y="2917031"/>
                <a:ext cx="263509" cy="240809"/>
              </a:xfrm>
              <a:custGeom>
                <a:avLst/>
                <a:gdLst/>
                <a:ahLst/>
                <a:cxnLst/>
                <a:rect l="l" t="t" r="r" b="b"/>
                <a:pathLst>
                  <a:path w="263509" h="240809">
                    <a:moveTo>
                      <a:pt x="132368" y="240809"/>
                    </a:moveTo>
                    <a:cubicBezTo>
                      <a:pt x="47835" y="214606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4" y="0"/>
                    </a:cubicBezTo>
                    <a:cubicBezTo>
                      <a:pt x="171173" y="27886"/>
                      <a:pt x="212311" y="42405"/>
                      <a:pt x="254351" y="40481"/>
                    </a:cubicBezTo>
                    <a:cubicBezTo>
                      <a:pt x="263509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1003756" y="3105944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8"/>
                    </a:moveTo>
                    <a:lnTo>
                      <a:pt x="26987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838497" y="322040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校验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572500" y="30861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8858250" y="30289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10058400" y="30861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10344150" y="30289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191500" y="4038600"/>
              <a:ext cx="2857500" cy="6858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8512969" y="4302919"/>
              <a:ext cx="214312" cy="119062"/>
              <a:chOff x="8512969" y="4302919"/>
              <a:chExt cx="214312" cy="119062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524875" y="431482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71438" y="11906"/>
                    </a:lnTo>
                    <a:lnTo>
                      <a:pt x="130969" y="71438"/>
                    </a:ln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643938" y="4374356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584406" y="4314825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512969" y="439816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03469" y="430291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8879205" y="4178618"/>
              <a:ext cx="17638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状态写入与 timeline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83015" y="4477702"/>
              <a:ext cx="20289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SQLite / trace / 课程报告证据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23900" y="5143500"/>
            <a:ext cx="7372350" cy="438150"/>
            <a:chOff x="723900" y="5143500"/>
            <a:chExt cx="7372350" cy="438150"/>
          </a:xfrm>
        </p:grpSpPr>
        <p:sp>
          <p:nvSpPr>
            <p:cNvPr id="50" name="Rectangle 50"/>
            <p:cNvSpPr/>
            <p:nvPr/>
          </p:nvSpPr>
          <p:spPr>
            <a:xfrm>
              <a:off x="723900" y="5143500"/>
              <a:ext cx="2133600" cy="438150"/>
            </a:xfrm>
            <a:prstGeom prst="roundRect">
              <a:avLst>
                <a:gd name="adj" fmla="val 17391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9165" y="5306378"/>
              <a:ext cx="1237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课程报告 + README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086100" y="5143500"/>
              <a:ext cx="2381250" cy="438150"/>
            </a:xfrm>
            <a:prstGeom prst="roundRect">
              <a:avLst>
                <a:gd name="adj" fmla="val 17391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301365" y="5306378"/>
              <a:ext cx="13568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真实 UI 截图与 trace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695950" y="5143500"/>
              <a:ext cx="2400300" cy="438150"/>
            </a:xfrm>
            <a:prstGeom prst="roundRect">
              <a:avLst>
                <a:gd name="adj" fmla="val 17391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911215" y="5306378"/>
              <a:ext cx="1335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GitHub 提交演进证据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12470" y="6322695"/>
            <a:ext cx="10767060" cy="182880"/>
            <a:chOff x="712470" y="6322695"/>
            <a:chExt cx="10767060" cy="182880"/>
          </a:xfrm>
        </p:grpSpPr>
        <p:sp>
          <p:nvSpPr>
            <p:cNvPr id="57" name="TextBox 57"/>
            <p:cNvSpPr txBox="1"/>
            <p:nvPr/>
          </p:nvSpPr>
          <p:spPr>
            <a:xfrm>
              <a:off x="712470" y="6322695"/>
              <a:ext cx="30532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Final course presentation · agent_npc · 2026-06-08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054620" y="63226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49" grpId="0"/>
      <p:bldP spid="5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577748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问题定义：角色聊天不等于世界状态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51919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普通 LLM 对话容易把“说出来的内容”误当成“已经发生的事实”。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02 / 14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1600200"/>
            <a:ext cx="3276600" cy="2571750"/>
            <a:chOff x="685800" y="1600200"/>
            <a:chExt cx="3276600" cy="2571750"/>
          </a:xfrm>
        </p:grpSpPr>
        <p:sp>
          <p:nvSpPr>
            <p:cNvPr id="9" name="Rectangle 9"/>
            <p:cNvSpPr/>
            <p:nvPr/>
          </p:nvSpPr>
          <p:spPr>
            <a:xfrm>
              <a:off x="685800" y="1600200"/>
              <a:ext cx="3276600" cy="2571750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" y="1600200"/>
              <a:ext cx="3276600" cy="7620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040606" y="2009775"/>
              <a:ext cx="316707" cy="283369"/>
              <a:chOff x="1040606" y="2009775"/>
              <a:chExt cx="316707" cy="28336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123950" y="2093119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B91C1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23950" y="2159794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B91C1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40606" y="2009775"/>
                <a:ext cx="300038" cy="283369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283369">
                    <a:moveTo>
                      <a:pt x="150019" y="283369"/>
                    </a:moveTo>
                    <a:lnTo>
                      <a:pt x="133350" y="266700"/>
                    </a:lnTo>
                    <a:lnTo>
                      <a:pt x="100012" y="233362"/>
                    </a:lnTo>
                    <a:lnTo>
                      <a:pt x="50006" y="233362"/>
                    </a:lnTo>
                    <a:cubicBezTo>
                      <a:pt x="22389" y="233362"/>
                      <a:pt x="0" y="210974"/>
                      <a:pt x="0" y="183356"/>
                    </a:cubicBezTo>
                    <a:lnTo>
                      <a:pt x="0" y="50006"/>
                    </a:lnTo>
                    <a:cubicBezTo>
                      <a:pt x="0" y="22389"/>
                      <a:pt x="22389" y="0"/>
                      <a:pt x="50006" y="0"/>
                    </a:cubicBezTo>
                    <a:lnTo>
                      <a:pt x="250031" y="0"/>
                    </a:lnTo>
                    <a:cubicBezTo>
                      <a:pt x="277649" y="0"/>
                      <a:pt x="300038" y="22389"/>
                      <a:pt x="300038" y="50006"/>
                    </a:cubicBezTo>
                    <a:lnTo>
                      <a:pt x="300038" y="150019"/>
                    </a:lnTo>
                  </a:path>
                </a:pathLst>
              </a:custGeom>
              <a:noFill/>
              <a:ln w="19050">
                <a:solidFill>
                  <a:srgbClr val="B91C1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323975" y="2226469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66675"/>
                    </a:moveTo>
                    <a:lnTo>
                      <a:pt x="33338" y="3333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B91C1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240631" y="2226469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33338" y="0"/>
                    </a:moveTo>
                    <a:lnTo>
                      <a:pt x="0" y="33338"/>
                    </a:lnTo>
                    <a:lnTo>
                      <a:pt x="33338" y="66675"/>
                    </a:lnTo>
                  </a:path>
                </a:pathLst>
              </a:custGeom>
              <a:noFill/>
              <a:ln w="19050">
                <a:solidFill>
                  <a:srgbClr val="B91C1C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539240" y="19392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语言幻觉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3455" y="2521268"/>
              <a:ext cx="2108835" cy="807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NPC 可能说“入口已解锁”、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“物品已交付”，但数据库和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任务状态并没有对应变化。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7265" y="362045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风险：回复可信，状态不可信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457700" y="1600200"/>
            <a:ext cx="3276600" cy="2571750"/>
            <a:chOff x="4457700" y="1600200"/>
            <a:chExt cx="3276600" cy="2571750"/>
          </a:xfrm>
        </p:grpSpPr>
        <p:sp>
          <p:nvSpPr>
            <p:cNvPr id="21" name="Rectangle 21"/>
            <p:cNvSpPr/>
            <p:nvPr/>
          </p:nvSpPr>
          <p:spPr>
            <a:xfrm>
              <a:off x="4457700" y="1600200"/>
              <a:ext cx="3276600" cy="2571750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57700" y="1600200"/>
              <a:ext cx="3276600" cy="76200"/>
            </a:xfrm>
            <a:prstGeom prst="rect">
              <a:avLst/>
            </a:prstGeom>
            <a:solidFill>
              <a:srgbClr val="B7791F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4812506" y="2016314"/>
              <a:ext cx="309563" cy="243492"/>
              <a:chOff x="4812506" y="2016314"/>
              <a:chExt cx="309563" cy="24349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812506" y="2233008"/>
                <a:ext cx="300038" cy="26798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26798">
                    <a:moveTo>
                      <a:pt x="0" y="26798"/>
                    </a:moveTo>
                    <a:cubicBezTo>
                      <a:pt x="46416" y="0"/>
                      <a:pt x="103603" y="0"/>
                      <a:pt x="150019" y="26798"/>
                    </a:cubicBezTo>
                    <a:cubicBezTo>
                      <a:pt x="196435" y="0"/>
                      <a:pt x="253622" y="0"/>
                      <a:pt x="300038" y="2679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812506" y="2016314"/>
                <a:ext cx="300038" cy="26798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26798">
                    <a:moveTo>
                      <a:pt x="0" y="26798"/>
                    </a:moveTo>
                    <a:cubicBezTo>
                      <a:pt x="46416" y="0"/>
                      <a:pt x="103603" y="0"/>
                      <a:pt x="150019" y="26798"/>
                    </a:cubicBezTo>
                    <a:cubicBezTo>
                      <a:pt x="196435" y="0"/>
                      <a:pt x="253622" y="0"/>
                      <a:pt x="300038" y="2679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812506" y="2043112"/>
                <a:ext cx="95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6694">
                    <a:moveTo>
                      <a:pt x="0" y="0"/>
                    </a:moveTo>
                    <a:lnTo>
                      <a:pt x="0" y="216694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962525" y="2043112"/>
                <a:ext cx="95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6694">
                    <a:moveTo>
                      <a:pt x="0" y="0"/>
                    </a:moveTo>
                    <a:lnTo>
                      <a:pt x="0" y="216694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112544" y="2043112"/>
                <a:ext cx="95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6694">
                    <a:moveTo>
                      <a:pt x="0" y="0"/>
                    </a:moveTo>
                    <a:lnTo>
                      <a:pt x="0" y="216694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5311140" y="19392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上下文断裂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45355" y="2521268"/>
              <a:ext cx="2091690" cy="807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只依赖当前输入时，角色会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忘记近期互动、长期记忆、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稳定世界设定和任务条件。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49165" y="362045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风险：角色可聊，角色不稳定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229600" y="1600200"/>
            <a:ext cx="3276600" cy="2571750"/>
            <a:chOff x="8229600" y="1600200"/>
            <a:chExt cx="3276600" cy="2571750"/>
          </a:xfrm>
        </p:grpSpPr>
        <p:sp>
          <p:nvSpPr>
            <p:cNvPr id="33" name="Rectangle 33"/>
            <p:cNvSpPr/>
            <p:nvPr/>
          </p:nvSpPr>
          <p:spPr>
            <a:xfrm>
              <a:off x="8229600" y="1600200"/>
              <a:ext cx="3276600" cy="2571750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229600" y="1600200"/>
              <a:ext cx="3276600" cy="7620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584406" y="2059781"/>
              <a:ext cx="300038" cy="166688"/>
              <a:chOff x="8584406" y="2059781"/>
              <a:chExt cx="300038" cy="166688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601075" y="2076450"/>
                <a:ext cx="2667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33350">
                    <a:moveTo>
                      <a:pt x="0" y="133350"/>
                    </a:moveTo>
                    <a:lnTo>
                      <a:pt x="100012" y="16669"/>
                    </a:lnTo>
                    <a:lnTo>
                      <a:pt x="183356" y="100012"/>
                    </a:ln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67762" y="2159794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684419" y="2076450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584406" y="2193131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851106" y="2059781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9083040" y="19392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不可复盘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17255" y="2521268"/>
              <a:ext cx="2434590" cy="807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如果只保存最终回复，就无法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解释一次行为如何检索、决策、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校验并写入状态。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21065" y="36204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风险：演示成功，证据不足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85800" y="4743450"/>
            <a:ext cx="10820400" cy="933450"/>
            <a:chOff x="685800" y="4743450"/>
            <a:chExt cx="10820400" cy="933450"/>
          </a:xfrm>
        </p:grpSpPr>
        <p:sp>
          <p:nvSpPr>
            <p:cNvPr id="45" name="Rectangle 45"/>
            <p:cNvSpPr/>
            <p:nvPr/>
          </p:nvSpPr>
          <p:spPr>
            <a:xfrm>
              <a:off x="685800" y="4743450"/>
              <a:ext cx="10820400" cy="933450"/>
            </a:xfrm>
            <a:prstGeom prst="roundRect">
              <a:avLst>
                <a:gd name="adj" fmla="val 8163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018111" y="5060156"/>
              <a:ext cx="325511" cy="300038"/>
              <a:chOff x="1018111" y="5060156"/>
              <a:chExt cx="325511" cy="300038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018111" y="5060156"/>
                <a:ext cx="325511" cy="297471"/>
              </a:xfrm>
              <a:custGeom>
                <a:avLst/>
                <a:gdLst/>
                <a:ahLst/>
                <a:cxnLst/>
                <a:rect l="l" t="t" r="r" b="b"/>
                <a:pathLst>
                  <a:path w="325511" h="297471">
                    <a:moveTo>
                      <a:pt x="163513" y="297471"/>
                    </a:moveTo>
                    <a:cubicBezTo>
                      <a:pt x="59091" y="265102"/>
                      <a:pt x="0" y="154893"/>
                      <a:pt x="30830" y="50006"/>
                    </a:cubicBezTo>
                    <a:cubicBezTo>
                      <a:pt x="82762" y="52383"/>
                      <a:pt x="133579" y="34447"/>
                      <a:pt x="172514" y="0"/>
                    </a:cubicBezTo>
                    <a:cubicBezTo>
                      <a:pt x="211449" y="34447"/>
                      <a:pt x="262267" y="52383"/>
                      <a:pt x="314198" y="50006"/>
                    </a:cubicBezTo>
                    <a:cubicBezTo>
                      <a:pt x="325511" y="88496"/>
                      <a:pt x="324988" y="129499"/>
                      <a:pt x="312698" y="167688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240631" y="5293519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0" y="33338"/>
                    </a:moveTo>
                    <a:lnTo>
                      <a:pt x="33338" y="66675"/>
                    </a:ln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577340" y="4911090"/>
              <a:ext cx="485952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因此，项目要解决的不是“让角色更会说话”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583055" y="5283518"/>
              <a:ext cx="78382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而是把语言生成放入受规则约束的运行流程中，让世界事实由状态机、校验器和 trace 共同维护。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521970" y="6322695"/>
            <a:ext cx="32752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一、引言 / 五、项目特色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2" grpId="0"/>
      <p:bldP spid="44" grpId="0"/>
      <p:bldP spid="5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62059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项目目标：状态 + 记忆 + 校验 + Trace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64790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让 LLM 角色 Agent 的每次行动都有上下文、有边界、有状态结果、有复盘证据。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03 / 14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238500" y="2095500"/>
            <a:ext cx="5715000" cy="1428750"/>
            <a:chOff x="3238500" y="2095500"/>
            <a:chExt cx="5715000" cy="1428750"/>
          </a:xfrm>
        </p:grpSpPr>
        <p:sp>
          <p:nvSpPr>
            <p:cNvPr id="9" name="Rectangle 9"/>
            <p:cNvSpPr/>
            <p:nvPr/>
          </p:nvSpPr>
          <p:spPr>
            <a:xfrm>
              <a:off x="3238500" y="2095500"/>
              <a:ext cx="5715000" cy="142875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72540" y="2320290"/>
              <a:ext cx="48469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构建可运行、可观察、可验证的角色 Agent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55027" y="2787968"/>
              <a:ext cx="52819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NPC 读取世界设定和记忆，形成主观计划，输出结构化 decision，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38675" y="305466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再经过校验和任务状态机改变世界。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23900" y="1600200"/>
            <a:ext cx="2264092" cy="1524000"/>
            <a:chOff x="723900" y="1600200"/>
            <a:chExt cx="2264092" cy="1524000"/>
          </a:xfrm>
        </p:grpSpPr>
        <p:sp>
          <p:nvSpPr>
            <p:cNvPr id="14" name="Rectangle 14"/>
            <p:cNvSpPr/>
            <p:nvPr/>
          </p:nvSpPr>
          <p:spPr>
            <a:xfrm>
              <a:off x="723900" y="1600200"/>
              <a:ext cx="2247900" cy="1524000"/>
            </a:xfrm>
            <a:prstGeom prst="roundRect">
              <a:avLst>
                <a:gd name="adj" fmla="val 5000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047750" y="1909762"/>
              <a:ext cx="228600" cy="257176"/>
              <a:chOff x="1047750" y="1909762"/>
              <a:chExt cx="228600" cy="25717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047750" y="1909762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42862"/>
                    </a:moveTo>
                    <a:cubicBezTo>
                      <a:pt x="0" y="66535"/>
                      <a:pt x="51174" y="85725"/>
                      <a:pt x="114300" y="85725"/>
                    </a:cubicBezTo>
                    <a:cubicBezTo>
                      <a:pt x="177426" y="85725"/>
                      <a:pt x="228600" y="66535"/>
                      <a:pt x="228600" y="42862"/>
                    </a:cubicBezTo>
                    <a:cubicBezTo>
                      <a:pt x="228600" y="19190"/>
                      <a:pt x="177426" y="0"/>
                      <a:pt x="114300" y="0"/>
                    </a:cubicBezTo>
                    <a:cubicBezTo>
                      <a:pt x="51174" y="0"/>
                      <a:pt x="0" y="19190"/>
                      <a:pt x="0" y="42862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47750" y="195262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47750" y="203835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463040" y="18630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状态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3455" y="2349818"/>
              <a:ext cx="2014537" cy="521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SQLite 保存任务、地点、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物品、关系和事件。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220200" y="1600200"/>
            <a:ext cx="2264093" cy="1524000"/>
            <a:chOff x="9220200" y="1600200"/>
            <a:chExt cx="2264093" cy="1524000"/>
          </a:xfrm>
        </p:grpSpPr>
        <p:sp>
          <p:nvSpPr>
            <p:cNvPr id="22" name="Rectangle 22"/>
            <p:cNvSpPr/>
            <p:nvPr/>
          </p:nvSpPr>
          <p:spPr>
            <a:xfrm>
              <a:off x="9220200" y="1600200"/>
              <a:ext cx="2247900" cy="1524000"/>
            </a:xfrm>
            <a:prstGeom prst="roundRect">
              <a:avLst>
                <a:gd name="adj" fmla="val 5000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9529762" y="1929655"/>
              <a:ext cx="266701" cy="208708"/>
              <a:chOff x="9529762" y="1929655"/>
              <a:chExt cx="266701" cy="20870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9529762" y="2115393"/>
                <a:ext cx="257175" cy="2297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970">
                    <a:moveTo>
                      <a:pt x="0" y="22970"/>
                    </a:moveTo>
                    <a:cubicBezTo>
                      <a:pt x="39785" y="0"/>
                      <a:pt x="88802" y="0"/>
                      <a:pt x="128588" y="22970"/>
                    </a:cubicBezTo>
                    <a:cubicBezTo>
                      <a:pt x="168373" y="0"/>
                      <a:pt x="217390" y="0"/>
                      <a:pt x="257175" y="2297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529762" y="1929655"/>
                <a:ext cx="257175" cy="2297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970">
                    <a:moveTo>
                      <a:pt x="0" y="22970"/>
                    </a:moveTo>
                    <a:cubicBezTo>
                      <a:pt x="39785" y="0"/>
                      <a:pt x="88802" y="0"/>
                      <a:pt x="128588" y="22970"/>
                    </a:cubicBezTo>
                    <a:cubicBezTo>
                      <a:pt x="168373" y="0"/>
                      <a:pt x="217390" y="0"/>
                      <a:pt x="257175" y="2297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529762" y="1952625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658350" y="1952625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786938" y="1952625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9959340" y="18630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记忆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9755" y="2349818"/>
              <a:ext cx="2014538" cy="521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近期上下文、长期记忆、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稳定 lore 共同进入决策。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23900" y="4038600"/>
            <a:ext cx="2247900" cy="1524000"/>
            <a:chOff x="723900" y="4038600"/>
            <a:chExt cx="2247900" cy="1524000"/>
          </a:xfrm>
        </p:grpSpPr>
        <p:sp>
          <p:nvSpPr>
            <p:cNvPr id="32" name="Rectangle 32"/>
            <p:cNvSpPr/>
            <p:nvPr/>
          </p:nvSpPr>
          <p:spPr>
            <a:xfrm>
              <a:off x="723900" y="4038600"/>
              <a:ext cx="2247900" cy="1524000"/>
            </a:xfrm>
            <a:prstGeom prst="roundRect">
              <a:avLst>
                <a:gd name="adj" fmla="val 5000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14181" y="4348162"/>
              <a:ext cx="279010" cy="257176"/>
              <a:chOff x="1014181" y="4348162"/>
              <a:chExt cx="279010" cy="25717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014181" y="434816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204912" y="454818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463040" y="43014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校验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3455" y="4788218"/>
              <a:ext cx="1748790" cy="521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ActionValidator 拦截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越界行动并安全降级。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220200" y="4038600"/>
            <a:ext cx="2247900" cy="1524000"/>
            <a:chOff x="9220200" y="4038600"/>
            <a:chExt cx="2247900" cy="1524000"/>
          </a:xfrm>
        </p:grpSpPr>
        <p:sp>
          <p:nvSpPr>
            <p:cNvPr id="39" name="Rectangle 39"/>
            <p:cNvSpPr/>
            <p:nvPr/>
          </p:nvSpPr>
          <p:spPr>
            <a:xfrm>
              <a:off x="9220200" y="4038600"/>
              <a:ext cx="2247900" cy="1524000"/>
            </a:xfrm>
            <a:prstGeom prst="roundRect">
              <a:avLst>
                <a:gd name="adj" fmla="val 5000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529762" y="4405312"/>
              <a:ext cx="257175" cy="142875"/>
              <a:chOff x="9529762" y="4405312"/>
              <a:chExt cx="257175" cy="14287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9544050" y="4419600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0" y="114300"/>
                    </a:moveTo>
                    <a:lnTo>
                      <a:pt x="85725" y="14288"/>
                    </a:lnTo>
                    <a:lnTo>
                      <a:pt x="157162" y="85725"/>
                    </a:ln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686925" y="4491038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615488" y="4419600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529762" y="45196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758362" y="44053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9959340" y="4301490"/>
              <a:ext cx="73880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Trace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69755" y="4788218"/>
              <a:ext cx="1774508" cy="521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记录检索、decision、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状态变化和 timeline。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971800" y="2362200"/>
            <a:ext cx="6248400" cy="2438400"/>
            <a:chOff x="2971800" y="2362200"/>
            <a:chExt cx="6248400" cy="2438400"/>
          </a:xfrm>
        </p:grpSpPr>
        <p:sp>
          <p:nvSpPr>
            <p:cNvPr id="49" name="Line 49"/>
            <p:cNvSpPr/>
            <p:nvPr/>
          </p:nvSpPr>
          <p:spPr>
            <a:xfrm>
              <a:off x="2971800" y="2362200"/>
              <a:ext cx="266700" cy="285750"/>
            </a:xfrm>
            <a:custGeom>
              <a:avLst/>
              <a:gdLst/>
              <a:ahLst/>
              <a:cxnLst/>
              <a:rect l="l" t="t" r="r" b="b"/>
              <a:pathLst>
                <a:path w="266700" h="285750">
                  <a:moveTo>
                    <a:pt x="0" y="0"/>
                  </a:moveTo>
                  <a:lnTo>
                    <a:pt x="266700" y="28575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8953500" y="2362200"/>
              <a:ext cx="266700" cy="285750"/>
            </a:xfrm>
            <a:custGeom>
              <a:avLst/>
              <a:gdLst/>
              <a:ahLst/>
              <a:cxnLst/>
              <a:rect l="l" t="t" r="r" b="b"/>
              <a:pathLst>
                <a:path w="266700" h="285750">
                  <a:moveTo>
                    <a:pt x="2667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2971800" y="3257550"/>
              <a:ext cx="266700" cy="1543050"/>
            </a:xfrm>
            <a:custGeom>
              <a:avLst/>
              <a:gdLst/>
              <a:ahLst/>
              <a:cxnLst/>
              <a:rect l="l" t="t" r="r" b="b"/>
              <a:pathLst>
                <a:path w="266700" h="1543050">
                  <a:moveTo>
                    <a:pt x="0" y="1543050"/>
                  </a:moveTo>
                  <a:lnTo>
                    <a:pt x="2667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8953500" y="3257550"/>
              <a:ext cx="266700" cy="1543050"/>
            </a:xfrm>
            <a:custGeom>
              <a:avLst/>
              <a:gdLst/>
              <a:ahLst/>
              <a:cxnLst/>
              <a:rect l="l" t="t" r="r" b="b"/>
              <a:pathLst>
                <a:path w="266700" h="1543050">
                  <a:moveTo>
                    <a:pt x="266700" y="15430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3238500" y="4229100"/>
            <a:ext cx="5715000" cy="914400"/>
            <a:chOff x="3238500" y="4229100"/>
            <a:chExt cx="5715000" cy="914400"/>
          </a:xfrm>
        </p:grpSpPr>
        <p:sp>
          <p:nvSpPr>
            <p:cNvPr id="54" name="Rectangle 54"/>
            <p:cNvSpPr/>
            <p:nvPr/>
          </p:nvSpPr>
          <p:spPr>
            <a:xfrm>
              <a:off x="3238500" y="4229100"/>
              <a:ext cx="5715000" cy="914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564255" y="44262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设计约束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564255" y="4750118"/>
              <a:ext cx="5074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自然语言可以影响关系和事件，但不能绕过规则直接改写事实。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521970" y="6322695"/>
            <a:ext cx="26511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1.3 项目目标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/>
      <p:bldP spid="31" grpId="0"/>
      <p:bldP spid="38" grpId="0"/>
      <p:bldP spid="48" grpId="0"/>
      <p:bldP spid="53" grpId="0"/>
      <p:bldP spid="5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638446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Git 演进：从单角色原型到可展示运行时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58760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提交历史提供了项目从基础 Agent 到 Traveler 课堂 trace 的实现证据。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04 / 14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0600" y="2828925"/>
            <a:ext cx="8896350" cy="171450"/>
            <a:chOff x="990600" y="2828925"/>
            <a:chExt cx="8896350" cy="171450"/>
          </a:xfrm>
        </p:grpSpPr>
        <p:sp>
          <p:nvSpPr>
            <p:cNvPr id="9" name="Line 9"/>
            <p:cNvSpPr/>
            <p:nvPr/>
          </p:nvSpPr>
          <p:spPr>
            <a:xfrm>
              <a:off x="990600" y="2914650"/>
              <a:ext cx="8896350" cy="9525"/>
            </a:xfrm>
            <a:custGeom>
              <a:avLst/>
              <a:gdLst/>
              <a:ahLst/>
              <a:cxnLst/>
              <a:rect l="l" t="t" r="r" b="b"/>
              <a:pathLst>
                <a:path w="8896350" h="9525">
                  <a:moveTo>
                    <a:pt x="0" y="0"/>
                  </a:moveTo>
                  <a:lnTo>
                    <a:pt x="8896350" y="0"/>
                  </a:lnTo>
                </a:path>
              </a:pathLst>
            </a:custGeom>
            <a:noFill/>
            <a:ln w="28575">
              <a:solidFill>
                <a:srgbClr val="94A3B8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171575" y="2828925"/>
              <a:ext cx="171450" cy="171450"/>
            </a:xfrm>
            <a:prstGeom prst="ellipse">
              <a:avLst/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190875" y="2828925"/>
              <a:ext cx="171450" cy="171450"/>
            </a:xfrm>
            <a:prstGeom prst="ellipse">
              <a:avLst/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5210175" y="2828925"/>
              <a:ext cx="171450" cy="171450"/>
            </a:xfrm>
            <a:prstGeom prst="ellipse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7229475" y="2828925"/>
              <a:ext cx="171450" cy="171450"/>
            </a:xfrm>
            <a:prstGeom prst="ellipse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9248775" y="2828925"/>
              <a:ext cx="171450" cy="171450"/>
            </a:xfrm>
            <a:prstGeom prst="ellipse">
              <a:avLst/>
            </a:prstGeom>
            <a:solidFill>
              <a:srgbClr val="B7791F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685800" y="1524000"/>
            <a:ext cx="2041160" cy="990600"/>
            <a:chOff x="685800" y="1524000"/>
            <a:chExt cx="2041160" cy="990600"/>
          </a:xfrm>
        </p:grpSpPr>
        <p:sp>
          <p:nvSpPr>
            <p:cNvPr id="16" name="Rectangle 16"/>
            <p:cNvSpPr/>
            <p:nvPr/>
          </p:nvSpPr>
          <p:spPr>
            <a:xfrm>
              <a:off x="685800" y="1524000"/>
              <a:ext cx="1714500" cy="9906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962025" y="1788319"/>
              <a:ext cx="190500" cy="214312"/>
              <a:chOff x="962025" y="1788319"/>
              <a:chExt cx="190500" cy="21431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962025" y="1788319"/>
                <a:ext cx="190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71438">
                    <a:moveTo>
                      <a:pt x="0" y="35719"/>
                    </a:moveTo>
                    <a:cubicBezTo>
                      <a:pt x="0" y="55446"/>
                      <a:pt x="42645" y="71438"/>
                      <a:pt x="95250" y="71438"/>
                    </a:cubicBezTo>
                    <a:cubicBezTo>
                      <a:pt x="147855" y="71438"/>
                      <a:pt x="190500" y="55446"/>
                      <a:pt x="190500" y="35719"/>
                    </a:cubicBezTo>
                    <a:cubicBezTo>
                      <a:pt x="190500" y="15992"/>
                      <a:pt x="147855" y="0"/>
                      <a:pt x="95250" y="0"/>
                    </a:cubicBezTo>
                    <a:cubicBezTo>
                      <a:pt x="42645" y="0"/>
                      <a:pt x="0" y="15992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62025" y="1824038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62025" y="1895475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297305" y="1740218"/>
              <a:ext cx="10266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单 NPC 原型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1065" y="209645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d727b0f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1065" y="2267902"/>
              <a:ext cx="18258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SQLite / workflow / trace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705100" y="3333750"/>
            <a:ext cx="1714500" cy="1185862"/>
            <a:chOff x="2705100" y="3333750"/>
            <a:chExt cx="1714500" cy="1185862"/>
          </a:xfrm>
        </p:grpSpPr>
        <p:sp>
          <p:nvSpPr>
            <p:cNvPr id="25" name="Rectangle 25"/>
            <p:cNvSpPr/>
            <p:nvPr/>
          </p:nvSpPr>
          <p:spPr>
            <a:xfrm>
              <a:off x="2705100" y="3333750"/>
              <a:ext cx="1714500" cy="1162050"/>
            </a:xfrm>
            <a:prstGeom prst="roundRect">
              <a:avLst>
                <a:gd name="adj" fmla="val 655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2969419" y="3614646"/>
              <a:ext cx="223837" cy="173923"/>
              <a:chOff x="2969419" y="3614646"/>
              <a:chExt cx="223837" cy="1739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2969419" y="3769427"/>
                <a:ext cx="214312" cy="1914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9142">
                    <a:moveTo>
                      <a:pt x="0" y="19142"/>
                    </a:moveTo>
                    <a:cubicBezTo>
                      <a:pt x="33154" y="0"/>
                      <a:pt x="74002" y="0"/>
                      <a:pt x="107156" y="19142"/>
                    </a:cubicBezTo>
                    <a:cubicBezTo>
                      <a:pt x="140311" y="0"/>
                      <a:pt x="181158" y="0"/>
                      <a:pt x="214312" y="19142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969419" y="3614646"/>
                <a:ext cx="214312" cy="1914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9142">
                    <a:moveTo>
                      <a:pt x="0" y="19142"/>
                    </a:moveTo>
                    <a:cubicBezTo>
                      <a:pt x="33154" y="0"/>
                      <a:pt x="74002" y="0"/>
                      <a:pt x="107156" y="19142"/>
                    </a:cubicBezTo>
                    <a:cubicBezTo>
                      <a:pt x="140311" y="0"/>
                      <a:pt x="181158" y="0"/>
                      <a:pt x="214312" y="19142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2969419" y="3633788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3076575" y="3633788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3183731" y="3633788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3316605" y="3549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记忆与 UI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20365" y="390620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9ed495f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20365" y="413480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261094c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20365" y="4306252"/>
              <a:ext cx="14618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上下文 / lore / 玩家端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724400" y="1524000"/>
            <a:ext cx="1775127" cy="1185862"/>
            <a:chOff x="4724400" y="1524000"/>
            <a:chExt cx="1775127" cy="1185862"/>
          </a:xfrm>
        </p:grpSpPr>
        <p:sp>
          <p:nvSpPr>
            <p:cNvPr id="37" name="Rectangle 37"/>
            <p:cNvSpPr/>
            <p:nvPr/>
          </p:nvSpPr>
          <p:spPr>
            <a:xfrm>
              <a:off x="4724400" y="1524000"/>
              <a:ext cx="1714500" cy="1162050"/>
            </a:xfrm>
            <a:prstGeom prst="roundRect">
              <a:avLst>
                <a:gd name="adj" fmla="val 655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4988719" y="1788319"/>
              <a:ext cx="214312" cy="214312"/>
              <a:chOff x="4988719" y="1788319"/>
              <a:chExt cx="214312" cy="21431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5095875" y="1907381"/>
                <a:ext cx="83344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0">
                    <a:moveTo>
                      <a:pt x="41672" y="0"/>
                    </a:moveTo>
                    <a:cubicBezTo>
                      <a:pt x="18657" y="0"/>
                      <a:pt x="0" y="18657"/>
                      <a:pt x="0" y="41672"/>
                    </a:cubicBezTo>
                    <a:lnTo>
                      <a:pt x="0" y="53578"/>
                    </a:lnTo>
                    <a:cubicBezTo>
                      <a:pt x="0" y="76593"/>
                      <a:pt x="18657" y="95250"/>
                      <a:pt x="41672" y="95250"/>
                    </a:cubicBezTo>
                    <a:cubicBezTo>
                      <a:pt x="64687" y="95250"/>
                      <a:pt x="83344" y="76593"/>
                      <a:pt x="83344" y="53578"/>
                    </a:cubicBezTo>
                    <a:lnTo>
                      <a:pt x="83344" y="32147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012531" y="1907381"/>
                <a:ext cx="83344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0">
                    <a:moveTo>
                      <a:pt x="41672" y="0"/>
                    </a:moveTo>
                    <a:cubicBezTo>
                      <a:pt x="64687" y="0"/>
                      <a:pt x="83344" y="18657"/>
                      <a:pt x="83344" y="41672"/>
                    </a:cubicBezTo>
                    <a:lnTo>
                      <a:pt x="83344" y="53578"/>
                    </a:lnTo>
                    <a:cubicBezTo>
                      <a:pt x="83344" y="76593"/>
                      <a:pt x="64687" y="95250"/>
                      <a:pt x="41672" y="95250"/>
                    </a:cubicBezTo>
                    <a:cubicBezTo>
                      <a:pt x="18657" y="95250"/>
                      <a:pt x="0" y="76593"/>
                      <a:pt x="0" y="53578"/>
                    </a:cubicBezTo>
                    <a:lnTo>
                      <a:pt x="0" y="32147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155406" y="1859756"/>
                <a:ext cx="476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83344">
                    <a:moveTo>
                      <a:pt x="5953" y="83344"/>
                    </a:moveTo>
                    <a:cubicBezTo>
                      <a:pt x="28968" y="83344"/>
                      <a:pt x="47625" y="64687"/>
                      <a:pt x="47625" y="41672"/>
                    </a:cubicBezTo>
                    <a:cubicBezTo>
                      <a:pt x="47625" y="18657"/>
                      <a:pt x="28968" y="0"/>
                      <a:pt x="5953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095875" y="1788319"/>
                <a:ext cx="83344" cy="75009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75009">
                    <a:moveTo>
                      <a:pt x="83344" y="75009"/>
                    </a:moveTo>
                    <a:lnTo>
                      <a:pt x="83344" y="41672"/>
                    </a:lnTo>
                    <a:cubicBezTo>
                      <a:pt x="83344" y="18657"/>
                      <a:pt x="64687" y="0"/>
                      <a:pt x="41672" y="0"/>
                    </a:cubicBezTo>
                    <a:cubicBezTo>
                      <a:pt x="18657" y="0"/>
                      <a:pt x="0" y="18657"/>
                      <a:pt x="0" y="41672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988719" y="1859756"/>
                <a:ext cx="476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83344">
                    <a:moveTo>
                      <a:pt x="41672" y="83344"/>
                    </a:move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012531" y="1788319"/>
                <a:ext cx="83344" cy="16073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160734">
                    <a:moveTo>
                      <a:pt x="0" y="75009"/>
                    </a:moveTo>
                    <a:lnTo>
                      <a:pt x="0" y="41672"/>
                    </a:lnTo>
                    <a:cubicBezTo>
                      <a:pt x="0" y="18657"/>
                      <a:pt x="18657" y="0"/>
                      <a:pt x="41672" y="0"/>
                    </a:cubicBezTo>
                    <a:cubicBezTo>
                      <a:pt x="64687" y="0"/>
                      <a:pt x="83344" y="18657"/>
                      <a:pt x="83344" y="41672"/>
                    </a:cubicBezTo>
                    <a:lnTo>
                      <a:pt x="83344" y="160734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5335905" y="17402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心智与校验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39665" y="209645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57c98e6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39665" y="232505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856c804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39665" y="2496502"/>
              <a:ext cx="15598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NPCMind / environment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743700" y="3333750"/>
            <a:ext cx="1714500" cy="1185862"/>
            <a:chOff x="6743700" y="3333750"/>
            <a:chExt cx="1714500" cy="1185862"/>
          </a:xfrm>
        </p:grpSpPr>
        <p:sp>
          <p:nvSpPr>
            <p:cNvPr id="50" name="Rectangle 50"/>
            <p:cNvSpPr/>
            <p:nvPr/>
          </p:nvSpPr>
          <p:spPr>
            <a:xfrm>
              <a:off x="6743700" y="3333750"/>
              <a:ext cx="1714500" cy="1162050"/>
            </a:xfrm>
            <a:prstGeom prst="roundRect">
              <a:avLst>
                <a:gd name="adj" fmla="val 655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008019" y="3598069"/>
              <a:ext cx="214312" cy="214313"/>
              <a:chOff x="7008019" y="3598069"/>
              <a:chExt cx="214312" cy="21431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031831" y="35980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008019" y="374094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162800" y="3599617"/>
                <a:ext cx="35812" cy="92273"/>
              </a:xfrm>
              <a:custGeom>
                <a:avLst/>
                <a:gdLst/>
                <a:ahLst/>
                <a:cxnLst/>
                <a:rect l="l" t="t" r="r" b="b"/>
                <a:pathLst>
                  <a:path w="35812" h="92273">
                    <a:moveTo>
                      <a:pt x="0" y="0"/>
                    </a:moveTo>
                    <a:cubicBezTo>
                      <a:pt x="21073" y="5396"/>
                      <a:pt x="35812" y="24384"/>
                      <a:pt x="35812" y="46137"/>
                    </a:cubicBezTo>
                    <a:cubicBezTo>
                      <a:pt x="35812" y="67890"/>
                      <a:pt x="21073" y="86878"/>
                      <a:pt x="0" y="92273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186612" y="3742730"/>
                <a:ext cx="357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69652">
                    <a:moveTo>
                      <a:pt x="35719" y="69652"/>
                    </a:moveTo>
                    <a:lnTo>
                      <a:pt x="35719" y="45839"/>
                    </a:lnTo>
                    <a:cubicBezTo>
                      <a:pt x="35594" y="24224"/>
                      <a:pt x="20929" y="540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7355205" y="3549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自主运行时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58965" y="390620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e895667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58965" y="413480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bf5cd92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958965" y="4306252"/>
              <a:ext cx="1237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event inbox / tick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8763000" y="1524000"/>
            <a:ext cx="1866138" cy="1185862"/>
            <a:chOff x="8763000" y="1524000"/>
            <a:chExt cx="1866138" cy="1185862"/>
          </a:xfrm>
        </p:grpSpPr>
        <p:sp>
          <p:nvSpPr>
            <p:cNvPr id="61" name="Rectangle 61"/>
            <p:cNvSpPr/>
            <p:nvPr/>
          </p:nvSpPr>
          <p:spPr>
            <a:xfrm>
              <a:off x="8763000" y="1524000"/>
              <a:ext cx="1714500" cy="1162050"/>
            </a:xfrm>
            <a:prstGeom prst="roundRect">
              <a:avLst>
                <a:gd name="adj" fmla="val 6557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9027319" y="1788319"/>
              <a:ext cx="214312" cy="214312"/>
              <a:chOff x="9027319" y="1788319"/>
              <a:chExt cx="214312" cy="214312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9027319" y="1955006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9194006" y="17883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23812" y="47625"/>
                    </a:move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051131" y="1812131"/>
                <a:ext cx="178594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78594" h="166688">
                    <a:moveTo>
                      <a:pt x="71438" y="166688"/>
                    </a:moveTo>
                    <a:lnTo>
                      <a:pt x="136922" y="166688"/>
                    </a:lnTo>
                    <a:cubicBezTo>
                      <a:pt x="159937" y="166688"/>
                      <a:pt x="178594" y="148030"/>
                      <a:pt x="178594" y="125016"/>
                    </a:cubicBezTo>
                    <a:cubicBezTo>
                      <a:pt x="178594" y="102001"/>
                      <a:pt x="159937" y="83344"/>
                      <a:pt x="136922" y="83344"/>
                    </a:cubicBezTo>
                    <a:lnTo>
                      <a:pt x="41672" y="83344"/>
                    </a:ln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9374505" y="1740218"/>
              <a:ext cx="1253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Traveler 展示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978265" y="209645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ad178e2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978265" y="232505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d4142ee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978265" y="2496502"/>
              <a:ext cx="16508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classroom / Sable route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685800" y="5105400"/>
            <a:ext cx="9810750" cy="723900"/>
            <a:chOff x="685800" y="5105400"/>
            <a:chExt cx="9810750" cy="723900"/>
          </a:xfrm>
        </p:grpSpPr>
        <p:sp>
          <p:nvSpPr>
            <p:cNvPr id="71" name="Rectangle 71"/>
            <p:cNvSpPr/>
            <p:nvPr/>
          </p:nvSpPr>
          <p:spPr>
            <a:xfrm>
              <a:off x="685800" y="5105400"/>
              <a:ext cx="9810750" cy="723900"/>
            </a:xfrm>
            <a:prstGeom prst="roundRect">
              <a:avLst>
                <a:gd name="adj" fmla="val 10526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1054100" y="5365750"/>
              <a:ext cx="190500" cy="203200"/>
              <a:chOff x="1054100" y="5365750"/>
              <a:chExt cx="190500" cy="20320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1054100" y="55181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1054100" y="53657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1181100" y="53657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1079500" y="5416550"/>
                <a:ext cx="952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600">
                    <a:moveTo>
                      <a:pt x="0" y="0"/>
                    </a:moveTo>
                    <a:lnTo>
                      <a:pt x="0" y="1016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1104900" y="5454650"/>
                <a:ext cx="1016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88900">
                    <a:moveTo>
                      <a:pt x="0" y="88900"/>
                    </a:moveTo>
                    <a:lnTo>
                      <a:pt x="76200" y="88900"/>
                    </a:lnTo>
                    <a:cubicBezTo>
                      <a:pt x="90228" y="88900"/>
                      <a:pt x="101600" y="77528"/>
                      <a:pt x="101600" y="6350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1168400" y="5454650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0" y="38100"/>
                    </a:moveTo>
                    <a:lnTo>
                      <a:pt x="38100" y="0"/>
                    </a:lnTo>
                    <a:lnTo>
                      <a:pt x="76200" y="381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449705" y="5283518"/>
              <a:ext cx="18016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GitHub 远端分支证据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453515" y="5582602"/>
              <a:ext cx="63134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main=e19512e · codex/living-world-demo=ad178e2 · codex/traveler-dialogue-trace=d4142ee</a:t>
              </a:r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521970" y="6322695"/>
            <a:ext cx="34852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git_history_oneline.md · github_remote_heads.md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36" grpId="0"/>
      <p:bldP spid="49" grpId="0"/>
      <p:bldP spid="60" grpId="0"/>
      <p:bldP spid="70" grpId="0"/>
      <p:bldP spid="8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629519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总体架构：输入到 timeline 的受控链路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62540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系统把 LLM 放在“提出意图”的位置，把事实改变交给校验、执行和状态写入。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05 / 14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52450" y="1790700"/>
            <a:ext cx="9925050" cy="995362"/>
            <a:chOff x="552450" y="1790700"/>
            <a:chExt cx="9925050" cy="995362"/>
          </a:xfrm>
        </p:grpSpPr>
        <p:sp>
          <p:nvSpPr>
            <p:cNvPr id="9" name="Rectangle 9"/>
            <p:cNvSpPr/>
            <p:nvPr/>
          </p:nvSpPr>
          <p:spPr>
            <a:xfrm>
              <a:off x="552450" y="1790700"/>
              <a:ext cx="135255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50131" y="2021681"/>
              <a:ext cx="242888" cy="242887"/>
              <a:chOff x="1050131" y="2021681"/>
              <a:chExt cx="242888" cy="24288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77119" y="202168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50131" y="2183606"/>
                <a:ext cx="161925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2">
                    <a:moveTo>
                      <a:pt x="0" y="80962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2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25550" y="2023435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1"/>
                      <a:pt x="23883" y="98462"/>
                      <a:pt x="0" y="104577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52538" y="2185630"/>
                <a:ext cx="40481" cy="78938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8">
                    <a:moveTo>
                      <a:pt x="40481" y="78938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22556" y="23498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输入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4326" y="2572702"/>
              <a:ext cx="10487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玩家 / Traveler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266950" y="1790700"/>
              <a:ext cx="135255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2805112" y="2021681"/>
              <a:ext cx="215901" cy="256382"/>
              <a:chOff x="2805112" y="2021681"/>
              <a:chExt cx="215901" cy="25638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2832100" y="202168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805112" y="2183606"/>
                <a:ext cx="74216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74216" h="80962">
                    <a:moveTo>
                      <a:pt x="0" y="80962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74216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926556" y="2183606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0" y="40481"/>
                    </a:moveTo>
                    <a:cubicBezTo>
                      <a:pt x="0" y="62838"/>
                      <a:pt x="18124" y="80962"/>
                      <a:pt x="40481" y="80962"/>
                    </a:cubicBezTo>
                    <a:cubicBezTo>
                      <a:pt x="62838" y="80962"/>
                      <a:pt x="80962" y="62838"/>
                      <a:pt x="80962" y="40481"/>
                    </a:cubicBezTo>
                    <a:cubicBezTo>
                      <a:pt x="80962" y="18124"/>
                      <a:pt x="62838" y="0"/>
                      <a:pt x="40481" y="0"/>
                    </a:cubicBezTo>
                    <a:cubicBezTo>
                      <a:pt x="18124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996724" y="2253774"/>
                <a:ext cx="24289" cy="24289"/>
              </a:xfrm>
              <a:custGeom>
                <a:avLst/>
                <a:gdLst/>
                <a:ahLst/>
                <a:cxnLst/>
                <a:rect l="l" t="t" r="r" b="b"/>
                <a:pathLst>
                  <a:path w="24289" h="24289">
                    <a:moveTo>
                      <a:pt x="0" y="0"/>
                    </a:moveTo>
                    <a:lnTo>
                      <a:pt x="24289" y="2428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2359009" y="23498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Observation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49855" y="25727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状态切片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981450" y="1790700"/>
              <a:ext cx="135255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479131" y="2040469"/>
              <a:ext cx="252413" cy="197112"/>
              <a:chOff x="4479131" y="2040469"/>
              <a:chExt cx="252413" cy="19711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479131" y="2215887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479131" y="2040469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479131" y="2062162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600575" y="2062162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722019" y="2062162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451556" y="23498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68330" y="2572702"/>
              <a:ext cx="9787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memory / lore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695950" y="1790700"/>
              <a:ext cx="1352550" cy="952500"/>
            </a:xfrm>
            <a:prstGeom prst="roundRect">
              <a:avLst>
                <a:gd name="adj" fmla="val 8000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193631" y="2021681"/>
              <a:ext cx="242888" cy="242888"/>
              <a:chOff x="6193631" y="2021681"/>
              <a:chExt cx="242888" cy="242888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315075" y="215661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1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220619" y="215661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1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382544" y="210264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1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315075" y="202168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1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193631" y="210264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1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220619" y="202168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5995935" y="2349818"/>
              <a:ext cx="7525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NPCMind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45838" y="2572702"/>
              <a:ext cx="8527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belief / plan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410450" y="1790700"/>
              <a:ext cx="135255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935119" y="2008188"/>
              <a:ext cx="188912" cy="256381"/>
              <a:chOff x="7935119" y="2008188"/>
              <a:chExt cx="188912" cy="256381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948612" y="2035175"/>
                <a:ext cx="1619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07950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7" y="0"/>
                    </a:lnTo>
                    <a:cubicBezTo>
                      <a:pt x="149842" y="0"/>
                      <a:pt x="161925" y="12083"/>
                      <a:pt x="161925" y="26988"/>
                    </a:cubicBezTo>
                    <a:lnTo>
                      <a:pt x="161925" y="80962"/>
                    </a:lnTo>
                    <a:cubicBezTo>
                      <a:pt x="161925" y="95867"/>
                      <a:pt x="149842" y="107950"/>
                      <a:pt x="134937" y="107950"/>
                    </a:cubicBezTo>
                    <a:lnTo>
                      <a:pt x="26988" y="107950"/>
                    </a:lnTo>
                    <a:cubicBezTo>
                      <a:pt x="12083" y="107950"/>
                      <a:pt x="0" y="95867"/>
                      <a:pt x="0" y="80962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029575" y="2008188"/>
                <a:ext cx="952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">
                    <a:moveTo>
                      <a:pt x="0" y="0"/>
                    </a:moveTo>
                    <a:lnTo>
                      <a:pt x="0" y="2698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989094" y="2143125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0" y="121444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070056" y="2143125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0" y="121444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935119" y="2170112"/>
                <a:ext cx="5397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26987">
                    <a:moveTo>
                      <a:pt x="0" y="26987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070056" y="2170112"/>
                <a:ext cx="5397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26987">
                    <a:moveTo>
                      <a:pt x="0" y="0"/>
                    </a:moveTo>
                    <a:lnTo>
                      <a:pt x="53975" y="2698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989094" y="2224088"/>
                <a:ext cx="809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9525">
                    <a:moveTo>
                      <a:pt x="0" y="0"/>
                    </a:move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002588" y="2089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056562" y="2089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497784" y="2349818"/>
              <a:ext cx="1177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LLM decision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23346" y="25727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结构化意图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124950" y="1790700"/>
              <a:ext cx="1352550" cy="952500"/>
            </a:xfrm>
            <a:prstGeom prst="roundRect">
              <a:avLst>
                <a:gd name="adj" fmla="val 8000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9604421" y="2021681"/>
              <a:ext cx="263509" cy="242888"/>
              <a:chOff x="9604421" y="2021681"/>
              <a:chExt cx="263509" cy="242888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9604421" y="2021681"/>
                <a:ext cx="263509" cy="240809"/>
              </a:xfrm>
              <a:custGeom>
                <a:avLst/>
                <a:gdLst/>
                <a:ahLst/>
                <a:cxnLst/>
                <a:rect l="l" t="t" r="r" b="b"/>
                <a:pathLst>
                  <a:path w="263509" h="240809">
                    <a:moveTo>
                      <a:pt x="132368" y="240809"/>
                    </a:moveTo>
                    <a:cubicBezTo>
                      <a:pt x="47835" y="214606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4" y="0"/>
                    </a:cubicBezTo>
                    <a:cubicBezTo>
                      <a:pt x="171173" y="27886"/>
                      <a:pt x="212311" y="42405"/>
                      <a:pt x="254351" y="40481"/>
                    </a:cubicBezTo>
                    <a:cubicBezTo>
                      <a:pt x="263509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784556" y="2210594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lnTo>
                      <a:pt x="26987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9595056" y="23498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校验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68313" y="257270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allowed / repaired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1905000" y="22669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4" name="Polygon 64"/>
            <p:cNvSpPr/>
            <p:nvPr/>
          </p:nvSpPr>
          <p:spPr>
            <a:xfrm>
              <a:off x="2171700" y="2209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3619500" y="22669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6" name="Polygon 66"/>
            <p:cNvSpPr/>
            <p:nvPr/>
          </p:nvSpPr>
          <p:spPr>
            <a:xfrm>
              <a:off x="3886200" y="2209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7" name="Line 67"/>
            <p:cNvSpPr/>
            <p:nvPr/>
          </p:nvSpPr>
          <p:spPr>
            <a:xfrm>
              <a:off x="5334000" y="22669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8" name="Polygon 68"/>
            <p:cNvSpPr/>
            <p:nvPr/>
          </p:nvSpPr>
          <p:spPr>
            <a:xfrm>
              <a:off x="5600700" y="2209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9" name="Line 69"/>
            <p:cNvSpPr/>
            <p:nvPr/>
          </p:nvSpPr>
          <p:spPr>
            <a:xfrm>
              <a:off x="7048500" y="22669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70" name="Polygon 70"/>
            <p:cNvSpPr/>
            <p:nvPr/>
          </p:nvSpPr>
          <p:spPr>
            <a:xfrm>
              <a:off x="7315200" y="2209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71" name="Line 71"/>
            <p:cNvSpPr/>
            <p:nvPr/>
          </p:nvSpPr>
          <p:spPr>
            <a:xfrm>
              <a:off x="8763000" y="22669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72" name="Polygon 72"/>
            <p:cNvSpPr/>
            <p:nvPr/>
          </p:nvSpPr>
          <p:spPr>
            <a:xfrm>
              <a:off x="9029700" y="2209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116" name="Group 116"/>
          <p:cNvGrpSpPr/>
          <p:nvPr/>
        </p:nvGrpSpPr>
        <p:grpSpPr>
          <a:xfrm>
            <a:off x="1485900" y="2743200"/>
            <a:ext cx="9520952" cy="2114550"/>
            <a:chOff x="1485900" y="2743200"/>
            <a:chExt cx="9520952" cy="2114550"/>
          </a:xfrm>
        </p:grpSpPr>
        <p:sp>
          <p:nvSpPr>
            <p:cNvPr id="74" name="Rectangle 74"/>
            <p:cNvSpPr/>
            <p:nvPr/>
          </p:nvSpPr>
          <p:spPr>
            <a:xfrm>
              <a:off x="1485900" y="3733800"/>
              <a:ext cx="2647950" cy="1123950"/>
            </a:xfrm>
            <a:prstGeom prst="roundRect">
              <a:avLst>
                <a:gd name="adj" fmla="val 678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1831181" y="4073525"/>
              <a:ext cx="243333" cy="236141"/>
              <a:chOff x="1831181" y="4073525"/>
              <a:chExt cx="243333" cy="236141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1831181" y="4073525"/>
                <a:ext cx="242888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07950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lnTo>
                      <a:pt x="202406" y="0"/>
                    </a:lnTo>
                    <a:cubicBezTo>
                      <a:pt x="224763" y="0"/>
                      <a:pt x="242888" y="18124"/>
                      <a:pt x="242888" y="40481"/>
                    </a:cubicBezTo>
                    <a:lnTo>
                      <a:pt x="242888" y="67469"/>
                    </a:lnTo>
                    <a:cubicBezTo>
                      <a:pt x="242888" y="89826"/>
                      <a:pt x="224763" y="107950"/>
                      <a:pt x="202406" y="107950"/>
                    </a:cubicBezTo>
                    <a:lnTo>
                      <a:pt x="40481" y="107950"/>
                    </a:lnTo>
                    <a:cubicBezTo>
                      <a:pt x="18124" y="107950"/>
                      <a:pt x="0" y="89826"/>
                      <a:pt x="0" y="67469"/>
                    </a:cubicBez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1831181" y="4181475"/>
                <a:ext cx="18216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82166" h="107950">
                    <a:moveTo>
                      <a:pt x="121444" y="107950"/>
                    </a:moveTo>
                    <a:lnTo>
                      <a:pt x="40481" y="107950"/>
                    </a:lnTo>
                    <a:cubicBezTo>
                      <a:pt x="18124" y="107950"/>
                      <a:pt x="0" y="89826"/>
                      <a:pt x="0" y="67469"/>
                    </a:cubicBezTo>
                    <a:lnTo>
                      <a:pt x="0" y="40481"/>
                    </a:lnTo>
                    <a:cubicBezTo>
                      <a:pt x="0" y="18124"/>
                      <a:pt x="18124" y="0"/>
                      <a:pt x="40481" y="0"/>
                    </a:cubicBezTo>
                    <a:lnTo>
                      <a:pt x="182166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2006600" y="423545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2033588" y="4215209"/>
                <a:ext cx="9525" cy="202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241">
                    <a:moveTo>
                      <a:pt x="0" y="0"/>
                    </a:moveTo>
                    <a:lnTo>
                      <a:pt x="0" y="2024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2033588" y="4289425"/>
                <a:ext cx="9525" cy="202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241">
                    <a:moveTo>
                      <a:pt x="0" y="0"/>
                    </a:moveTo>
                    <a:lnTo>
                      <a:pt x="0" y="2024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2056972" y="4238823"/>
                <a:ext cx="17528" cy="10120"/>
              </a:xfrm>
              <a:custGeom>
                <a:avLst/>
                <a:gdLst/>
                <a:ahLst/>
                <a:cxnLst/>
                <a:rect l="l" t="t" r="r" b="b"/>
                <a:pathLst>
                  <a:path w="17528" h="10120">
                    <a:moveTo>
                      <a:pt x="17528" y="0"/>
                    </a:moveTo>
                    <a:lnTo>
                      <a:pt x="0" y="1012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1992701" y="4275931"/>
                <a:ext cx="17542" cy="10120"/>
              </a:xfrm>
              <a:custGeom>
                <a:avLst/>
                <a:gdLst/>
                <a:ahLst/>
                <a:cxnLst/>
                <a:rect l="l" t="t" r="r" b="b"/>
                <a:pathLst>
                  <a:path w="17542" h="10120">
                    <a:moveTo>
                      <a:pt x="17542" y="0"/>
                    </a:moveTo>
                    <a:lnTo>
                      <a:pt x="0" y="1012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1992701" y="4238823"/>
                <a:ext cx="17542" cy="10120"/>
              </a:xfrm>
              <a:custGeom>
                <a:avLst/>
                <a:gdLst/>
                <a:ahLst/>
                <a:cxnLst/>
                <a:rect l="l" t="t" r="r" b="b"/>
                <a:pathLst>
                  <a:path w="17542" h="10120">
                    <a:moveTo>
                      <a:pt x="0" y="0"/>
                    </a:moveTo>
                    <a:lnTo>
                      <a:pt x="17542" y="1012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2056972" y="4275931"/>
                <a:ext cx="17542" cy="10120"/>
              </a:xfrm>
              <a:custGeom>
                <a:avLst/>
                <a:gdLst/>
                <a:ahLst/>
                <a:cxnLst/>
                <a:rect l="l" t="t" r="r" b="b"/>
                <a:pathLst>
                  <a:path w="17542" h="10120">
                    <a:moveTo>
                      <a:pt x="0" y="0"/>
                    </a:moveTo>
                    <a:lnTo>
                      <a:pt x="17542" y="1012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1885156" y="4127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1885156" y="4235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2249805" y="3969068"/>
              <a:ext cx="20568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NarrativeEnvironment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253615" y="4287202"/>
              <a:ext cx="1965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 decision 转为可执行 action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2253615" y="4515802"/>
              <a:ext cx="1888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构造 observation / 写 trace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4781550" y="3733800"/>
              <a:ext cx="2647950" cy="1123950"/>
            </a:xfrm>
            <a:prstGeom prst="roundRect">
              <a:avLst>
                <a:gd name="adj" fmla="val 678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5140325" y="4060031"/>
              <a:ext cx="215900" cy="242888"/>
              <a:chOff x="5140325" y="4060031"/>
              <a:chExt cx="215900" cy="242888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5140325" y="4060031"/>
                <a:ext cx="215900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80962">
                    <a:moveTo>
                      <a:pt x="0" y="40481"/>
                    </a:moveTo>
                    <a:cubicBezTo>
                      <a:pt x="0" y="62838"/>
                      <a:pt x="48331" y="80962"/>
                      <a:pt x="107950" y="80962"/>
                    </a:cubicBezTo>
                    <a:cubicBezTo>
                      <a:pt x="167569" y="80962"/>
                      <a:pt x="215900" y="62838"/>
                      <a:pt x="215900" y="40481"/>
                    </a:cubicBezTo>
                    <a:cubicBezTo>
                      <a:pt x="215900" y="18124"/>
                      <a:pt x="167569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5140325" y="4100512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5140325" y="4181475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5545455" y="3969068"/>
              <a:ext cx="17922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SQLite World State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549265" y="428720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任务、关系、物品、地点、事件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549265" y="45158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只有校验后的结果能写入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8077200" y="3733800"/>
              <a:ext cx="2647950" cy="1123950"/>
            </a:xfrm>
            <a:prstGeom prst="roundRect">
              <a:avLst>
                <a:gd name="adj" fmla="val 6780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8422481" y="4114006"/>
              <a:ext cx="242888" cy="134937"/>
              <a:chOff x="8422481" y="4114006"/>
              <a:chExt cx="242888" cy="134937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8435975" y="4127500"/>
                <a:ext cx="21590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07950">
                    <a:moveTo>
                      <a:pt x="0" y="107950"/>
                    </a:moveTo>
                    <a:lnTo>
                      <a:pt x="80962" y="13494"/>
                    </a:lnTo>
                    <a:lnTo>
                      <a:pt x="148431" y="80962"/>
                    </a:ln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8570912" y="4194969"/>
                <a:ext cx="26987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26987">
                    <a:moveTo>
                      <a:pt x="0" y="13494"/>
                    </a:moveTo>
                    <a:cubicBezTo>
                      <a:pt x="0" y="20946"/>
                      <a:pt x="6041" y="26987"/>
                      <a:pt x="13494" y="26987"/>
                    </a:cubicBezTo>
                    <a:cubicBezTo>
                      <a:pt x="20946" y="26987"/>
                      <a:pt x="26987" y="20946"/>
                      <a:pt x="26987" y="13494"/>
                    </a:cubicBezTo>
                    <a:cubicBezTo>
                      <a:pt x="26987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503444" y="4127500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422481" y="4221956"/>
                <a:ext cx="26988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7">
                    <a:moveTo>
                      <a:pt x="0" y="13494"/>
                    </a:moveTo>
                    <a:cubicBezTo>
                      <a:pt x="0" y="20946"/>
                      <a:pt x="6041" y="26987"/>
                      <a:pt x="13494" y="26987"/>
                    </a:cubicBezTo>
                    <a:cubicBezTo>
                      <a:pt x="20946" y="26987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8638381" y="4114006"/>
                <a:ext cx="26988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7">
                    <a:moveTo>
                      <a:pt x="0" y="13494"/>
                    </a:moveTo>
                    <a:cubicBezTo>
                      <a:pt x="0" y="20946"/>
                      <a:pt x="6041" y="26987"/>
                      <a:pt x="13494" y="26987"/>
                    </a:cubicBezTo>
                    <a:cubicBezTo>
                      <a:pt x="20946" y="26987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8841105" y="3969068"/>
              <a:ext cx="14425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Timeline Export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844915" y="4287202"/>
              <a:ext cx="21619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round / reason / state changes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844915" y="45158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课堂展示与报告证据</a:t>
              </a:r>
            </a:p>
          </p:txBody>
        </p:sp>
        <p:sp>
          <p:nvSpPr>
            <p:cNvPr id="108" name="Line 108"/>
            <p:cNvSpPr/>
            <p:nvPr/>
          </p:nvSpPr>
          <p:spPr>
            <a:xfrm>
              <a:off x="9801225" y="2743200"/>
              <a:ext cx="9525" cy="590550"/>
            </a:xfrm>
            <a:custGeom>
              <a:avLst/>
              <a:gdLst/>
              <a:ahLst/>
              <a:cxnLst/>
              <a:rect l="l" t="t" r="r" b="b"/>
              <a:pathLst>
                <a:path w="9525" h="590550">
                  <a:moveTo>
                    <a:pt x="0" y="0"/>
                  </a:moveTo>
                  <a:lnTo>
                    <a:pt x="0" y="59055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09" name="Line 109"/>
            <p:cNvSpPr/>
            <p:nvPr/>
          </p:nvSpPr>
          <p:spPr>
            <a:xfrm>
              <a:off x="2809875" y="333375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69913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10" name="Line 110"/>
            <p:cNvSpPr/>
            <p:nvPr/>
          </p:nvSpPr>
          <p:spPr>
            <a:xfrm>
              <a:off x="2809875" y="33337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11" name="Polygon 111"/>
            <p:cNvSpPr/>
            <p:nvPr/>
          </p:nvSpPr>
          <p:spPr>
            <a:xfrm>
              <a:off x="2752725" y="36385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112" name="Line 112"/>
            <p:cNvSpPr/>
            <p:nvPr/>
          </p:nvSpPr>
          <p:spPr>
            <a:xfrm>
              <a:off x="4133850" y="42957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13" name="Polygon 113"/>
            <p:cNvSpPr/>
            <p:nvPr/>
          </p:nvSpPr>
          <p:spPr>
            <a:xfrm>
              <a:off x="4686300" y="42386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114" name="Line 114"/>
            <p:cNvSpPr/>
            <p:nvPr/>
          </p:nvSpPr>
          <p:spPr>
            <a:xfrm>
              <a:off x="7429500" y="42957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15" name="Polygon 115"/>
            <p:cNvSpPr/>
            <p:nvPr/>
          </p:nvSpPr>
          <p:spPr>
            <a:xfrm>
              <a:off x="7981950" y="42386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120" name="Group 120"/>
          <p:cNvGrpSpPr/>
          <p:nvPr/>
        </p:nvGrpSpPr>
        <p:grpSpPr>
          <a:xfrm>
            <a:off x="1485900" y="5391150"/>
            <a:ext cx="9239250" cy="476250"/>
            <a:chOff x="1485900" y="5391150"/>
            <a:chExt cx="9239250" cy="476250"/>
          </a:xfrm>
        </p:grpSpPr>
        <p:sp>
          <p:nvSpPr>
            <p:cNvPr id="117" name="Rectangle 117"/>
            <p:cNvSpPr/>
            <p:nvPr/>
          </p:nvSpPr>
          <p:spPr>
            <a:xfrm>
              <a:off x="1485900" y="5391150"/>
              <a:ext cx="9239250" cy="476250"/>
            </a:xfrm>
            <a:prstGeom prst="roundRect">
              <a:avLst>
                <a:gd name="adj" fmla="val 16000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1754505" y="55502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关键边界：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2668905" y="5550218"/>
              <a:ext cx="56419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LLM 提出意图，系统决定事实是否发生，并把每一步留下可复盘证据。</a:t>
              </a:r>
            </a:p>
          </p:txBody>
        </p:sp>
      </p:grpSp>
      <p:sp>
        <p:nvSpPr>
          <p:cNvPr id="121" name="TextBox 121"/>
          <p:cNvSpPr txBox="1"/>
          <p:nvPr/>
        </p:nvSpPr>
        <p:spPr>
          <a:xfrm>
            <a:off x="521970" y="6322695"/>
            <a:ext cx="27772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四、系统架构图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116" grpId="0"/>
      <p:bldP spid="1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690217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模块职责：LLM 参与认知，系统掌握执行权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43548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把角色智能拆成可理解、可测试、可追踪的责任边界。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06 / 14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33400" y="1485900"/>
            <a:ext cx="7766780" cy="4457700"/>
            <a:chOff x="533400" y="1485900"/>
            <a:chExt cx="7766780" cy="4457700"/>
          </a:xfrm>
        </p:grpSpPr>
        <p:sp>
          <p:nvSpPr>
            <p:cNvPr id="9" name="Rectangle 9"/>
            <p:cNvSpPr/>
            <p:nvPr/>
          </p:nvSpPr>
          <p:spPr>
            <a:xfrm>
              <a:off x="533400" y="1485900"/>
              <a:ext cx="7734300" cy="4457700"/>
            </a:xfrm>
            <a:prstGeom prst="roundRect">
              <a:avLst>
                <a:gd name="adj" fmla="val 170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3400" y="1485900"/>
              <a:ext cx="7734300" cy="457200"/>
            </a:xfrm>
            <a:prstGeom prst="roundRect">
              <a:avLst>
                <a:gd name="adj" fmla="val 16667"/>
              </a:avLst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1055" y="163544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07005" y="16354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主要输入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78705" y="16354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责任边界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07555" y="163544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419350" y="19431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0"/>
                  </a:moveTo>
                  <a:lnTo>
                    <a:pt x="0" y="40005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591050" y="19431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0"/>
                  </a:moveTo>
                  <a:lnTo>
                    <a:pt x="0" y="40005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819900" y="19431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0"/>
                  </a:moveTo>
                  <a:lnTo>
                    <a:pt x="0" y="40005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1943100"/>
              <a:ext cx="77343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1055" y="2111692"/>
              <a:ext cx="12345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NarrativeEnv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10815" y="2144078"/>
              <a:ext cx="13708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玩家 / Traveler 输入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82515" y="2144078"/>
              <a:ext cx="20499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构造 observation，执行 action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11365" y="2144078"/>
              <a:ext cx="880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ActionResult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33400" y="2438400"/>
              <a:ext cx="7734300" cy="9525"/>
            </a:xfrm>
            <a:custGeom>
              <a:avLst/>
              <a:gdLst/>
              <a:ahLst/>
              <a:cxnLst/>
              <a:rect l="l" t="t" r="r" b="b"/>
              <a:pathLst>
                <a:path w="7734300" h="9525">
                  <a:moveTo>
                    <a:pt x="0" y="0"/>
                  </a:moveTo>
                  <a:lnTo>
                    <a:pt x="77343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1055" y="2626042"/>
              <a:ext cx="7336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Memory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10815" y="2658428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上下文 / lore / query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82515" y="265842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补足角色与世界背景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11365" y="2658428"/>
              <a:ext cx="6077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snippets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33400" y="2952750"/>
              <a:ext cx="7734300" cy="9525"/>
            </a:xfrm>
            <a:custGeom>
              <a:avLst/>
              <a:gdLst/>
              <a:ahLst/>
              <a:cxnLst/>
              <a:rect l="l" t="t" r="r" b="b"/>
              <a:pathLst>
                <a:path w="7734300" h="9525">
                  <a:moveTo>
                    <a:pt x="0" y="0"/>
                  </a:moveTo>
                  <a:lnTo>
                    <a:pt x="77343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2952750"/>
              <a:ext cx="77343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1055" y="3140392"/>
              <a:ext cx="7525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NPCMind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10815" y="3172778"/>
              <a:ext cx="15178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observation + memory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82515" y="3172778"/>
              <a:ext cx="1608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形成 belief / goal / plan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11365" y="3172778"/>
              <a:ext cx="7897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mind_state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33400" y="3448050"/>
              <a:ext cx="7734300" cy="9525"/>
            </a:xfrm>
            <a:custGeom>
              <a:avLst/>
              <a:gdLst/>
              <a:ahLst/>
              <a:cxnLst/>
              <a:rect l="l" t="t" r="r" b="b"/>
              <a:pathLst>
                <a:path w="7734300" h="9525">
                  <a:moveTo>
                    <a:pt x="0" y="0"/>
                  </a:moveTo>
                  <a:lnTo>
                    <a:pt x="77343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1055" y="3635692"/>
              <a:ext cx="1177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LLM Decision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10815" y="3668078"/>
              <a:ext cx="1496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mind + action surface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82515" y="3668078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提出结构化意图和回复草稿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11365" y="3668078"/>
              <a:ext cx="5727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decision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33400" y="3962400"/>
              <a:ext cx="7734300" cy="9525"/>
            </a:xfrm>
            <a:custGeom>
              <a:avLst/>
              <a:gdLst/>
              <a:ahLst/>
              <a:cxnLst/>
              <a:rect l="l" t="t" r="r" b="b"/>
              <a:pathLst>
                <a:path w="7734300" h="9525">
                  <a:moveTo>
                    <a:pt x="0" y="0"/>
                  </a:moveTo>
                  <a:lnTo>
                    <a:pt x="77343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3962400"/>
              <a:ext cx="77343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21055" y="4150042"/>
              <a:ext cx="14519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ActionValidator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710815" y="4182428"/>
              <a:ext cx="15388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decision + world state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82515" y="4182428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允许、阻止或修复行动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11365" y="4182428"/>
              <a:ext cx="1188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allowed / blocked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533400" y="4457700"/>
              <a:ext cx="7734300" cy="9525"/>
            </a:xfrm>
            <a:custGeom>
              <a:avLst/>
              <a:gdLst/>
              <a:ahLst/>
              <a:cxnLst/>
              <a:rect l="l" t="t" r="r" b="b"/>
              <a:pathLst>
                <a:path w="7734300" h="9525">
                  <a:moveTo>
                    <a:pt x="0" y="0"/>
                  </a:moveTo>
                  <a:lnTo>
                    <a:pt x="77343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21055" y="4645342"/>
              <a:ext cx="12251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SQLite State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710815" y="4677728"/>
              <a:ext cx="1118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validated result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882515" y="4677728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维护任务、物品、地点、关系事实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11365" y="4677728"/>
              <a:ext cx="8737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state_after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533400" y="4972050"/>
              <a:ext cx="7734300" cy="9525"/>
            </a:xfrm>
            <a:custGeom>
              <a:avLst/>
              <a:gdLst/>
              <a:ahLst/>
              <a:cxnLst/>
              <a:rect l="l" t="t" r="r" b="b"/>
              <a:pathLst>
                <a:path w="7734300" h="9525">
                  <a:moveTo>
                    <a:pt x="0" y="0"/>
                  </a:moveTo>
                  <a:lnTo>
                    <a:pt x="77343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4972050"/>
              <a:ext cx="77343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21055" y="5159692"/>
              <a:ext cx="14425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Timeline Export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710815" y="5192078"/>
              <a:ext cx="838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round trace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82515" y="5192078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整理可读 JSON / Markdown 输出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11365" y="5192078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timeline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533400" y="5467350"/>
              <a:ext cx="7734300" cy="9525"/>
            </a:xfrm>
            <a:custGeom>
              <a:avLst/>
              <a:gdLst/>
              <a:ahLst/>
              <a:cxnLst/>
              <a:rect l="l" t="t" r="r" b="b"/>
              <a:pathLst>
                <a:path w="7734300" h="9525">
                  <a:moveTo>
                    <a:pt x="0" y="0"/>
                  </a:moveTo>
                  <a:lnTo>
                    <a:pt x="77343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21055" y="5654992"/>
              <a:ext cx="15937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Traveler Runtime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710815" y="5687378"/>
              <a:ext cx="14128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YAML profile + world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82515" y="5687378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自动观察、决策、行动和反思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111365" y="5687378"/>
              <a:ext cx="880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round result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686800" y="1485900"/>
            <a:ext cx="2971800" cy="2038350"/>
            <a:chOff x="8686800" y="1485900"/>
            <a:chExt cx="2971800" cy="2038350"/>
          </a:xfrm>
        </p:grpSpPr>
        <p:sp>
          <p:nvSpPr>
            <p:cNvPr id="62" name="Rectangle 62"/>
            <p:cNvSpPr/>
            <p:nvPr/>
          </p:nvSpPr>
          <p:spPr>
            <a:xfrm>
              <a:off x="8686800" y="1485900"/>
              <a:ext cx="2971800" cy="2038350"/>
            </a:xfrm>
            <a:prstGeom prst="roundRect">
              <a:avLst>
                <a:gd name="adj" fmla="val 3738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9019111" y="1840706"/>
              <a:ext cx="325511" cy="300038"/>
              <a:chOff x="9019111" y="1840706"/>
              <a:chExt cx="325511" cy="300038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9019111" y="1840706"/>
                <a:ext cx="325511" cy="297471"/>
              </a:xfrm>
              <a:custGeom>
                <a:avLst/>
                <a:gdLst/>
                <a:ahLst/>
                <a:cxnLst/>
                <a:rect l="l" t="t" r="r" b="b"/>
                <a:pathLst>
                  <a:path w="325511" h="297471">
                    <a:moveTo>
                      <a:pt x="163513" y="297471"/>
                    </a:moveTo>
                    <a:cubicBezTo>
                      <a:pt x="59091" y="265102"/>
                      <a:pt x="0" y="154893"/>
                      <a:pt x="30830" y="50006"/>
                    </a:cubicBezTo>
                    <a:cubicBezTo>
                      <a:pt x="82762" y="52383"/>
                      <a:pt x="133579" y="34447"/>
                      <a:pt x="172514" y="0"/>
                    </a:cubicBezTo>
                    <a:cubicBezTo>
                      <a:pt x="211449" y="34447"/>
                      <a:pt x="262267" y="52383"/>
                      <a:pt x="314198" y="50006"/>
                    </a:cubicBezTo>
                    <a:cubicBezTo>
                      <a:pt x="325511" y="88496"/>
                      <a:pt x="324988" y="129499"/>
                      <a:pt x="312698" y="167688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241631" y="2074069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0" y="33338"/>
                    </a:moveTo>
                    <a:lnTo>
                      <a:pt x="33338" y="66675"/>
                    </a:ln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9502140" y="180594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执行权边界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974455" y="2387918"/>
              <a:ext cx="1705928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LLM 只提出意图；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事实写入必须经过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Validator 与状态机。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686800" y="3810000"/>
            <a:ext cx="2971800" cy="2133600"/>
            <a:chOff x="8686800" y="3810000"/>
            <a:chExt cx="2971800" cy="2133600"/>
          </a:xfrm>
        </p:grpSpPr>
        <p:sp>
          <p:nvSpPr>
            <p:cNvPr id="69" name="Rectangle 69"/>
            <p:cNvSpPr/>
            <p:nvPr/>
          </p:nvSpPr>
          <p:spPr>
            <a:xfrm>
              <a:off x="8686800" y="3810000"/>
              <a:ext cx="2971800" cy="21336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974455" y="3988118"/>
              <a:ext cx="21135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为什么这对课程汇报重要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974455" y="4388168"/>
              <a:ext cx="1988820" cy="1188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1. 能解释项目不是聊天壳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2. 能定位每个行为原因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3. 能用 trace 证明结果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4. 能继续扩展评估脚本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521970" y="6322695"/>
            <a:ext cx="27712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3.8 模块职责表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8" grpId="0"/>
      <p:bldP spid="7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577748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记忆与检索：让角色带着上下文行动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79102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角色回复和 decision 不只依赖当前一句输入，而是综合近期上下文、长期记忆、lore 和任务状态。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07 / 14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5800" y="1504950"/>
            <a:ext cx="3524250" cy="4057650"/>
            <a:chOff x="685800" y="1504950"/>
            <a:chExt cx="3524250" cy="4057650"/>
          </a:xfrm>
        </p:grpSpPr>
        <p:sp>
          <p:nvSpPr>
            <p:cNvPr id="9" name="Rectangle 9"/>
            <p:cNvSpPr/>
            <p:nvPr/>
          </p:nvSpPr>
          <p:spPr>
            <a:xfrm>
              <a:off x="685800" y="1504950"/>
              <a:ext cx="3524250" cy="85725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12031" y="1825625"/>
              <a:ext cx="256381" cy="229394"/>
              <a:chOff x="1012031" y="1825625"/>
              <a:chExt cx="256381" cy="22939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79500" y="1893094"/>
                <a:ext cx="107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525">
                    <a:moveTo>
                      <a:pt x="0" y="0"/>
                    </a:move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79500" y="1947069"/>
                <a:ext cx="809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9525">
                    <a:moveTo>
                      <a:pt x="0" y="0"/>
                    </a:move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12031" y="1825625"/>
                <a:ext cx="242888" cy="2293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29394">
                    <a:moveTo>
                      <a:pt x="121444" y="229394"/>
                    </a:moveTo>
                    <a:lnTo>
                      <a:pt x="107950" y="215900"/>
                    </a:lnTo>
                    <a:lnTo>
                      <a:pt x="80962" y="188913"/>
                    </a:lnTo>
                    <a:lnTo>
                      <a:pt x="40481" y="188913"/>
                    </a:lnTo>
                    <a:cubicBezTo>
                      <a:pt x="18124" y="188913"/>
                      <a:pt x="0" y="170788"/>
                      <a:pt x="0" y="148431"/>
                    </a:cubicBezTo>
                    <a:lnTo>
                      <a:pt x="0" y="40481"/>
                    </a:lnTo>
                    <a:cubicBezTo>
                      <a:pt x="0" y="18124"/>
                      <a:pt x="18124" y="0"/>
                      <a:pt x="40481" y="0"/>
                    </a:cubicBezTo>
                    <a:lnTo>
                      <a:pt x="202406" y="0"/>
                    </a:lnTo>
                    <a:cubicBezTo>
                      <a:pt x="224763" y="0"/>
                      <a:pt x="242888" y="18124"/>
                      <a:pt x="242888" y="40481"/>
                    </a:cubicBezTo>
                    <a:lnTo>
                      <a:pt x="242888" y="121444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41425" y="2001044"/>
                <a:ext cx="26987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53975">
                    <a:moveTo>
                      <a:pt x="0" y="53975"/>
                    </a:moveTo>
                    <a:lnTo>
                      <a:pt x="26987" y="26987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73956" y="2001044"/>
                <a:ext cx="26988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53975">
                    <a:moveTo>
                      <a:pt x="26988" y="0"/>
                    </a:moveTo>
                    <a:lnTo>
                      <a:pt x="0" y="26987"/>
                    </a:lnTo>
                    <a:lnTo>
                      <a:pt x="26988" y="5397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49705" y="17402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近期上下文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53515" y="203930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最近交互、当前输入、局部状态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" y="2571750"/>
              <a:ext cx="3524250" cy="85725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012031" y="2897719"/>
              <a:ext cx="252413" cy="197112"/>
              <a:chOff x="1012031" y="2897719"/>
              <a:chExt cx="252413" cy="197112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012031" y="3073137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12031" y="2897719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12031" y="2919412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33475" y="2919412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254919" y="2919412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449705" y="2807018"/>
              <a:ext cx="8376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稳定 lore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53515" y="3106102"/>
              <a:ext cx="23999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地点、NPC 设定、世界规则、秘密边界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85800" y="3638550"/>
              <a:ext cx="3524250" cy="85725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025525" y="3945731"/>
              <a:ext cx="215900" cy="242888"/>
              <a:chOff x="1025525" y="3945731"/>
              <a:chExt cx="215900" cy="24288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25525" y="3945731"/>
                <a:ext cx="215900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80962">
                    <a:moveTo>
                      <a:pt x="0" y="40481"/>
                    </a:moveTo>
                    <a:cubicBezTo>
                      <a:pt x="0" y="62838"/>
                      <a:pt x="48331" y="80962"/>
                      <a:pt x="107950" y="80962"/>
                    </a:cubicBezTo>
                    <a:cubicBezTo>
                      <a:pt x="167569" y="80962"/>
                      <a:pt x="215900" y="62838"/>
                      <a:pt x="215900" y="40481"/>
                    </a:cubicBezTo>
                    <a:cubicBezTo>
                      <a:pt x="215900" y="18124"/>
                      <a:pt x="167569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025525" y="3986212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25525" y="4067175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449705" y="38738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长期记忆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53515" y="417290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历史互动、关系变化、重要事件摘要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5800" y="4705350"/>
              <a:ext cx="3524250" cy="857250"/>
            </a:xfrm>
            <a:prstGeom prst="roundRect">
              <a:avLst>
                <a:gd name="adj" fmla="val 8889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039019" y="5026025"/>
              <a:ext cx="202405" cy="229394"/>
              <a:chOff x="1039019" y="5026025"/>
              <a:chExt cx="202405" cy="229394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1039019" y="5026025"/>
                <a:ext cx="161925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215900">
                    <a:moveTo>
                      <a:pt x="62274" y="215900"/>
                    </a:moveTo>
                    <a:lnTo>
                      <a:pt x="26988" y="215900"/>
                    </a:lnTo>
                    <a:cubicBezTo>
                      <a:pt x="12083" y="215900"/>
                      <a:pt x="0" y="203817"/>
                      <a:pt x="0" y="188913"/>
                    </a:cubicBez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2" y="0"/>
                      <a:pt x="161925" y="12083"/>
                      <a:pt x="161925" y="26988"/>
                    </a:cubicBezTo>
                    <a:lnTo>
                      <a:pt x="161925" y="134938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160462" y="5201444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lnTo>
                      <a:pt x="26987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92994" y="5080000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92994" y="5133975"/>
                <a:ext cx="269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9525">
                    <a:moveTo>
                      <a:pt x="0" y="0"/>
                    </a:moveTo>
                    <a:lnTo>
                      <a:pt x="26987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449705" y="49406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任务与状态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53515" y="5239702"/>
              <a:ext cx="2420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quest、inventory、location、trust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76800" y="2247900"/>
            <a:ext cx="2209800" cy="2095500"/>
            <a:chOff x="4876800" y="2247900"/>
            <a:chExt cx="2209800" cy="2095500"/>
          </a:xfrm>
        </p:grpSpPr>
        <p:sp>
          <p:nvSpPr>
            <p:cNvPr id="43" name="Rectangle 43"/>
            <p:cNvSpPr/>
            <p:nvPr/>
          </p:nvSpPr>
          <p:spPr>
            <a:xfrm>
              <a:off x="4876800" y="2247900"/>
              <a:ext cx="2209800" cy="2095500"/>
            </a:xfrm>
            <a:prstGeom prst="roundRect">
              <a:avLst>
                <a:gd name="adj" fmla="val 3636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5857875" y="2605088"/>
              <a:ext cx="279400" cy="331787"/>
              <a:chOff x="5857875" y="2605088"/>
              <a:chExt cx="279400" cy="331787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892800" y="2605088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0" y="69850"/>
                    </a:moveTo>
                    <a:cubicBezTo>
                      <a:pt x="0" y="108427"/>
                      <a:pt x="31273" y="139700"/>
                      <a:pt x="69850" y="139700"/>
                    </a:cubicBezTo>
                    <a:cubicBezTo>
                      <a:pt x="108427" y="139700"/>
                      <a:pt x="139700" y="108427"/>
                      <a:pt x="139700" y="69850"/>
                    </a:cubicBezTo>
                    <a:cubicBezTo>
                      <a:pt x="139700" y="31273"/>
                      <a:pt x="108427" y="0"/>
                      <a:pt x="69850" y="0"/>
                    </a:cubicBezTo>
                    <a:cubicBezTo>
                      <a:pt x="31273" y="0"/>
                      <a:pt x="0" y="31273"/>
                      <a:pt x="0" y="69850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857875" y="2814638"/>
                <a:ext cx="96044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6044" h="104775">
                    <a:moveTo>
                      <a:pt x="0" y="104775"/>
                    </a:moveTo>
                    <a:lnTo>
                      <a:pt x="0" y="69850"/>
                    </a:lnTo>
                    <a:cubicBezTo>
                      <a:pt x="0" y="31273"/>
                      <a:pt x="31273" y="0"/>
                      <a:pt x="69850" y="0"/>
                    </a:cubicBezTo>
                    <a:lnTo>
                      <a:pt x="96044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015038" y="2814638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52388"/>
                    </a:moveTo>
                    <a:cubicBezTo>
                      <a:pt x="0" y="81320"/>
                      <a:pt x="23455" y="104775"/>
                      <a:pt x="52388" y="104775"/>
                    </a:cubicBezTo>
                    <a:cubicBezTo>
                      <a:pt x="81320" y="104775"/>
                      <a:pt x="104775" y="81320"/>
                      <a:pt x="104775" y="52388"/>
                    </a:cubicBezTo>
                    <a:cubicBezTo>
                      <a:pt x="104775" y="23455"/>
                      <a:pt x="81320" y="0"/>
                      <a:pt x="52388" y="0"/>
                    </a:cubicBezTo>
                    <a:cubicBezTo>
                      <a:pt x="23455" y="0"/>
                      <a:pt x="0" y="23455"/>
                      <a:pt x="0" y="52388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105842" y="2905442"/>
                <a:ext cx="31433" cy="31433"/>
              </a:xfrm>
              <a:custGeom>
                <a:avLst/>
                <a:gdLst/>
                <a:ahLst/>
                <a:cxnLst/>
                <a:rect l="l" t="t" r="r" b="b"/>
                <a:pathLst>
                  <a:path w="31433" h="31433">
                    <a:moveTo>
                      <a:pt x="0" y="0"/>
                    </a:moveTo>
                    <a:lnTo>
                      <a:pt x="31433" y="31433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5398070" y="3044190"/>
              <a:ext cx="11672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Retrieval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221962" y="3416618"/>
              <a:ext cx="15194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typed + semantic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236774" y="3753802"/>
              <a:ext cx="14898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返回 memory snippets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810500" y="1752600"/>
            <a:ext cx="3429000" cy="3086100"/>
            <a:chOff x="7810500" y="1752600"/>
            <a:chExt cx="3429000" cy="3086100"/>
          </a:xfrm>
        </p:grpSpPr>
        <p:sp>
          <p:nvSpPr>
            <p:cNvPr id="53" name="Rectangle 53"/>
            <p:cNvSpPr/>
            <p:nvPr/>
          </p:nvSpPr>
          <p:spPr>
            <a:xfrm>
              <a:off x="7810500" y="1752600"/>
              <a:ext cx="3429000" cy="3086100"/>
            </a:xfrm>
            <a:prstGeom prst="roundRect">
              <a:avLst>
                <a:gd name="adj" fmla="val 246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092440" y="1958340"/>
              <a:ext cx="26542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合成后的 Agent 上下文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98155" y="2502218"/>
              <a:ext cx="2254568" cy="1569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Observation：当前局面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Memory：历史互动与关系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Lore：稳定世界设定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Quest：任务条件与可行动作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Trace hooks：后续复盘字段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115300" y="4191000"/>
              <a:ext cx="2819400" cy="400050"/>
            </a:xfrm>
            <a:prstGeom prst="roundRect">
              <a:avLst>
                <a:gd name="adj" fmla="val 19048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580549" y="4325302"/>
              <a:ext cx="1888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进入 NPCMind / LLM decision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210050" y="1933575"/>
            <a:ext cx="3600450" cy="3200400"/>
            <a:chOff x="4210050" y="1933575"/>
            <a:chExt cx="3600450" cy="3200400"/>
          </a:xfrm>
        </p:grpSpPr>
        <p:sp>
          <p:nvSpPr>
            <p:cNvPr id="59" name="Line 59"/>
            <p:cNvSpPr/>
            <p:nvPr/>
          </p:nvSpPr>
          <p:spPr>
            <a:xfrm>
              <a:off x="4210050" y="1933575"/>
              <a:ext cx="666750" cy="904875"/>
            </a:xfrm>
            <a:custGeom>
              <a:avLst/>
              <a:gdLst/>
              <a:ahLst/>
              <a:cxnLst/>
              <a:rect l="l" t="t" r="r" b="b"/>
              <a:pathLst>
                <a:path w="666750" h="904875">
                  <a:moveTo>
                    <a:pt x="0" y="0"/>
                  </a:moveTo>
                  <a:lnTo>
                    <a:pt x="666750" y="904875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0" name="Polygon 60"/>
            <p:cNvSpPr/>
            <p:nvPr/>
          </p:nvSpPr>
          <p:spPr>
            <a:xfrm>
              <a:off x="4772025" y="27241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114300"/>
                  </a:moveTo>
                  <a:lnTo>
                    <a:pt x="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1" name="Line 61"/>
            <p:cNvSpPr/>
            <p:nvPr/>
          </p:nvSpPr>
          <p:spPr>
            <a:xfrm>
              <a:off x="4210050" y="3000375"/>
              <a:ext cx="666750" cy="161925"/>
            </a:xfrm>
            <a:custGeom>
              <a:avLst/>
              <a:gdLst/>
              <a:ahLst/>
              <a:cxnLst/>
              <a:rect l="l" t="t" r="r" b="b"/>
              <a:pathLst>
                <a:path w="666750" h="161925">
                  <a:moveTo>
                    <a:pt x="0" y="0"/>
                  </a:moveTo>
                  <a:lnTo>
                    <a:pt x="666750" y="161925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2" name="Polygon 62"/>
            <p:cNvSpPr/>
            <p:nvPr/>
          </p:nvSpPr>
          <p:spPr>
            <a:xfrm>
              <a:off x="4772025" y="31051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28575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3" name="Line 63"/>
            <p:cNvSpPr/>
            <p:nvPr/>
          </p:nvSpPr>
          <p:spPr>
            <a:xfrm>
              <a:off x="4210050" y="3486150"/>
              <a:ext cx="666750" cy="581025"/>
            </a:xfrm>
            <a:custGeom>
              <a:avLst/>
              <a:gdLst/>
              <a:ahLst/>
              <a:cxnLst/>
              <a:rect l="l" t="t" r="r" b="b"/>
              <a:pathLst>
                <a:path w="666750" h="581025">
                  <a:moveTo>
                    <a:pt x="0" y="581025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4" name="Polygon 64"/>
            <p:cNvSpPr/>
            <p:nvPr/>
          </p:nvSpPr>
          <p:spPr>
            <a:xfrm>
              <a:off x="4762500" y="3486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28575"/>
                  </a:lnTo>
                  <a:lnTo>
                    <a:pt x="7620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4210050" y="3810000"/>
              <a:ext cx="666750" cy="1323975"/>
            </a:xfrm>
            <a:custGeom>
              <a:avLst/>
              <a:gdLst/>
              <a:ahLst/>
              <a:cxnLst/>
              <a:rect l="l" t="t" r="r" b="b"/>
              <a:pathLst>
                <a:path w="666750" h="1323975">
                  <a:moveTo>
                    <a:pt x="0" y="1323975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6" name="Polygon 66"/>
            <p:cNvSpPr/>
            <p:nvPr/>
          </p:nvSpPr>
          <p:spPr>
            <a:xfrm>
              <a:off x="4772025" y="381000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0"/>
                  </a:moveTo>
                  <a:lnTo>
                    <a:pt x="0" y="57150"/>
                  </a:lnTo>
                  <a:lnTo>
                    <a:pt x="104775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7" name="Line 67"/>
            <p:cNvSpPr/>
            <p:nvPr/>
          </p:nvSpPr>
          <p:spPr>
            <a:xfrm>
              <a:off x="7086600" y="3295650"/>
              <a:ext cx="723900" cy="9525"/>
            </a:xfrm>
            <a:custGeom>
              <a:avLst/>
              <a:gdLst/>
              <a:ahLst/>
              <a:cxnLst/>
              <a:rect l="l" t="t" r="r" b="b"/>
              <a:pathLst>
                <a:path w="723900" h="9525">
                  <a:moveTo>
                    <a:pt x="0" y="0"/>
                  </a:moveTo>
                  <a:lnTo>
                    <a:pt x="7239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8" name="Polygon 68"/>
            <p:cNvSpPr/>
            <p:nvPr/>
          </p:nvSpPr>
          <p:spPr>
            <a:xfrm>
              <a:off x="7715250" y="3238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85" name="Group 85"/>
          <p:cNvGrpSpPr/>
          <p:nvPr/>
        </p:nvGrpSpPr>
        <p:grpSpPr>
          <a:xfrm>
            <a:off x="4876800" y="5105400"/>
            <a:ext cx="6362700" cy="666750"/>
            <a:chOff x="4876800" y="5105400"/>
            <a:chExt cx="6362700" cy="666750"/>
          </a:xfrm>
        </p:grpSpPr>
        <p:sp>
          <p:nvSpPr>
            <p:cNvPr id="70" name="Rectangle 70"/>
            <p:cNvSpPr/>
            <p:nvPr/>
          </p:nvSpPr>
          <p:spPr>
            <a:xfrm>
              <a:off x="4876800" y="5105400"/>
              <a:ext cx="6362700" cy="666750"/>
            </a:xfrm>
            <a:prstGeom prst="roundRect">
              <a:avLst>
                <a:gd name="adj" fmla="val 11429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5181600" y="5327650"/>
              <a:ext cx="229019" cy="222250"/>
              <a:chOff x="5181600" y="5327650"/>
              <a:chExt cx="229019" cy="22225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5181600" y="5327650"/>
                <a:ext cx="228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16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63500"/>
                    </a:lnTo>
                    <a:cubicBezTo>
                      <a:pt x="228600" y="84542"/>
                      <a:pt x="211542" y="101600"/>
                      <a:pt x="190500" y="101600"/>
                    </a:cubicBez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5181600" y="5429250"/>
                <a:ext cx="17145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01600">
                    <a:moveTo>
                      <a:pt x="114300" y="101600"/>
                    </a:move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5346700" y="54800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5372100" y="546100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5372100" y="553085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5394109" y="5483225"/>
                <a:ext cx="1649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497" h="9525">
                    <a:moveTo>
                      <a:pt x="16497" y="0"/>
                    </a:move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5333619" y="5518150"/>
                <a:ext cx="165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10" h="9525">
                    <a:moveTo>
                      <a:pt x="16510" y="0"/>
                    </a:move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5333619" y="5483225"/>
                <a:ext cx="165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10" h="9525">
                    <a:moveTo>
                      <a:pt x="0" y="0"/>
                    </a:moveTo>
                    <a:lnTo>
                      <a:pt x="16510" y="952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5394109" y="5518150"/>
                <a:ext cx="165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10" h="9525">
                    <a:moveTo>
                      <a:pt x="0" y="0"/>
                    </a:moveTo>
                    <a:lnTo>
                      <a:pt x="16510" y="952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5232400" y="5378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5232400" y="5480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5583555" y="5226368"/>
              <a:ext cx="15937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后台 memory jobs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587365" y="5525452"/>
              <a:ext cx="53613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把运行产生的交互、反思和候选记忆整理为后续可检索内容，降低单轮 prompt 负担。</a:t>
              </a: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521970" y="6322695"/>
            <a:ext cx="43434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3.2 记忆与检索系统 / 5.4 后台长期记忆流程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52" grpId="0"/>
      <p:bldP spid="58" grpId="0"/>
      <p:bldP spid="6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808042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NPCMind + ActionValidator：自由表达，受控执行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52549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角色可以有主观判断和语言策略，但事实变化必须经过规则边界。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08 / 14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1581150"/>
            <a:ext cx="4191000" cy="2667000"/>
            <a:chOff x="685800" y="1581150"/>
            <a:chExt cx="4191000" cy="2667000"/>
          </a:xfrm>
        </p:grpSpPr>
        <p:sp>
          <p:nvSpPr>
            <p:cNvPr id="9" name="Rectangle 9"/>
            <p:cNvSpPr/>
            <p:nvPr/>
          </p:nvSpPr>
          <p:spPr>
            <a:xfrm>
              <a:off x="685800" y="1581150"/>
              <a:ext cx="4191000" cy="266700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" y="1581150"/>
              <a:ext cx="4191000" cy="495300"/>
            </a:xfrm>
            <a:prstGeom prst="roundRect">
              <a:avLst>
                <a:gd name="adj" fmla="val 15385"/>
              </a:avLst>
            </a:prstGeom>
            <a:solidFill>
              <a:srgbClr val="D8F3F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028700" y="1733550"/>
              <a:ext cx="228600" cy="228600"/>
              <a:chOff x="1028700" y="1733550"/>
              <a:chExt cx="228600" cy="228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143000" y="186055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19901" y="0"/>
                      <a:pt x="0" y="19901"/>
                      <a:pt x="0" y="44450"/>
                    </a:cubicBezTo>
                    <a:lnTo>
                      <a:pt x="0" y="57150"/>
                    </a:lnTo>
                    <a:cubicBezTo>
                      <a:pt x="0" y="81699"/>
                      <a:pt x="19901" y="101600"/>
                      <a:pt x="44450" y="101600"/>
                    </a:cubicBezTo>
                    <a:cubicBezTo>
                      <a:pt x="68999" y="101600"/>
                      <a:pt x="88900" y="81699"/>
                      <a:pt x="88900" y="57150"/>
                    </a:cubicBezTo>
                    <a:lnTo>
                      <a:pt x="88900" y="3429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54100" y="186055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57150"/>
                    </a:lnTo>
                    <a:cubicBezTo>
                      <a:pt x="88900" y="81699"/>
                      <a:pt x="68999" y="101600"/>
                      <a:pt x="44450" y="101600"/>
                    </a:cubicBezTo>
                    <a:cubicBezTo>
                      <a:pt x="19901" y="101600"/>
                      <a:pt x="0" y="81699"/>
                      <a:pt x="0" y="57150"/>
                    </a:cubicBezTo>
                    <a:lnTo>
                      <a:pt x="0" y="3429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06500" y="180975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6350" y="88900"/>
                    </a:moveTo>
                    <a:cubicBezTo>
                      <a:pt x="30899" y="88900"/>
                      <a:pt x="50800" y="68999"/>
                      <a:pt x="50800" y="44450"/>
                    </a:cubicBezTo>
                    <a:cubicBezTo>
                      <a:pt x="50800" y="19901"/>
                      <a:pt x="30899" y="0"/>
                      <a:pt x="635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43000" y="1733550"/>
                <a:ext cx="889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0010">
                    <a:moveTo>
                      <a:pt x="88900" y="80010"/>
                    </a:moveTo>
                    <a:lnTo>
                      <a:pt x="88900" y="44450"/>
                    </a:ln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28700" y="180975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44450" y="88900"/>
                    </a:move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54100" y="1733550"/>
                <a:ext cx="88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71450">
                    <a:moveTo>
                      <a:pt x="0" y="8001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17145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405890" y="1701165"/>
              <a:ext cx="27676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NPCMind：形成主观状态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9655" y="2330768"/>
              <a:ext cx="3549015" cy="1569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belief：我相信当前局面是什么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emotion：我对玩家或事件的态度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active goal：当前要推进的目标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active plan：下一步行动计划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social strategy：透露、要求凭证或转移话题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876800" y="2476500"/>
            <a:ext cx="2438400" cy="938212"/>
            <a:chOff x="4876800" y="2476500"/>
            <a:chExt cx="2438400" cy="938212"/>
          </a:xfrm>
        </p:grpSpPr>
        <p:sp>
          <p:nvSpPr>
            <p:cNvPr id="21" name="Rectangle 21"/>
            <p:cNvSpPr/>
            <p:nvPr/>
          </p:nvSpPr>
          <p:spPr>
            <a:xfrm>
              <a:off x="5238750" y="2476500"/>
              <a:ext cx="1714500" cy="914400"/>
            </a:xfrm>
            <a:prstGeom prst="roundRect">
              <a:avLst>
                <a:gd name="adj" fmla="val 8333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007100" y="2654300"/>
              <a:ext cx="177800" cy="241300"/>
              <a:chOff x="6007100" y="2654300"/>
              <a:chExt cx="177800" cy="2413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019800" y="2679700"/>
                <a:ext cx="152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1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76200"/>
                    </a:lnTo>
                    <a:cubicBezTo>
                      <a:pt x="152400" y="90228"/>
                      <a:pt x="141028" y="101600"/>
                      <a:pt x="1270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096000" y="26543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057900" y="27813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134100" y="27813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007100" y="28067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25400"/>
                    </a:move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134100" y="28067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0"/>
                    </a:moveTo>
                    <a:lnTo>
                      <a:pt x="50800" y="254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057900" y="28575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070600" y="2730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121400" y="2730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5507059" y="2959418"/>
              <a:ext cx="1177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LLM decision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82102" y="3201352"/>
              <a:ext cx="1027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意图 + 回复草稿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4876800" y="29337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5143500" y="28765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6953250" y="29337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7219950" y="28765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7315200" y="1581150"/>
            <a:ext cx="4420267" cy="2667000"/>
            <a:chOff x="7315200" y="1581150"/>
            <a:chExt cx="4420267" cy="2667000"/>
          </a:xfrm>
        </p:grpSpPr>
        <p:sp>
          <p:nvSpPr>
            <p:cNvPr id="39" name="Rectangle 39"/>
            <p:cNvSpPr/>
            <p:nvPr/>
          </p:nvSpPr>
          <p:spPr>
            <a:xfrm>
              <a:off x="7315200" y="1581150"/>
              <a:ext cx="4191000" cy="266700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315200" y="1581150"/>
              <a:ext cx="4191000" cy="495300"/>
            </a:xfrm>
            <a:prstGeom prst="roundRect">
              <a:avLst>
                <a:gd name="adj" fmla="val 15385"/>
              </a:avLst>
            </a:prstGeom>
            <a:solidFill>
              <a:srgbClr val="D8F3F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640961" y="1733550"/>
              <a:ext cx="248008" cy="228600"/>
              <a:chOff x="7640961" y="1733550"/>
              <a:chExt cx="248008" cy="2286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640961" y="1733550"/>
                <a:ext cx="24800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248008" h="226644">
                    <a:moveTo>
                      <a:pt x="124581" y="226644"/>
                    </a:moveTo>
                    <a:cubicBezTo>
                      <a:pt x="45022" y="201982"/>
                      <a:pt x="0" y="118014"/>
                      <a:pt x="23489" y="38100"/>
                    </a:cubicBezTo>
                    <a:cubicBezTo>
                      <a:pt x="63057" y="39911"/>
                      <a:pt x="101774" y="26246"/>
                      <a:pt x="131439" y="0"/>
                    </a:cubicBezTo>
                    <a:cubicBezTo>
                      <a:pt x="161104" y="26246"/>
                      <a:pt x="199822" y="39911"/>
                      <a:pt x="239389" y="38100"/>
                    </a:cubicBezTo>
                    <a:cubicBezTo>
                      <a:pt x="248008" y="67426"/>
                      <a:pt x="247610" y="98666"/>
                      <a:pt x="238246" y="127762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810500" y="19113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8035290" y="1701165"/>
              <a:ext cx="370017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ActionValidator：守住事实边界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79055" y="2330768"/>
              <a:ext cx="2777490" cy="1569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检查行动是否在当前状态下允许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阻止“语言上直接解锁地点”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阻止“缺少条件就发放物品”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将非法或不完整行动降级为安全结果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把校验原因写入 trace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543050" y="4876800"/>
            <a:ext cx="9105900" cy="876300"/>
            <a:chOff x="1543050" y="4876800"/>
            <a:chExt cx="9105900" cy="876300"/>
          </a:xfrm>
        </p:grpSpPr>
        <p:sp>
          <p:nvSpPr>
            <p:cNvPr id="47" name="Rectangle 47"/>
            <p:cNvSpPr/>
            <p:nvPr/>
          </p:nvSpPr>
          <p:spPr>
            <a:xfrm>
              <a:off x="1543050" y="4876800"/>
              <a:ext cx="238125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824990" y="5025390"/>
              <a:ext cx="94043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803D"/>
                  </a:solidFill>
                  <a:latin typeface="Arial"/>
                  <a:ea typeface="Microsoft YaHei"/>
                  <a:cs typeface="Arial"/>
                </a:rPr>
                <a:t>allowed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834515" y="541115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满足当前任务和世界条件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905375" y="4876800"/>
              <a:ext cx="238125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187315" y="5025390"/>
              <a:ext cx="95303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blocked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196840" y="54111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越界行动不会写入状态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267700" y="4876800"/>
              <a:ext cx="238125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549640" y="5025390"/>
              <a:ext cx="10916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7791F"/>
                  </a:solidFill>
                  <a:latin typeface="Arial"/>
                  <a:ea typeface="Microsoft YaHei"/>
                  <a:cs typeface="Arial"/>
                </a:rPr>
                <a:t>repaired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59165" y="541115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保留有效意图，移除不合规部分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543050" y="4400550"/>
            <a:ext cx="9105900" cy="323850"/>
            <a:chOff x="1543050" y="4400550"/>
            <a:chExt cx="9105900" cy="323850"/>
          </a:xfrm>
        </p:grpSpPr>
        <p:sp>
          <p:nvSpPr>
            <p:cNvPr id="57" name="Rectangle 57"/>
            <p:cNvSpPr/>
            <p:nvPr/>
          </p:nvSpPr>
          <p:spPr>
            <a:xfrm>
              <a:off x="1543050" y="4400550"/>
              <a:ext cx="9105900" cy="323850"/>
            </a:xfrm>
            <a:prstGeom prst="roundRect">
              <a:avLst>
                <a:gd name="adj" fmla="val 23529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052411" y="4506278"/>
              <a:ext cx="40871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语言层可以灵活扮演角色；状态层必须可验证、可追踪、可测试。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521970" y="6322695"/>
            <a:ext cx="28072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2.3 / 3.3 / 3.4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8" grpId="0"/>
      <p:bldP spid="46" grpId="0"/>
      <p:bldP spid="56" grpId="0"/>
      <p:bldP spid="5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745559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Autonomous NPC Runtime：NPC 响应世界事件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59660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NPC 不只等待玩家输入，也可以在世界事件触发后生成受约束的主动行为。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09 / 14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85800" y="1809750"/>
            <a:ext cx="10960633" cy="976312"/>
            <a:chOff x="685800" y="1809750"/>
            <a:chExt cx="10960633" cy="976312"/>
          </a:xfrm>
        </p:grpSpPr>
        <p:sp>
          <p:nvSpPr>
            <p:cNvPr id="9" name="Rectangle 9"/>
            <p:cNvSpPr/>
            <p:nvPr/>
          </p:nvSpPr>
          <p:spPr>
            <a:xfrm>
              <a:off x="685800" y="1809750"/>
              <a:ext cx="1428750" cy="933450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278731" y="2035175"/>
              <a:ext cx="242888" cy="215900"/>
              <a:chOff x="1278731" y="2035175"/>
              <a:chExt cx="242888" cy="2159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278731" y="2035175"/>
                <a:ext cx="242888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5900">
                    <a:moveTo>
                      <a:pt x="0" y="40481"/>
                    </a:moveTo>
                    <a:lnTo>
                      <a:pt x="80962" y="0"/>
                    </a:lnTo>
                    <a:lnTo>
                      <a:pt x="161925" y="40481"/>
                    </a:lnTo>
                    <a:lnTo>
                      <a:pt x="242888" y="0"/>
                    </a:lnTo>
                    <a:lnTo>
                      <a:pt x="242888" y="175419"/>
                    </a:lnTo>
                    <a:lnTo>
                      <a:pt x="161925" y="215900"/>
                    </a:lnTo>
                    <a:lnTo>
                      <a:pt x="80962" y="175419"/>
                    </a:lnTo>
                    <a:lnTo>
                      <a:pt x="0" y="215900"/>
                    </a:ln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359694" y="21431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319212" y="215661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413669" y="212963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539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413669" y="212963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53975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839587" y="2349818"/>
              <a:ext cx="11211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world event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06805" y="25727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事件写入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590800" y="1809750"/>
              <a:ext cx="1428750" cy="933450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3183731" y="2021681"/>
              <a:ext cx="242888" cy="242887"/>
              <a:chOff x="3183731" y="2021681"/>
              <a:chExt cx="242888" cy="24288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210719" y="202168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183731" y="2183606"/>
                <a:ext cx="161925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2">
                    <a:moveTo>
                      <a:pt x="0" y="80962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2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359150" y="2023435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1"/>
                      <a:pt x="23883" y="98462"/>
                      <a:pt x="0" y="104577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386138" y="2185630"/>
                <a:ext cx="40481" cy="78938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8">
                    <a:moveTo>
                      <a:pt x="40481" y="78938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2867452" y="2349818"/>
              <a:ext cx="875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NPC inbox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11805" y="25727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事件投递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495800" y="1809750"/>
              <a:ext cx="1428750" cy="933450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5115719" y="2035175"/>
              <a:ext cx="202405" cy="229394"/>
              <a:chOff x="5115719" y="2035175"/>
              <a:chExt cx="202405" cy="22939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115719" y="2035175"/>
                <a:ext cx="161925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215900">
                    <a:moveTo>
                      <a:pt x="62274" y="215900"/>
                    </a:moveTo>
                    <a:lnTo>
                      <a:pt x="26987" y="215900"/>
                    </a:lnTo>
                    <a:cubicBezTo>
                      <a:pt x="12083" y="215900"/>
                      <a:pt x="0" y="203817"/>
                      <a:pt x="0" y="188913"/>
                    </a:cubicBezTo>
                    <a:lnTo>
                      <a:pt x="0" y="26988"/>
                    </a:lnTo>
                    <a:cubicBezTo>
                      <a:pt x="0" y="12083"/>
                      <a:pt x="12083" y="0"/>
                      <a:pt x="26987" y="0"/>
                    </a:cubicBezTo>
                    <a:lnTo>
                      <a:pt x="134937" y="0"/>
                    </a:lnTo>
                    <a:cubicBezTo>
                      <a:pt x="149842" y="0"/>
                      <a:pt x="161925" y="12083"/>
                      <a:pt x="161925" y="26988"/>
                    </a:cubicBezTo>
                    <a:lnTo>
                      <a:pt x="161925" y="134938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237162" y="2210594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lnTo>
                      <a:pt x="26987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169694" y="2089150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169694" y="2143125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564526" y="2349818"/>
              <a:ext cx="12912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ActionCatalog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76788" y="25727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可行动作集合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00800" y="1809750"/>
              <a:ext cx="1428750" cy="933450"/>
            </a:xfrm>
            <a:prstGeom prst="roundRect">
              <a:avLst>
                <a:gd name="adj" fmla="val 8163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020719" y="2008188"/>
              <a:ext cx="188912" cy="256381"/>
              <a:chOff x="7020719" y="2008188"/>
              <a:chExt cx="188912" cy="25638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034212" y="2035175"/>
                <a:ext cx="1619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07950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7" y="0"/>
                    </a:lnTo>
                    <a:cubicBezTo>
                      <a:pt x="149842" y="0"/>
                      <a:pt x="161925" y="12083"/>
                      <a:pt x="161925" y="26988"/>
                    </a:cubicBezTo>
                    <a:lnTo>
                      <a:pt x="161925" y="80962"/>
                    </a:lnTo>
                    <a:cubicBezTo>
                      <a:pt x="161925" y="95867"/>
                      <a:pt x="149842" y="107950"/>
                      <a:pt x="134937" y="107950"/>
                    </a:cubicBezTo>
                    <a:lnTo>
                      <a:pt x="26988" y="107950"/>
                    </a:lnTo>
                    <a:cubicBezTo>
                      <a:pt x="12083" y="107950"/>
                      <a:pt x="0" y="95867"/>
                      <a:pt x="0" y="80962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115175" y="2008188"/>
                <a:ext cx="952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">
                    <a:moveTo>
                      <a:pt x="0" y="0"/>
                    </a:moveTo>
                    <a:lnTo>
                      <a:pt x="0" y="26987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074694" y="2143125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0" y="121444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155656" y="2143125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0" y="121444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020719" y="2170112"/>
                <a:ext cx="5397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26987">
                    <a:moveTo>
                      <a:pt x="0" y="26987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155656" y="2170112"/>
                <a:ext cx="5397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26987">
                    <a:moveTo>
                      <a:pt x="0" y="0"/>
                    </a:moveTo>
                    <a:lnTo>
                      <a:pt x="53975" y="26987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74694" y="2224088"/>
                <a:ext cx="809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9525">
                    <a:moveTo>
                      <a:pt x="0" y="0"/>
                    </a:move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088188" y="2089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142162" y="2089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710532" y="2349818"/>
              <a:ext cx="80928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LLM tick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01752" y="25727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constrained decision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305800" y="1809750"/>
              <a:ext cx="1428750" cy="933450"/>
            </a:xfrm>
            <a:prstGeom prst="roundRect">
              <a:avLst>
                <a:gd name="adj" fmla="val 8163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8880521" y="2021681"/>
              <a:ext cx="263509" cy="242888"/>
              <a:chOff x="8880521" y="2021681"/>
              <a:chExt cx="263509" cy="242888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880521" y="2021681"/>
                <a:ext cx="263509" cy="240809"/>
              </a:xfrm>
              <a:custGeom>
                <a:avLst/>
                <a:gdLst/>
                <a:ahLst/>
                <a:cxnLst/>
                <a:rect l="l" t="t" r="r" b="b"/>
                <a:pathLst>
                  <a:path w="263509" h="240809">
                    <a:moveTo>
                      <a:pt x="132368" y="240809"/>
                    </a:moveTo>
                    <a:cubicBezTo>
                      <a:pt x="47835" y="214606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4" y="0"/>
                    </a:cubicBezTo>
                    <a:cubicBezTo>
                      <a:pt x="171173" y="27886"/>
                      <a:pt x="212311" y="42405"/>
                      <a:pt x="254351" y="40481"/>
                    </a:cubicBezTo>
                    <a:cubicBezTo>
                      <a:pt x="263509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060656" y="2210594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lnTo>
                      <a:pt x="26988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8634434" y="2349818"/>
              <a:ext cx="7714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validate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46295" y="2572702"/>
              <a:ext cx="747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拦截 / 修复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210800" y="1809750"/>
              <a:ext cx="1428750" cy="933450"/>
            </a:xfrm>
            <a:prstGeom prst="roundRect">
              <a:avLst>
                <a:gd name="adj" fmla="val 8163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10803731" y="2075656"/>
              <a:ext cx="242887" cy="134938"/>
              <a:chOff x="10803731" y="2075656"/>
              <a:chExt cx="242887" cy="134938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10817225" y="2089150"/>
                <a:ext cx="21590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07950">
                    <a:moveTo>
                      <a:pt x="0" y="107950"/>
                    </a:moveTo>
                    <a:lnTo>
                      <a:pt x="80962" y="13494"/>
                    </a:lnTo>
                    <a:lnTo>
                      <a:pt x="148431" y="80962"/>
                    </a:ln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0952162" y="2156619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0884694" y="2089150"/>
                <a:ext cx="26987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26987">
                    <a:moveTo>
                      <a:pt x="0" y="13494"/>
                    </a:moveTo>
                    <a:cubicBezTo>
                      <a:pt x="0" y="20946"/>
                      <a:pt x="6041" y="26987"/>
                      <a:pt x="13494" y="26987"/>
                    </a:cubicBezTo>
                    <a:cubicBezTo>
                      <a:pt x="20946" y="26987"/>
                      <a:pt x="26987" y="20946"/>
                      <a:pt x="26987" y="13494"/>
                    </a:cubicBezTo>
                    <a:cubicBezTo>
                      <a:pt x="26987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0803731" y="2183606"/>
                <a:ext cx="26987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7" y="20946"/>
                      <a:pt x="26987" y="13494"/>
                    </a:cubicBezTo>
                    <a:cubicBezTo>
                      <a:pt x="26987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1019631" y="2075656"/>
                <a:ext cx="26987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7" y="20946"/>
                      <a:pt x="26987" y="13494"/>
                    </a:cubicBezTo>
                    <a:cubicBezTo>
                      <a:pt x="26987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203917" y="2349818"/>
              <a:ext cx="14425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mailbox / trace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31805" y="25727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结果记录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2114550" y="22764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3" name="Polygon 63"/>
            <p:cNvSpPr/>
            <p:nvPr/>
          </p:nvSpPr>
          <p:spPr>
            <a:xfrm>
              <a:off x="24955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4" name="Line 64"/>
            <p:cNvSpPr/>
            <p:nvPr/>
          </p:nvSpPr>
          <p:spPr>
            <a:xfrm>
              <a:off x="4019550" y="22764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5" name="Polygon 65"/>
            <p:cNvSpPr/>
            <p:nvPr/>
          </p:nvSpPr>
          <p:spPr>
            <a:xfrm>
              <a:off x="44005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6" name="Line 66"/>
            <p:cNvSpPr/>
            <p:nvPr/>
          </p:nvSpPr>
          <p:spPr>
            <a:xfrm>
              <a:off x="5924550" y="22764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7" name="Polygon 67"/>
            <p:cNvSpPr/>
            <p:nvPr/>
          </p:nvSpPr>
          <p:spPr>
            <a:xfrm>
              <a:off x="63055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8" name="Line 68"/>
            <p:cNvSpPr/>
            <p:nvPr/>
          </p:nvSpPr>
          <p:spPr>
            <a:xfrm>
              <a:off x="7829550" y="22764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9" name="Polygon 69"/>
            <p:cNvSpPr/>
            <p:nvPr/>
          </p:nvSpPr>
          <p:spPr>
            <a:xfrm>
              <a:off x="82105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70" name="Line 70"/>
            <p:cNvSpPr/>
            <p:nvPr/>
          </p:nvSpPr>
          <p:spPr>
            <a:xfrm>
              <a:off x="9734550" y="22764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71" name="Polygon 71"/>
            <p:cNvSpPr/>
            <p:nvPr/>
          </p:nvSpPr>
          <p:spPr>
            <a:xfrm>
              <a:off x="101155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85" name="Group 85"/>
          <p:cNvGrpSpPr/>
          <p:nvPr/>
        </p:nvGrpSpPr>
        <p:grpSpPr>
          <a:xfrm>
            <a:off x="1009650" y="3657600"/>
            <a:ext cx="10191750" cy="1390650"/>
            <a:chOff x="1009650" y="3657600"/>
            <a:chExt cx="10191750" cy="1390650"/>
          </a:xfrm>
        </p:grpSpPr>
        <p:sp>
          <p:nvSpPr>
            <p:cNvPr id="73" name="Rectangle 73"/>
            <p:cNvSpPr/>
            <p:nvPr/>
          </p:nvSpPr>
          <p:spPr>
            <a:xfrm>
              <a:off x="1009650" y="3657600"/>
              <a:ext cx="3028950" cy="139065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272540" y="384429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控制点 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278255" y="4254818"/>
              <a:ext cx="23655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可行动作来自 ActionCatalog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282065" y="4572952"/>
              <a:ext cx="24279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LLM 不能凭空发明系统未支持的工具。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4591050" y="3657600"/>
              <a:ext cx="3028950" cy="139065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4853940" y="384429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控制点 2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4859655" y="4254818"/>
              <a:ext cx="21495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所有行动仍经过 Validator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863465" y="4572952"/>
              <a:ext cx="19239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自主 tick 也不能绕过状态机。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8172450" y="3657600"/>
              <a:ext cx="3028950" cy="139065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435340" y="384429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7791F"/>
                  </a:solidFill>
                  <a:latin typeface="Arial"/>
                  <a:ea typeface="Microsoft YaHei"/>
                  <a:cs typeface="Arial"/>
                </a:rPr>
                <a:t>控制点 3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441055" y="4254818"/>
              <a:ext cx="22305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结果写入 mailbox 与 trace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444865" y="4572952"/>
              <a:ext cx="2294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便于区分直接对话和独立 NPC tick。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009650" y="5410200"/>
            <a:ext cx="10191750" cy="419100"/>
            <a:chOff x="1009650" y="5410200"/>
            <a:chExt cx="10191750" cy="419100"/>
          </a:xfrm>
        </p:grpSpPr>
        <p:sp>
          <p:nvSpPr>
            <p:cNvPr id="86" name="Rectangle 86"/>
            <p:cNvSpPr/>
            <p:nvPr/>
          </p:nvSpPr>
          <p:spPr>
            <a:xfrm>
              <a:off x="1009650" y="5410200"/>
              <a:ext cx="10191750" cy="419100"/>
            </a:xfrm>
            <a:prstGeom prst="roundRect">
              <a:avLst>
                <a:gd name="adj" fmla="val 18182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2456426" y="5531168"/>
              <a:ext cx="72981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自主运行时的价值不是“让 NPC 随机行动”，而是让世界事件通过可约束流程影响角色行为。</a:t>
              </a:r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521970" y="6322695"/>
            <a:ext cx="35813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3.6 autonomous NPC runtime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85" grpId="0"/>
      <p:bldP spid="8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727707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Traveler Runtime：用 profile 驱动自动探索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70731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Traveler 是 living-world simulation 中可配置的自动探索角色，而不是普通玩家输入。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10 / 14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5800" y="1562100"/>
            <a:ext cx="3314700" cy="3486150"/>
            <a:chOff x="685800" y="1562100"/>
            <a:chExt cx="3314700" cy="3486150"/>
          </a:xfrm>
        </p:grpSpPr>
        <p:sp>
          <p:nvSpPr>
            <p:cNvPr id="9" name="Rectangle 9"/>
            <p:cNvSpPr/>
            <p:nvPr/>
          </p:nvSpPr>
          <p:spPr>
            <a:xfrm>
              <a:off x="685800" y="1562100"/>
              <a:ext cx="3314700" cy="3486150"/>
            </a:xfrm>
            <a:prstGeom prst="roundRect">
              <a:avLst>
                <a:gd name="adj" fmla="val 229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" y="1562100"/>
              <a:ext cx="3314700" cy="514350"/>
            </a:xfrm>
            <a:prstGeom prst="roundRect">
              <a:avLst>
                <a:gd name="adj" fmla="val 14815"/>
              </a:avLst>
            </a:prstGeom>
            <a:solidFill>
              <a:srgbClr val="EEF4FA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31081" y="1716881"/>
              <a:ext cx="242888" cy="242888"/>
              <a:chOff x="1031081" y="1716881"/>
              <a:chExt cx="242888" cy="24288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31081" y="190579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7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19994" y="17168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26987" y="53975"/>
                    </a:move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7" y="53975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58069" y="1743869"/>
                <a:ext cx="202406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188912">
                    <a:moveTo>
                      <a:pt x="80962" y="188912"/>
                    </a:moveTo>
                    <a:lnTo>
                      <a:pt x="155178" y="188912"/>
                    </a:lnTo>
                    <a:cubicBezTo>
                      <a:pt x="181261" y="188912"/>
                      <a:pt x="202406" y="167768"/>
                      <a:pt x="202406" y="141684"/>
                    </a:cubicBezTo>
                    <a:cubicBezTo>
                      <a:pt x="202406" y="115601"/>
                      <a:pt x="181261" y="94456"/>
                      <a:pt x="155178" y="94456"/>
                    </a:cubicBezTo>
                    <a:lnTo>
                      <a:pt x="47228" y="94456"/>
                    </a:lnTo>
                    <a:cubicBezTo>
                      <a:pt x="21145" y="94456"/>
                      <a:pt x="0" y="73311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443990" y="1691640"/>
              <a:ext cx="157051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YAML Profile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3455" y="2292668"/>
              <a:ext cx="2606040" cy="1569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公开身份：角色如何自我介绍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私人目标：探索偏好与动机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隐藏信息：不能直接暴露的背景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行动边界：允许移动、询问、检查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探索风格：求真、谨慎或追求声望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90600" y="4229100"/>
              <a:ext cx="2705100" cy="514350"/>
            </a:xfrm>
            <a:prstGeom prst="roundRect">
              <a:avLst>
                <a:gd name="adj" fmla="val 14815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19454" y="4407218"/>
              <a:ext cx="20473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7791F"/>
                  </a:solidFill>
                  <a:latin typeface="Arial"/>
                  <a:ea typeface="Microsoft YaHei"/>
                  <a:cs typeface="Arial"/>
                </a:rPr>
                <a:t>profile 会改变路线选择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286250" y="1352550"/>
            <a:ext cx="6096000" cy="3657600"/>
            <a:chOff x="4286250" y="1352550"/>
            <a:chExt cx="6096000" cy="3657600"/>
          </a:xfrm>
        </p:grpSpPr>
        <p:sp>
          <p:nvSpPr>
            <p:cNvPr id="20" name="Ellipse 20"/>
            <p:cNvSpPr/>
            <p:nvPr/>
          </p:nvSpPr>
          <p:spPr>
            <a:xfrm>
              <a:off x="5867400" y="1695450"/>
              <a:ext cx="2933700" cy="2933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553200" y="2381250"/>
              <a:ext cx="1562100" cy="1562100"/>
            </a:xfrm>
            <a:prstGeom prst="ellipse">
              <a:avLst/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200900" y="2800350"/>
              <a:ext cx="266700" cy="361950"/>
              <a:chOff x="7200900" y="2800350"/>
              <a:chExt cx="266700" cy="36195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219950" y="2838450"/>
                <a:ext cx="2286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524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114300"/>
                    </a:lnTo>
                    <a:cubicBezTo>
                      <a:pt x="228600" y="135342"/>
                      <a:pt x="211542" y="152400"/>
                      <a:pt x="190500" y="152400"/>
                    </a:cubicBezTo>
                    <a:lnTo>
                      <a:pt x="38100" y="152400"/>
                    </a:lnTo>
                    <a:cubicBezTo>
                      <a:pt x="17058" y="152400"/>
                      <a:pt x="0" y="135342"/>
                      <a:pt x="0" y="1143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334250" y="28003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77100" y="2990850"/>
                <a:ext cx="95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">
                    <a:moveTo>
                      <a:pt x="0" y="0"/>
                    </a:moveTo>
                    <a:lnTo>
                      <a:pt x="0" y="17145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391400" y="2990850"/>
                <a:ext cx="95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">
                    <a:moveTo>
                      <a:pt x="0" y="0"/>
                    </a:moveTo>
                    <a:lnTo>
                      <a:pt x="0" y="17145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200900" y="3028950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0" y="3810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391400" y="3028950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0" y="0"/>
                    </a:moveTo>
                    <a:lnTo>
                      <a:pt x="76200" y="3810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277100" y="31051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96150" y="2914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372350" y="2914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788425" y="3234690"/>
              <a:ext cx="10916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Traveler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81848" y="3582352"/>
              <a:ext cx="11048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LLM-driven loop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10350" y="1352550"/>
              <a:ext cx="14478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34332" y="1549718"/>
              <a:ext cx="7998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Observe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934450" y="2381250"/>
              <a:ext cx="14478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48981" y="257841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Retrieve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53450" y="4457700"/>
              <a:ext cx="14478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71944" y="4654868"/>
              <a:ext cx="6108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Decide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667250" y="4457700"/>
              <a:ext cx="14478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18061" y="4654868"/>
              <a:ext cx="3461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Act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286250" y="2381250"/>
              <a:ext cx="14478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652762" y="2578418"/>
              <a:ext cx="7147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Reflect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7905750" y="1828800"/>
              <a:ext cx="1190625" cy="552450"/>
            </a:xfrm>
            <a:custGeom>
              <a:avLst/>
              <a:gdLst/>
              <a:ahLst/>
              <a:cxnLst/>
              <a:rect l="l" t="t" r="r" b="b"/>
              <a:pathLst>
                <a:path w="1190625" h="552450">
                  <a:moveTo>
                    <a:pt x="0" y="0"/>
                  </a:moveTo>
                  <a:lnTo>
                    <a:pt x="1190625" y="55245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8982075" y="22669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114300"/>
                  </a:moveTo>
                  <a:lnTo>
                    <a:pt x="0" y="10477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9277350" y="2933700"/>
              <a:ext cx="381000" cy="1524000"/>
            </a:xfrm>
            <a:custGeom>
              <a:avLst/>
              <a:gdLst/>
              <a:ahLst/>
              <a:cxnLst/>
              <a:rect l="l" t="t" r="r" b="b"/>
              <a:pathLst>
                <a:path w="381000" h="1524000">
                  <a:moveTo>
                    <a:pt x="381000" y="0"/>
                  </a:moveTo>
                  <a:lnTo>
                    <a:pt x="0" y="152400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47" name="Polygon 47"/>
            <p:cNvSpPr/>
            <p:nvPr/>
          </p:nvSpPr>
          <p:spPr>
            <a:xfrm>
              <a:off x="9239250" y="43434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38100" y="114300"/>
                  </a:moveTo>
                  <a:lnTo>
                    <a:pt x="0" y="0"/>
                  </a:lnTo>
                  <a:lnTo>
                    <a:pt x="114300" y="28575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6115050" y="4733925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24384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6115050" y="4676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5010150" y="2933700"/>
              <a:ext cx="381000" cy="1524000"/>
            </a:xfrm>
            <a:custGeom>
              <a:avLst/>
              <a:gdLst/>
              <a:ahLst/>
              <a:cxnLst/>
              <a:rect l="l" t="t" r="r" b="b"/>
              <a:pathLst>
                <a:path w="381000" h="1524000">
                  <a:moveTo>
                    <a:pt x="381000" y="15240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1" name="Polygon 51"/>
            <p:cNvSpPr/>
            <p:nvPr/>
          </p:nvSpPr>
          <p:spPr>
            <a:xfrm>
              <a:off x="4972050" y="29337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38100" y="0"/>
                  </a:moveTo>
                  <a:lnTo>
                    <a:pt x="114300" y="85725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5734050" y="1828800"/>
              <a:ext cx="1028700" cy="552450"/>
            </a:xfrm>
            <a:custGeom>
              <a:avLst/>
              <a:gdLst/>
              <a:ahLst/>
              <a:cxnLst/>
              <a:rect l="l" t="t" r="r" b="b"/>
              <a:pathLst>
                <a:path w="1028700" h="552450">
                  <a:moveTo>
                    <a:pt x="0" y="552450"/>
                  </a:moveTo>
                  <a:lnTo>
                    <a:pt x="10287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6638925" y="1819275"/>
              <a:ext cx="123825" cy="104775"/>
            </a:xfrm>
            <a:custGeom>
              <a:avLst/>
              <a:gdLst/>
              <a:ahLst/>
              <a:cxnLst/>
              <a:rect l="l" t="t" r="r" b="b"/>
              <a:pathLst>
                <a:path w="123825" h="104775">
                  <a:moveTo>
                    <a:pt x="123825" y="9525"/>
                  </a:moveTo>
                  <a:lnTo>
                    <a:pt x="5715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685800" y="5410200"/>
            <a:ext cx="10820400" cy="633412"/>
            <a:chOff x="685800" y="5410200"/>
            <a:chExt cx="10820400" cy="633412"/>
          </a:xfrm>
        </p:grpSpPr>
        <p:sp>
          <p:nvSpPr>
            <p:cNvPr id="55" name="Rectangle 55"/>
            <p:cNvSpPr/>
            <p:nvPr/>
          </p:nvSpPr>
          <p:spPr>
            <a:xfrm>
              <a:off x="685800" y="5410200"/>
              <a:ext cx="10820400" cy="552450"/>
            </a:xfrm>
            <a:prstGeom prst="roundRect">
              <a:avLst>
                <a:gd name="adj" fmla="val 13793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990600" y="5622925"/>
              <a:ext cx="228600" cy="127000"/>
              <a:chOff x="990600" y="5622925"/>
              <a:chExt cx="228600" cy="1270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1003300" y="5635625"/>
                <a:ext cx="203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01600">
                    <a:moveTo>
                      <a:pt x="0" y="101600"/>
                    </a:moveTo>
                    <a:lnTo>
                      <a:pt x="76200" y="12700"/>
                    </a:lnTo>
                    <a:lnTo>
                      <a:pt x="139700" y="76200"/>
                    </a:ln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130300" y="56991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066800" y="56356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90600" y="57245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193800" y="56229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411605" y="5483542"/>
              <a:ext cx="15748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Timeline 导出字段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415415" y="5658802"/>
              <a:ext cx="49622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round · 行动理由 · Traveler 发言 · NPC 回复 · 状态变化 · exploration leads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415415" y="5830252"/>
              <a:ext cx="47872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timing breakdown · arc evidence · ambient arc signals · final outcome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521970" y="6322695"/>
            <a:ext cx="45834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2.4 / 3.7 Traveler runtime 与 timeline export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54" grpId="0"/>
      <p:bldP spid="6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706284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真实证据：界面、课堂 trace 与多 NPC 覆盖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62180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这页用当前仓库中的真实截图和 trace 文件证明系统不是只停留在设计文档。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11 / 14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504950"/>
            <a:ext cx="6858000" cy="4629150"/>
            <a:chOff x="533400" y="1504950"/>
            <a:chExt cx="6858000" cy="4629150"/>
          </a:xfrm>
        </p:grpSpPr>
        <p:sp>
          <p:nvSpPr>
            <p:cNvPr id="9" name="Rectangle 9"/>
            <p:cNvSpPr/>
            <p:nvPr/>
          </p:nvSpPr>
          <p:spPr>
            <a:xfrm>
              <a:off x="533400" y="1504950"/>
              <a:ext cx="6858000" cy="4629150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86939" y="1752600"/>
              <a:ext cx="4912822" cy="375285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895350" y="5619750"/>
              <a:ext cx="6096000" cy="323850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4415" y="5725478"/>
              <a:ext cx="40731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React/Vite 玩家端界面截图：保留交互界面和开发者 trace 面板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77150" y="1504950"/>
            <a:ext cx="1562100" cy="3333750"/>
            <a:chOff x="7677150" y="1504950"/>
            <a:chExt cx="1562100" cy="3333750"/>
          </a:xfrm>
        </p:grpSpPr>
        <p:sp>
          <p:nvSpPr>
            <p:cNvPr id="14" name="Rectangle 14"/>
            <p:cNvSpPr/>
            <p:nvPr/>
          </p:nvSpPr>
          <p:spPr>
            <a:xfrm>
              <a:off x="7677150" y="1504950"/>
              <a:ext cx="1562100" cy="3333750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67650" y="1695450"/>
              <a:ext cx="1181100" cy="272415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8094821" y="45158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移动端截图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505950" y="1504950"/>
            <a:ext cx="2152650" cy="3333750"/>
            <a:chOff x="9505950" y="1504950"/>
            <a:chExt cx="2152650" cy="3333750"/>
          </a:xfrm>
        </p:grpSpPr>
        <p:sp>
          <p:nvSpPr>
            <p:cNvPr id="18" name="Rectangle 18"/>
            <p:cNvSpPr/>
            <p:nvPr/>
          </p:nvSpPr>
          <p:spPr>
            <a:xfrm>
              <a:off x="9505950" y="1504950"/>
              <a:ext cx="2152650" cy="3333750"/>
            </a:xfrm>
            <a:prstGeom prst="roundRect">
              <a:avLst>
                <a:gd name="adj" fmla="val 354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9853612" y="1890712"/>
              <a:ext cx="257175" cy="142875"/>
              <a:chOff x="9853612" y="1890712"/>
              <a:chExt cx="257175" cy="14287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9867900" y="1905000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0" y="114300"/>
                    </a:moveTo>
                    <a:lnTo>
                      <a:pt x="85725" y="14288"/>
                    </a:lnTo>
                    <a:lnTo>
                      <a:pt x="157162" y="85725"/>
                    </a:ln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010775" y="1976438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939338" y="1905000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853612" y="20050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082212" y="18907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245090" y="1805940"/>
              <a:ext cx="131847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Trace 证据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793605" y="2387918"/>
              <a:ext cx="1140142" cy="1798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Traveler 发言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NPC 回复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关系变化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探索线索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arc evidence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最终 outcome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77150" y="5124450"/>
            <a:ext cx="3981450" cy="881062"/>
            <a:chOff x="7677150" y="5124450"/>
            <a:chExt cx="3981450" cy="881062"/>
          </a:xfrm>
        </p:grpSpPr>
        <p:sp>
          <p:nvSpPr>
            <p:cNvPr id="28" name="Rectangle 28"/>
            <p:cNvSpPr/>
            <p:nvPr/>
          </p:nvSpPr>
          <p:spPr>
            <a:xfrm>
              <a:off x="7677150" y="5124450"/>
              <a:ext cx="3981450" cy="819150"/>
            </a:xfrm>
            <a:prstGeom prst="roundRect">
              <a:avLst>
                <a:gd name="adj" fmla="val 9302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964805" y="5302568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复用的真实运行文件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68615" y="5601652"/>
              <a:ext cx="3240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classroom_showcase_llm_run/20260606T061944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68615" y="5792152"/>
              <a:ext cx="29530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sable_advantage_llm_run/20260606T185547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21970" y="6265545"/>
            <a:ext cx="3995357" cy="354330"/>
            <a:chOff x="521970" y="6265545"/>
            <a:chExt cx="3995357" cy="354330"/>
          </a:xfrm>
        </p:grpSpPr>
        <p:sp>
          <p:nvSpPr>
            <p:cNvPr id="33" name="TextBox 33"/>
            <p:cNvSpPr txBox="1"/>
            <p:nvPr/>
          </p:nvSpPr>
          <p:spPr>
            <a:xfrm>
              <a:off x="521970" y="6265545"/>
              <a:ext cx="32092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Source: player_ui_desktop.png · player_ui_mobile.png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1970" y="6436995"/>
              <a:ext cx="3995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Trace: classroom_showcase_trace.md · sable_advantage_trace.md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7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606312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Sable 路线：语言行为与状态变化分离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56779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真实 trace 显示角色可以试探和引导，但不能直接越权解锁世界事实。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12 / 14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" y="1466850"/>
            <a:ext cx="6076950" cy="4476750"/>
            <a:chOff x="533400" y="1466850"/>
            <a:chExt cx="6076950" cy="4476750"/>
          </a:xfrm>
        </p:grpSpPr>
        <p:sp>
          <p:nvSpPr>
            <p:cNvPr id="9" name="Rectangle 9"/>
            <p:cNvSpPr/>
            <p:nvPr/>
          </p:nvSpPr>
          <p:spPr>
            <a:xfrm>
              <a:off x="533400" y="1466850"/>
              <a:ext cx="6076950" cy="4476750"/>
            </a:xfrm>
            <a:prstGeom prst="roundRect">
              <a:avLst>
                <a:gd name="adj" fmla="val 170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3400" y="1466850"/>
              <a:ext cx="6076950" cy="457200"/>
            </a:xfrm>
            <a:prstGeom prst="roundRect">
              <a:avLst>
                <a:gd name="adj" fmla="val 16667"/>
              </a:avLst>
            </a:prstGeom>
            <a:solidFill>
              <a:srgbClr val="EEF4FA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5819" y="1609725"/>
              <a:ext cx="214312" cy="190500"/>
              <a:chOff x="835819" y="1609725"/>
              <a:chExt cx="214312" cy="1905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35819" y="1657350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47625" y="0"/>
                    </a:moveTo>
                    <a:lnTo>
                      <a:pt x="0" y="47625"/>
                    </a:lnTo>
                    <a:lnTo>
                      <a:pt x="47625" y="9525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02506" y="1657350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0" y="0"/>
                    </a:moveTo>
                    <a:lnTo>
                      <a:pt x="47625" y="47625"/>
                    </a:ln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19162" y="1609725"/>
                <a:ext cx="476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90500">
                    <a:moveTo>
                      <a:pt x="47625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83005" y="1616392"/>
              <a:ext cx="37675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真实运行片段：sable_advantage · Round 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38200" y="2171700"/>
              <a:ext cx="5467350" cy="552450"/>
            </a:xfrm>
            <a:prstGeom prst="roundRect">
              <a:avLst>
                <a:gd name="adj" fmla="val 13793"/>
              </a:avLst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53465" y="2286952"/>
              <a:ext cx="27920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Traveler action: talk_to · target: sable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3465" y="2496502"/>
              <a:ext cx="4682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理由：Sable 是非正式信息渠道，Traveler 希望建立信任并获取遗迹传闻。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38200" y="2914650"/>
              <a:ext cx="5467350" cy="552450"/>
            </a:xfrm>
            <a:prstGeom prst="roundRect">
              <a:avLst>
                <a:gd name="adj" fmla="val 13793"/>
              </a:avLst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53465" y="3029902"/>
              <a:ext cx="29880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NPC decision intent: redirect_ruins_inquiry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3465" y="3239452"/>
              <a:ext cx="37161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NPCMind belief：Traveler 可能知道有利可图的遗迹线索。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38200" y="3657600"/>
              <a:ext cx="5467350" cy="552450"/>
            </a:xfrm>
            <a:prstGeom prst="roundRect">
              <a:avLst>
                <a:gd name="adj" fmla="val 13793"/>
              </a:avLst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53465" y="3772852"/>
              <a:ext cx="33240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Validator: traveler allowed · npc accepted=true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3465" y="3982402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行动可以发生，但后续状态变化仍按规则记录。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400550"/>
              <a:ext cx="5467350" cy="552450"/>
            </a:xfrm>
            <a:prstGeom prst="roundRect">
              <a:avLst>
                <a:gd name="adj" fmla="val 13793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3465" y="4515802"/>
              <a:ext cx="39191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State change: trust 0.05 -&gt; 0.10 · affinity 0.10 -&gt; 0.20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3465" y="4725352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允许的是关系推进，不是地点解锁或物品发放。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38200" y="5143500"/>
              <a:ext cx="5467350" cy="514350"/>
            </a:xfrm>
            <a:prstGeom prst="roundRect">
              <a:avLst>
                <a:gd name="adj" fmla="val 14815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53465" y="5249228"/>
              <a:ext cx="54173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response constraints：不要声称地下遗迹入口已解锁；不要声称玩家获得物品奖励。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010400" y="1466850"/>
            <a:ext cx="4648200" cy="4476750"/>
            <a:chOff x="7010400" y="1466850"/>
            <a:chExt cx="4648200" cy="4476750"/>
          </a:xfrm>
        </p:grpSpPr>
        <p:sp>
          <p:nvSpPr>
            <p:cNvPr id="31" name="Rectangle 31"/>
            <p:cNvSpPr/>
            <p:nvPr/>
          </p:nvSpPr>
          <p:spPr>
            <a:xfrm>
              <a:off x="7010400" y="1466850"/>
              <a:ext cx="4648200" cy="209550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60444" y="1851025"/>
              <a:ext cx="286544" cy="256381"/>
              <a:chOff x="7360444" y="1851025"/>
              <a:chExt cx="286544" cy="256381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435850" y="1926431"/>
                <a:ext cx="120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9525">
                    <a:moveTo>
                      <a:pt x="0" y="0"/>
                    </a:moveTo>
                    <a:lnTo>
                      <a:pt x="12065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435850" y="1986756"/>
                <a:ext cx="904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9525">
                    <a:moveTo>
                      <a:pt x="0" y="0"/>
                    </a:moveTo>
                    <a:lnTo>
                      <a:pt x="90488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360444" y="1851025"/>
                <a:ext cx="271462" cy="256381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56381">
                    <a:moveTo>
                      <a:pt x="135731" y="256381"/>
                    </a:moveTo>
                    <a:lnTo>
                      <a:pt x="120650" y="241300"/>
                    </a:lnTo>
                    <a:lnTo>
                      <a:pt x="90488" y="211137"/>
                    </a:lnTo>
                    <a:lnTo>
                      <a:pt x="45244" y="211137"/>
                    </a:lnTo>
                    <a:cubicBezTo>
                      <a:pt x="20256" y="211137"/>
                      <a:pt x="0" y="190881"/>
                      <a:pt x="0" y="165894"/>
                    </a:cubicBezTo>
                    <a:lnTo>
                      <a:pt x="0" y="45244"/>
                    </a:lnTo>
                    <a:cubicBezTo>
                      <a:pt x="0" y="20256"/>
                      <a:pt x="20256" y="0"/>
                      <a:pt x="45244" y="0"/>
                    </a:cubicBezTo>
                    <a:lnTo>
                      <a:pt x="226219" y="0"/>
                    </a:lnTo>
                    <a:cubicBezTo>
                      <a:pt x="251206" y="0"/>
                      <a:pt x="271462" y="20256"/>
                      <a:pt x="271462" y="45244"/>
                    </a:cubicBezTo>
                    <a:lnTo>
                      <a:pt x="271462" y="13573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616825" y="2047081"/>
                <a:ext cx="30163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30163" h="60325">
                    <a:moveTo>
                      <a:pt x="0" y="60325"/>
                    </a:moveTo>
                    <a:lnTo>
                      <a:pt x="30163" y="30163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541419" y="2047081"/>
                <a:ext cx="30162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60325">
                    <a:moveTo>
                      <a:pt x="30162" y="0"/>
                    </a:moveTo>
                    <a:lnTo>
                      <a:pt x="0" y="30163"/>
                    </a:lnTo>
                    <a:lnTo>
                      <a:pt x="30162" y="6032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825740" y="180594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语言层允许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98055" y="2368868"/>
              <a:ext cx="3506152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Sable 可以试探、转移话题、引导 Traveler，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并通过自然语言表现误导型角色的社交策略。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315200" y="3009900"/>
              <a:ext cx="3676650" cy="323850"/>
            </a:xfrm>
            <a:prstGeom prst="roundRect">
              <a:avLst>
                <a:gd name="adj" fmla="val 23529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473315" y="3106102"/>
              <a:ext cx="2680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这部分体现角色表达能力和 profile 差异。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010400" y="3848100"/>
              <a:ext cx="4648200" cy="209550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40091" y="4217194"/>
              <a:ext cx="294510" cy="271462"/>
              <a:chOff x="7340091" y="4217194"/>
              <a:chExt cx="294510" cy="271462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40091" y="4217194"/>
                <a:ext cx="294510" cy="269140"/>
              </a:xfrm>
              <a:custGeom>
                <a:avLst/>
                <a:gdLst/>
                <a:ahLst/>
                <a:cxnLst/>
                <a:rect l="l" t="t" r="r" b="b"/>
                <a:pathLst>
                  <a:path w="294510" h="269140">
                    <a:moveTo>
                      <a:pt x="147940" y="269140"/>
                    </a:moveTo>
                    <a:cubicBezTo>
                      <a:pt x="53463" y="239854"/>
                      <a:pt x="0" y="140141"/>
                      <a:pt x="27894" y="45244"/>
                    </a:cubicBezTo>
                    <a:cubicBezTo>
                      <a:pt x="74880" y="47394"/>
                      <a:pt x="120857" y="31167"/>
                      <a:pt x="156084" y="0"/>
                    </a:cubicBezTo>
                    <a:cubicBezTo>
                      <a:pt x="191311" y="31167"/>
                      <a:pt x="237289" y="47394"/>
                      <a:pt x="284275" y="45244"/>
                    </a:cubicBezTo>
                    <a:cubicBezTo>
                      <a:pt x="294510" y="80068"/>
                      <a:pt x="294037" y="117165"/>
                      <a:pt x="282917" y="151717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541419" y="4428331"/>
                <a:ext cx="90488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8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825740" y="41871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状态层受控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98055" y="4750118"/>
              <a:ext cx="3694747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地点、物品、任务完成和关系变化必须通过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ActionValidator、任务状态机和 SQLite 写入。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315200" y="5391150"/>
              <a:ext cx="3676650" cy="323850"/>
            </a:xfrm>
            <a:prstGeom prst="roundRect">
              <a:avLst>
                <a:gd name="adj" fmla="val 23529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73315" y="5487352"/>
              <a:ext cx="24069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这部分体现系统事实边界和可复盘性。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521970" y="6322695"/>
            <a:ext cx="47694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6.1 典型 trace 示例 · sable_advantage_trace.md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评估：已有证据与下一步指标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78742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当前评估以 demo trace、JSON / Markdown timeline 和人工复盘为主，不虚构大规模统计结论。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13 / 14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33400" y="1466850"/>
            <a:ext cx="7639050" cy="4095750"/>
            <a:chOff x="533400" y="1466850"/>
            <a:chExt cx="7639050" cy="4095750"/>
          </a:xfrm>
        </p:grpSpPr>
        <p:sp>
          <p:nvSpPr>
            <p:cNvPr id="9" name="Rectangle 9"/>
            <p:cNvSpPr/>
            <p:nvPr/>
          </p:nvSpPr>
          <p:spPr>
            <a:xfrm>
              <a:off x="533400" y="1466850"/>
              <a:ext cx="7639050" cy="4095750"/>
            </a:xfrm>
            <a:prstGeom prst="roundRect">
              <a:avLst>
                <a:gd name="adj" fmla="val 186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3400" y="1466850"/>
              <a:ext cx="7639050" cy="438150"/>
            </a:xfrm>
            <a:prstGeom prst="roundRect">
              <a:avLst>
                <a:gd name="adj" fmla="val 17391"/>
              </a:avLst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2005" y="16068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评估对象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54605" y="16068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当前证据来源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02505" y="16068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能说明什么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50355" y="16068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下一步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286000" y="1905000"/>
              <a:ext cx="9525" cy="3657600"/>
            </a:xfrm>
            <a:custGeom>
              <a:avLst/>
              <a:gdLst/>
              <a:ahLst/>
              <a:cxnLst/>
              <a:rect l="l" t="t" r="r" b="b"/>
              <a:pathLst>
                <a:path w="9525" h="3657600">
                  <a:moveTo>
                    <a:pt x="0" y="0"/>
                  </a:moveTo>
                  <a:lnTo>
                    <a:pt x="0" y="36576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572000" y="1905000"/>
              <a:ext cx="9525" cy="3657600"/>
            </a:xfrm>
            <a:custGeom>
              <a:avLst/>
              <a:gdLst/>
              <a:ahLst/>
              <a:cxnLst/>
              <a:rect l="l" t="t" r="r" b="b"/>
              <a:pathLst>
                <a:path w="9525" h="3657600">
                  <a:moveTo>
                    <a:pt x="0" y="0"/>
                  </a:moveTo>
                  <a:lnTo>
                    <a:pt x="0" y="36576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477000" y="1905000"/>
              <a:ext cx="9525" cy="3657600"/>
            </a:xfrm>
            <a:custGeom>
              <a:avLst/>
              <a:gdLst/>
              <a:ahLst/>
              <a:cxnLst/>
              <a:rect l="l" t="t" r="r" b="b"/>
              <a:pathLst>
                <a:path w="9525" h="3657600">
                  <a:moveTo>
                    <a:pt x="0" y="0"/>
                  </a:moveTo>
                  <a:lnTo>
                    <a:pt x="0" y="36576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1905000"/>
              <a:ext cx="7639050" cy="6096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2005" y="21212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角色一致性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58415" y="2077402"/>
              <a:ext cx="14198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NPCMind trace / lore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58415" y="2267902"/>
              <a:ext cx="11398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classroom trace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06315" y="21536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能复盘语气、知识边界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54165" y="21536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固定对话集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33400" y="2514600"/>
              <a:ext cx="7639050" cy="9525"/>
            </a:xfrm>
            <a:custGeom>
              <a:avLst/>
              <a:gdLst/>
              <a:ahLst/>
              <a:cxnLst/>
              <a:rect l="l" t="t" r="r" b="b"/>
              <a:pathLst>
                <a:path w="7639050" h="9525">
                  <a:moveTo>
                    <a:pt x="0" y="0"/>
                  </a:moveTo>
                  <a:lnTo>
                    <a:pt x="76390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2005" y="27308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状态一致性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58415" y="268700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SQLite / Validator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58415" y="28775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state changes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6315" y="27632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回复和状态写入分离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54165" y="27632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自动一致性脚本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533400" y="3124200"/>
              <a:ext cx="7639050" cy="9525"/>
            </a:xfrm>
            <a:custGeom>
              <a:avLst/>
              <a:gdLst/>
              <a:ahLst/>
              <a:cxnLst/>
              <a:rect l="l" t="t" r="r" b="b"/>
              <a:pathLst>
                <a:path w="7639050" h="9525">
                  <a:moveTo>
                    <a:pt x="0" y="0"/>
                  </a:moveTo>
                  <a:lnTo>
                    <a:pt x="76390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124200"/>
              <a:ext cx="7639050" cy="6096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2005" y="33404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越权行动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558415" y="3296602"/>
              <a:ext cx="1188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allowed / blocked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58415" y="3487102"/>
              <a:ext cx="1496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response constraints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06315" y="33728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能看到拦截路径存在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4165" y="33728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分类统计频次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533400" y="3733800"/>
              <a:ext cx="7639050" cy="9525"/>
            </a:xfrm>
            <a:custGeom>
              <a:avLst/>
              <a:gdLst/>
              <a:ahLst/>
              <a:cxnLst/>
              <a:rect l="l" t="t" r="r" b="b"/>
              <a:pathLst>
                <a:path w="7639050" h="9525">
                  <a:moveTo>
                    <a:pt x="0" y="0"/>
                  </a:moveTo>
                  <a:lnTo>
                    <a:pt x="76390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2005" y="3950018"/>
              <a:ext cx="1253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Traveler 差异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58415" y="3906202"/>
              <a:ext cx="1608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showcase / Sable route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558415" y="4096702"/>
              <a:ext cx="8737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profile YAML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06315" y="3982402"/>
              <a:ext cx="14198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不同 profile 影响路线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54165" y="39824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同初始态重复运行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533400" y="4343400"/>
              <a:ext cx="7639050" cy="9525"/>
            </a:xfrm>
            <a:custGeom>
              <a:avLst/>
              <a:gdLst/>
              <a:ahLst/>
              <a:cxnLst/>
              <a:rect l="l" t="t" r="r" b="b"/>
              <a:pathLst>
                <a:path w="7639050" h="9525">
                  <a:moveTo>
                    <a:pt x="0" y="0"/>
                  </a:moveTo>
                  <a:lnTo>
                    <a:pt x="76390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343400"/>
              <a:ext cx="7639050" cy="6096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02005" y="4559618"/>
              <a:ext cx="13669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Trace 可解释性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558415" y="4515802"/>
              <a:ext cx="11958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JSON / Markdown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558415" y="4706302"/>
              <a:ext cx="10698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timeline export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806315" y="45920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能定位行为原因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54165" y="45920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图形化回放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533400" y="4953000"/>
              <a:ext cx="7639050" cy="9525"/>
            </a:xfrm>
            <a:custGeom>
              <a:avLst/>
              <a:gdLst/>
              <a:ahLst/>
              <a:cxnLst/>
              <a:rect l="l" t="t" r="r" b="b"/>
              <a:pathLst>
                <a:path w="7639050" h="9525">
                  <a:moveTo>
                    <a:pt x="0" y="0"/>
                  </a:moveTo>
                  <a:lnTo>
                    <a:pt x="76390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02005" y="51692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运行开销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558415" y="5125402"/>
              <a:ext cx="12098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timing breakdown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558415" y="5315902"/>
              <a:ext cx="1244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Traveler tick 字段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06315" y="52016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能定位耗时阶段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54165" y="52016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固定基准记录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8572500" y="1466850"/>
            <a:ext cx="3086100" cy="4095750"/>
            <a:chOff x="8572500" y="1466850"/>
            <a:chExt cx="3086100" cy="4095750"/>
          </a:xfrm>
        </p:grpSpPr>
        <p:sp>
          <p:nvSpPr>
            <p:cNvPr id="57" name="Rectangle 57"/>
            <p:cNvSpPr/>
            <p:nvPr/>
          </p:nvSpPr>
          <p:spPr>
            <a:xfrm>
              <a:off x="8572500" y="1466850"/>
              <a:ext cx="3086100" cy="4095750"/>
            </a:xfrm>
            <a:prstGeom prst="roundRect">
              <a:avLst>
                <a:gd name="adj" fmla="val 246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952706" y="1797844"/>
              <a:ext cx="211138" cy="271462"/>
              <a:chOff x="8952706" y="1797844"/>
              <a:chExt cx="211138" cy="27146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952706" y="1828006"/>
                <a:ext cx="211138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211138" h="241300">
                    <a:moveTo>
                      <a:pt x="60325" y="0"/>
                    </a:moveTo>
                    <a:lnTo>
                      <a:pt x="30163" y="0"/>
                    </a:lnTo>
                    <a:cubicBezTo>
                      <a:pt x="13504" y="0"/>
                      <a:pt x="0" y="13504"/>
                      <a:pt x="0" y="30163"/>
                    </a:cubicBezTo>
                    <a:lnTo>
                      <a:pt x="0" y="211138"/>
                    </a:lnTo>
                    <a:cubicBezTo>
                      <a:pt x="0" y="227796"/>
                      <a:pt x="13504" y="241300"/>
                      <a:pt x="30163" y="241300"/>
                    </a:cubicBezTo>
                    <a:lnTo>
                      <a:pt x="180975" y="241300"/>
                    </a:lnTo>
                    <a:cubicBezTo>
                      <a:pt x="197633" y="241300"/>
                      <a:pt x="211138" y="227796"/>
                      <a:pt x="211138" y="211138"/>
                    </a:cubicBezTo>
                    <a:lnTo>
                      <a:pt x="211138" y="30163"/>
                    </a:lnTo>
                    <a:cubicBezTo>
                      <a:pt x="211138" y="13504"/>
                      <a:pt x="197633" y="0"/>
                      <a:pt x="180975" y="0"/>
                    </a:cubicBezTo>
                    <a:lnTo>
                      <a:pt x="150813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013031" y="1797844"/>
                <a:ext cx="90488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6032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60325" y="0"/>
                    </a:lnTo>
                    <a:cubicBezTo>
                      <a:pt x="76983" y="0"/>
                      <a:pt x="90488" y="13504"/>
                      <a:pt x="90488" y="30162"/>
                    </a:cubicBezTo>
                    <a:cubicBezTo>
                      <a:pt x="90488" y="46821"/>
                      <a:pt x="76983" y="60325"/>
                      <a:pt x="60325" y="60325"/>
                    </a:cubicBezTo>
                    <a:lnTo>
                      <a:pt x="30162" y="60325"/>
                    </a:lnTo>
                    <a:cubicBezTo>
                      <a:pt x="13504" y="60325"/>
                      <a:pt x="0" y="46821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013031" y="1933575"/>
                <a:ext cx="9525" cy="754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5406">
                    <a:moveTo>
                      <a:pt x="0" y="75406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058275" y="1993900"/>
                <a:ext cx="9525" cy="150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">
                    <a:moveTo>
                      <a:pt x="0" y="15081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103519" y="1963738"/>
                <a:ext cx="9525" cy="452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244">
                    <a:moveTo>
                      <a:pt x="0" y="45244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9368790" y="17868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当前边界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877300" y="2457450"/>
              <a:ext cx="2476500" cy="514350"/>
            </a:xfrm>
            <a:prstGeom prst="roundRect">
              <a:avLst>
                <a:gd name="adj" fmla="val 14815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088755" y="2635568"/>
              <a:ext cx="18975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多 Agent 调度仍需成熟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877300" y="3181350"/>
              <a:ext cx="2476500" cy="514350"/>
            </a:xfrm>
            <a:prstGeom prst="roundRect">
              <a:avLst>
                <a:gd name="adj" fmla="val 14815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088755" y="335946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评估仍偏案例复盘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877300" y="3905250"/>
              <a:ext cx="2476500" cy="514350"/>
            </a:xfrm>
            <a:prstGeom prst="roundRect">
              <a:avLst>
                <a:gd name="adj" fmla="val 14815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088755" y="4083368"/>
              <a:ext cx="20955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文本 timeline 阅读成本高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877300" y="4762500"/>
              <a:ext cx="2476500" cy="400050"/>
            </a:xfrm>
            <a:prstGeom prst="roundRect">
              <a:avLst>
                <a:gd name="adj" fmla="val 19048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111591" y="4896802"/>
              <a:ext cx="20079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下一步：自动分析 + 可视化回放</a:t>
              </a: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521970" y="6322695"/>
            <a:ext cx="36353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七、系统评估 / 八、问题与不足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7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5240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33400" y="6096000"/>
              <a:ext cx="111252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43890" y="1034415"/>
            <a:ext cx="9572054" cy="1080135"/>
            <a:chOff x="643890" y="1034415"/>
            <a:chExt cx="9572054" cy="1080135"/>
          </a:xfrm>
        </p:grpSpPr>
        <p:sp>
          <p:nvSpPr>
            <p:cNvPr id="6" name="TextBox 6"/>
            <p:cNvSpPr txBox="1"/>
            <p:nvPr/>
          </p:nvSpPr>
          <p:spPr>
            <a:xfrm>
              <a:off x="643890" y="1034415"/>
              <a:ext cx="768467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结论：可控 LLM 角色需要可追踪执行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01040" y="1748790"/>
              <a:ext cx="95149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项目的关键不是让 LLM 自由写出更像角色的台词，而是把它放入受规则约束的运行流程。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57250" y="2686050"/>
            <a:ext cx="9601200" cy="781050"/>
            <a:chOff x="857250" y="2686050"/>
            <a:chExt cx="9601200" cy="781050"/>
          </a:xfrm>
        </p:grpSpPr>
        <p:sp>
          <p:nvSpPr>
            <p:cNvPr id="9" name="Rectangle 9"/>
            <p:cNvSpPr/>
            <p:nvPr/>
          </p:nvSpPr>
          <p:spPr>
            <a:xfrm>
              <a:off x="857250" y="2686050"/>
              <a:ext cx="1600200" cy="781050"/>
            </a:xfrm>
            <a:prstGeom prst="roundRect">
              <a:avLst>
                <a:gd name="adj" fmla="val 975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140619" y="2938371"/>
              <a:ext cx="223837" cy="173923"/>
              <a:chOff x="1140619" y="2938371"/>
              <a:chExt cx="223837" cy="17392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140619" y="3093152"/>
                <a:ext cx="214312" cy="1914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9142">
                    <a:moveTo>
                      <a:pt x="0" y="19142"/>
                    </a:moveTo>
                    <a:cubicBezTo>
                      <a:pt x="33154" y="0"/>
                      <a:pt x="74002" y="0"/>
                      <a:pt x="107156" y="19142"/>
                    </a:cubicBezTo>
                    <a:cubicBezTo>
                      <a:pt x="140311" y="0"/>
                      <a:pt x="181158" y="0"/>
                      <a:pt x="214312" y="19142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40619" y="2938371"/>
                <a:ext cx="214312" cy="1914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9142">
                    <a:moveTo>
                      <a:pt x="0" y="19142"/>
                    </a:moveTo>
                    <a:cubicBezTo>
                      <a:pt x="33154" y="0"/>
                      <a:pt x="74002" y="0"/>
                      <a:pt x="107156" y="19142"/>
                    </a:cubicBezTo>
                    <a:cubicBezTo>
                      <a:pt x="140311" y="0"/>
                      <a:pt x="181158" y="0"/>
                      <a:pt x="214312" y="19142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40619" y="2957512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47775" y="2957512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354931" y="2957512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243108" y="2997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读取状态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857500" y="2686050"/>
              <a:ext cx="1600200" cy="781050"/>
            </a:xfrm>
            <a:prstGeom prst="roundRect">
              <a:avLst>
                <a:gd name="adj" fmla="val 975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3140869" y="2921794"/>
              <a:ext cx="214312" cy="214312"/>
              <a:chOff x="3140869" y="2921794"/>
              <a:chExt cx="214312" cy="21431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3248025" y="3040856"/>
                <a:ext cx="83344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0">
                    <a:moveTo>
                      <a:pt x="41672" y="0"/>
                    </a:moveTo>
                    <a:cubicBezTo>
                      <a:pt x="18657" y="0"/>
                      <a:pt x="0" y="18657"/>
                      <a:pt x="0" y="41672"/>
                    </a:cubicBezTo>
                    <a:lnTo>
                      <a:pt x="0" y="53578"/>
                    </a:lnTo>
                    <a:cubicBezTo>
                      <a:pt x="0" y="76593"/>
                      <a:pt x="18657" y="95250"/>
                      <a:pt x="41672" y="95250"/>
                    </a:cubicBezTo>
                    <a:cubicBezTo>
                      <a:pt x="64687" y="95250"/>
                      <a:pt x="83344" y="76593"/>
                      <a:pt x="83344" y="53578"/>
                    </a:cubicBezTo>
                    <a:lnTo>
                      <a:pt x="83344" y="3214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164681" y="3040856"/>
                <a:ext cx="83344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0">
                    <a:moveTo>
                      <a:pt x="41672" y="0"/>
                    </a:moveTo>
                    <a:cubicBezTo>
                      <a:pt x="64687" y="0"/>
                      <a:pt x="83344" y="18657"/>
                      <a:pt x="83344" y="41672"/>
                    </a:cubicBezTo>
                    <a:lnTo>
                      <a:pt x="83344" y="53578"/>
                    </a:lnTo>
                    <a:cubicBezTo>
                      <a:pt x="83344" y="76593"/>
                      <a:pt x="64687" y="95250"/>
                      <a:pt x="41672" y="95250"/>
                    </a:cubicBezTo>
                    <a:cubicBezTo>
                      <a:pt x="18657" y="95250"/>
                      <a:pt x="0" y="76593"/>
                      <a:pt x="0" y="53578"/>
                    </a:cubicBezTo>
                    <a:lnTo>
                      <a:pt x="0" y="3214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307556" y="2993231"/>
                <a:ext cx="476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83344">
                    <a:moveTo>
                      <a:pt x="5953" y="83344"/>
                    </a:moveTo>
                    <a:cubicBezTo>
                      <a:pt x="28968" y="83344"/>
                      <a:pt x="47625" y="64687"/>
                      <a:pt x="47625" y="41672"/>
                    </a:cubicBezTo>
                    <a:cubicBezTo>
                      <a:pt x="47625" y="18657"/>
                      <a:pt x="28968" y="0"/>
                      <a:pt x="5953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248025" y="2921794"/>
                <a:ext cx="83344" cy="75009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75009">
                    <a:moveTo>
                      <a:pt x="83344" y="75009"/>
                    </a:moveTo>
                    <a:lnTo>
                      <a:pt x="83344" y="41672"/>
                    </a:lnTo>
                    <a:cubicBezTo>
                      <a:pt x="83344" y="18657"/>
                      <a:pt x="64687" y="0"/>
                      <a:pt x="41672" y="0"/>
                    </a:cubicBezTo>
                    <a:cubicBezTo>
                      <a:pt x="18657" y="0"/>
                      <a:pt x="0" y="18657"/>
                      <a:pt x="0" y="41672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140869" y="2993231"/>
                <a:ext cx="476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83344">
                    <a:moveTo>
                      <a:pt x="41672" y="83344"/>
                    </a:move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164681" y="2921794"/>
                <a:ext cx="83344" cy="16073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160734">
                    <a:moveTo>
                      <a:pt x="0" y="75009"/>
                    </a:moveTo>
                    <a:lnTo>
                      <a:pt x="0" y="41672"/>
                    </a:lnTo>
                    <a:cubicBezTo>
                      <a:pt x="0" y="18657"/>
                      <a:pt x="18657" y="0"/>
                      <a:pt x="41672" y="0"/>
                    </a:cubicBezTo>
                    <a:cubicBezTo>
                      <a:pt x="64687" y="0"/>
                      <a:pt x="83344" y="18657"/>
                      <a:pt x="83344" y="41672"/>
                    </a:cubicBezTo>
                    <a:lnTo>
                      <a:pt x="83344" y="160734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3262408" y="2997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形成心智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857750" y="2686050"/>
              <a:ext cx="1600200" cy="781050"/>
            </a:xfrm>
            <a:prstGeom prst="roundRect">
              <a:avLst>
                <a:gd name="adj" fmla="val 975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5164931" y="2909888"/>
              <a:ext cx="166688" cy="226218"/>
              <a:chOff x="5164931" y="2909888"/>
              <a:chExt cx="166688" cy="22621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176838" y="2933700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71438"/>
                    </a:lnTo>
                    <a:cubicBezTo>
                      <a:pt x="142875" y="84589"/>
                      <a:pt x="132214" y="95250"/>
                      <a:pt x="119062" y="95250"/>
                    </a:cubicBezTo>
                    <a:lnTo>
                      <a:pt x="23812" y="95250"/>
                    </a:lnTo>
                    <a:cubicBezTo>
                      <a:pt x="10661" y="95250"/>
                      <a:pt x="0" y="84589"/>
                      <a:pt x="0" y="71438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248275" y="2909888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212556" y="3028950"/>
                <a:ext cx="9525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156">
                    <a:moveTo>
                      <a:pt x="0" y="0"/>
                    </a:moveTo>
                    <a:lnTo>
                      <a:pt x="0" y="107156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283994" y="3028950"/>
                <a:ext cx="9525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156">
                    <a:moveTo>
                      <a:pt x="0" y="0"/>
                    </a:moveTo>
                    <a:lnTo>
                      <a:pt x="0" y="107156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164931" y="3052762"/>
                <a:ext cx="476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3812">
                    <a:moveTo>
                      <a:pt x="0" y="23812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283994" y="3052762"/>
                <a:ext cx="476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3812">
                    <a:moveTo>
                      <a:pt x="0" y="0"/>
                    </a:moveTo>
                    <a:lnTo>
                      <a:pt x="47625" y="23812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212556" y="3100388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224462" y="29813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272088" y="29813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5262658" y="2997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提出意图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858000" y="2686050"/>
              <a:ext cx="1600200" cy="781050"/>
            </a:xfrm>
            <a:prstGeom prst="roundRect">
              <a:avLst>
                <a:gd name="adj" fmla="val 9756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125301" y="2921794"/>
              <a:ext cx="232508" cy="214312"/>
              <a:chOff x="7125301" y="2921794"/>
              <a:chExt cx="232508" cy="214312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125301" y="2921794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84244" y="3088481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262908" y="2997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校验执行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858250" y="2686050"/>
              <a:ext cx="1600200" cy="781050"/>
            </a:xfrm>
            <a:prstGeom prst="roundRect">
              <a:avLst>
                <a:gd name="adj" fmla="val 9756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9141619" y="2969419"/>
              <a:ext cx="214312" cy="119062"/>
              <a:chOff x="9141619" y="2969419"/>
              <a:chExt cx="214312" cy="1190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153525" y="298132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71438" y="11906"/>
                    </a:lnTo>
                    <a:lnTo>
                      <a:pt x="130969" y="71438"/>
                    </a:ln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272588" y="3040856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213056" y="2981325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141619" y="306466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332119" y="296941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9263158" y="2997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导出证据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2457450" y="3076575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2762250" y="3019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53" name="Line 53"/>
            <p:cNvSpPr/>
            <p:nvPr/>
          </p:nvSpPr>
          <p:spPr>
            <a:xfrm>
              <a:off x="4457700" y="3076575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4" name="Polygon 54"/>
            <p:cNvSpPr/>
            <p:nvPr/>
          </p:nvSpPr>
          <p:spPr>
            <a:xfrm>
              <a:off x="4762500" y="3019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55" name="Line 55"/>
            <p:cNvSpPr/>
            <p:nvPr/>
          </p:nvSpPr>
          <p:spPr>
            <a:xfrm>
              <a:off x="6457950" y="3076575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6762750" y="3019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57" name="Line 57"/>
            <p:cNvSpPr/>
            <p:nvPr/>
          </p:nvSpPr>
          <p:spPr>
            <a:xfrm>
              <a:off x="8458200" y="3076575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8" name="Polygon 58"/>
            <p:cNvSpPr/>
            <p:nvPr/>
          </p:nvSpPr>
          <p:spPr>
            <a:xfrm>
              <a:off x="8763000" y="3019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796290" y="4072890"/>
            <a:ext cx="10709910" cy="1203960"/>
            <a:chOff x="796290" y="4072890"/>
            <a:chExt cx="10709910" cy="1203960"/>
          </a:xfrm>
        </p:grpSpPr>
        <p:sp>
          <p:nvSpPr>
            <p:cNvPr id="60" name="TextBox 60"/>
            <p:cNvSpPr txBox="1"/>
            <p:nvPr/>
          </p:nvSpPr>
          <p:spPr>
            <a:xfrm>
              <a:off x="796290" y="40728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后续工作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19150" y="4572000"/>
              <a:ext cx="245745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49655" y="4692968"/>
              <a:ext cx="12345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多 Agent 调度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53465" y="4982528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更稳定的事件顺序与冲突解决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562350" y="4572000"/>
              <a:ext cx="245745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792855" y="46929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长期记忆质量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796665" y="4982528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筛选、压缩、检索相关性评估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305550" y="4572000"/>
              <a:ext cx="245745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36055" y="46929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自动评估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539865" y="4982528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状态一致性、越权率、任务推进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048750" y="4572000"/>
              <a:ext cx="245745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279255" y="4692968"/>
              <a:ext cx="1385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Timeline 可视化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283065" y="4982528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降低课堂展示和复盘成本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23900" y="5600700"/>
            <a:ext cx="10782300" cy="357188"/>
            <a:chOff x="723900" y="5600700"/>
            <a:chExt cx="10782300" cy="357188"/>
          </a:xfrm>
        </p:grpSpPr>
        <p:sp>
          <p:nvSpPr>
            <p:cNvPr id="74" name="Rectangle 74"/>
            <p:cNvSpPr/>
            <p:nvPr/>
          </p:nvSpPr>
          <p:spPr>
            <a:xfrm>
              <a:off x="723900" y="5600700"/>
              <a:ext cx="10782300" cy="342900"/>
            </a:xfrm>
            <a:prstGeom prst="roundRect">
              <a:avLst>
                <a:gd name="adj" fmla="val 22222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2695480" y="5683568"/>
              <a:ext cx="68391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从课堂项目角度，它已经形成一个可运行、可观察、可验证的 LLM 角色 Agent 原型。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712470" y="6322695"/>
            <a:ext cx="10767060" cy="182880"/>
            <a:chOff x="712470" y="6322695"/>
            <a:chExt cx="10767060" cy="182880"/>
          </a:xfrm>
        </p:grpSpPr>
        <p:sp>
          <p:nvSpPr>
            <p:cNvPr id="77" name="TextBox 77"/>
            <p:cNvSpPr txBox="1"/>
            <p:nvPr/>
          </p:nvSpPr>
          <p:spPr>
            <a:xfrm>
              <a:off x="712470" y="6322695"/>
              <a:ext cx="24171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Source: course_report_zh.md · 十、总结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054620" y="63226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9" grpId="0"/>
      <p:bldP spid="73" grpId="0"/>
      <p:bldP spid="7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2026-06-08T04:53:56Z</dcterms:created>
  <dcterms:modified xsi:type="dcterms:W3CDTF">2026-06-08T04:53:56Z</dcterms:modified>
  <cp:category/>
  <cp:contentStatus/>
</cp:coreProperties>
</file>