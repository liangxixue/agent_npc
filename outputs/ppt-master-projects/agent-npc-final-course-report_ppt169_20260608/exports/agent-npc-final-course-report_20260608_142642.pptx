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大家好，我是薛良玺。这次课程汇报的主题是“记忆驱动的可验证 LLM 角色 Agent 系统”。项目关注的不是做一个普通聊天界面，而是把 LLM 角色对话放入状态、记忆、校验和 trace 组成的运行链路中。接下来我会先说明普通角色聊天为什么不足，再展示项目如何从单 NPC 对话逐步演进到 Traveler living-world runtime。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项目的起点是一个很具体的问题：角色说了什么，并不等于世界里真的发生了什么。普通 LLM 对话可能生成“入口已经解锁”这样的文本，但数据库、任务状态和物品并没有对应变化；如果只保存最终回复，也很难回头解释一次行为为什么发生。这里列出的三个风险分别是语言幻觉、上下文断裂和不可复盘。我的设计目标，就是把角色语言能力保留下来，同时把世界事实交给可验证的程序流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基于这个问题，项目目标可以概括为四个支柱：状态、记忆、校验和 trace。状态层用 SQLite 保存任务、地点、物品和关系；记忆层把近期上下文、长期记忆和 lore 带入角色决策；校验层阻止 LLM 直接越权改写世界事实；trace 则记录每一步中间过程。这样，一个 NPC 不只是会回复一句话，而是能在受控流程里读取状态、形成计划、提出行动，并留下证据。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这页讲的是项目能力的演进历史，而不是版本号清单。第一阶段先做单 NPC 记忆对话原型，验证能否读取状态、调用 LLM、回复玩家并留下 trace。第二阶段发现角色只看当前输入不稳定，所以加入分层上下文、lore 检索、长期记忆和玩家端界面。第三阶段把 NPCMind、NarrativeEnvironment 和 ActionValidator 拆出来，解决 LLM 语言意图和世界事实执行权混在一起的问题。最后加入 autonomous runtime、Traveler profile 和 timeline export，让项目变成可以自动探索、多 NPC 互动、并能在课堂上复盘展示的 living world。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image" Target="../media/image_825dc1ad8da2edc6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e1510c1ebbad19.png"/>
  <Relationship Id="rId3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725" y="209550"/>
            <a:ext cx="742950" cy="74295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838200" y="2071688"/>
            <a:ext cx="10865453" cy="3719512"/>
            <a:chOff x="838200" y="2071688"/>
            <a:chExt cx="10865453" cy="3719512"/>
          </a:xfrm>
        </p:grpSpPr>
        <p:sp>
          <p:nvSpPr>
            <p:cNvPr id="5" name="TextBox 5"/>
            <p:cNvSpPr txBox="1"/>
            <p:nvPr/>
          </p:nvSpPr>
          <p:spPr>
            <a:xfrm>
              <a:off x="4295775" y="207168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记忆驱动的可验证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95775" y="2700338"/>
              <a:ext cx="508337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LLM 角色 Agent 系统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17547" y="3335655"/>
              <a:ext cx="61861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从单 NPC 对话到 Traveler living-world runtime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38200" y="3981450"/>
              <a:ext cx="10496550" cy="9525"/>
            </a:xfrm>
            <a:custGeom>
              <a:avLst/>
              <a:gdLst/>
              <a:ahLst/>
              <a:cxnLst/>
              <a:rect l="l" t="t" r="r" b="b"/>
              <a:pathLst>
                <a:path w="10496550" h="9525">
                  <a:moveTo>
                    <a:pt x="0" y="0"/>
                  </a:moveTo>
                  <a:lnTo>
                    <a:pt x="104965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391400" y="3952875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noFill/>
            <a:ln w="38100">
              <a:solidFill>
                <a:srgbClr val="E875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1875" y="4348162"/>
              <a:ext cx="24574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课程项目最终汇报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75721" y="5009198"/>
              <a:ext cx="18697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汇报人：薛良玺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31646" y="54254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2026年6月9日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7774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问题定义：角色聊天不等于世界状态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1943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为什么普通 LLM 角色对话不足以支撑可复盘系统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76300" y="1885950"/>
            <a:ext cx="10420350" cy="2724150"/>
            <a:chOff x="876300" y="1885950"/>
            <a:chExt cx="10420350" cy="2724150"/>
          </a:xfrm>
        </p:grpSpPr>
        <p:sp>
          <p:nvSpPr>
            <p:cNvPr id="7" name="Rectangle 7"/>
            <p:cNvSpPr/>
            <p:nvPr/>
          </p:nvSpPr>
          <p:spPr>
            <a:xfrm>
              <a:off x="876300" y="1885950"/>
              <a:ext cx="314325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5380" y="2154555"/>
              <a:ext cx="164113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01 语言幻觉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41095" y="2717482"/>
              <a:ext cx="2577465" cy="1021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角色可以说“入口已解锁”，</a:t>
              </a: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但数据库和任务状态并未</a:t>
              </a: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真的发生对应变化。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514850" y="1885950"/>
              <a:ext cx="314325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73930" y="2154555"/>
              <a:ext cx="19351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02 上下文断裂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79645" y="2717482"/>
              <a:ext cx="2556510" cy="1021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只看当前输入时，角色很难</a:t>
              </a: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稳定保持地点、关系、知识</a:t>
              </a: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边界和长期目标。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153400" y="1885950"/>
              <a:ext cx="314325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12480" y="2154555"/>
              <a:ext cx="164113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03 无法复盘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18195" y="2717482"/>
              <a:ext cx="2766060" cy="1021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如果只保存最终回复，就很难</a:t>
              </a: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解释一次行为为什么发生、</a:t>
              </a:r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又如何改变状态。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876300" y="53340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53440" y="55587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核心问题：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72640" y="5558790"/>
            <a:ext cx="66345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如何保留 LLM 的表达能力，同时让世界事实由程序规则维护？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0593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项目目标：状态 + 记忆 + 校验 + Trace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74386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 LLM 角色 Agent 的每次行动都有上下文、有边界、有结果、有证据</a:t>
            </a:r>
          </a:p>
        </p:txBody>
      </p:sp>
      <p:sp>
        <p:nvSpPr>
          <p:cNvPr id="7" name="Rectangle 7"/>
          <p:cNvSpPr/>
          <p:nvPr/>
        </p:nvSpPr>
        <p:spPr>
          <a:xfrm>
            <a:off x="3105150" y="1790700"/>
            <a:ext cx="5981700" cy="10287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066675" y="2176462"/>
            <a:ext cx="60586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构建可运行、可观察、可验证的角色 Agent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76300" y="3390900"/>
            <a:ext cx="11736229" cy="1352550"/>
            <a:chOff x="876300" y="3390900"/>
            <a:chExt cx="11736229" cy="1352550"/>
          </a:xfrm>
        </p:grpSpPr>
        <p:sp>
          <p:nvSpPr>
            <p:cNvPr id="9" name="Rectangle 9"/>
            <p:cNvSpPr/>
            <p:nvPr/>
          </p:nvSpPr>
          <p:spPr>
            <a:xfrm>
              <a:off x="876300" y="3390900"/>
              <a:ext cx="23812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5380" y="36404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4105275"/>
              <a:ext cx="4148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SQLite 保存任务、地点、物品、关系和事件。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676650" y="3390900"/>
              <a:ext cx="23812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35730" y="36404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记忆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43350" y="4105275"/>
              <a:ext cx="4148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近期上下文、长期记忆、稳定 lore 进入决策。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77000" y="3390900"/>
              <a:ext cx="23812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36080" y="36404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0" y="4105275"/>
              <a:ext cx="33885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Validator 拦截越界行动并安全降级。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277350" y="3390900"/>
              <a:ext cx="20383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36430" y="3640455"/>
              <a:ext cx="8619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44050" y="4105275"/>
              <a:ext cx="30684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记录决策、状态变化和 timeline。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876300" y="53340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53440" y="55587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设计约束：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72640" y="555879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自然语言可以影响关系和事件，但不能绕过规则直接改写事实。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18781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项目演进：从“会聊天”到可验证 living world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按能力阶段解释项目为什么不断增加模块</a:t>
            </a:r>
          </a:p>
        </p:txBody>
      </p:sp>
      <p:sp>
        <p:nvSpPr>
          <p:cNvPr id="7" name="Line 7"/>
          <p:cNvSpPr/>
          <p:nvPr/>
        </p:nvSpPr>
        <p:spPr>
          <a:xfrm>
            <a:off x="1676400" y="2190750"/>
            <a:ext cx="8839200" cy="9525"/>
          </a:xfrm>
          <a:custGeom>
            <a:avLst/>
            <a:gdLst/>
            <a:ahLst/>
            <a:cxnLst/>
            <a:rect l="l" t="t" r="r" b="b"/>
            <a:pathLst>
              <a:path w="8839200" h="9525">
                <a:moveTo>
                  <a:pt x="0" y="0"/>
                </a:moveTo>
                <a:lnTo>
                  <a:pt x="8839200" y="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1143000" y="2076450"/>
            <a:ext cx="10458450" cy="2552700"/>
            <a:chOff x="1143000" y="2076450"/>
            <a:chExt cx="10458450" cy="2552700"/>
          </a:xfrm>
        </p:grpSpPr>
        <p:sp>
          <p:nvSpPr>
            <p:cNvPr id="8" name="Ellipse 8"/>
            <p:cNvSpPr/>
            <p:nvPr/>
          </p:nvSpPr>
          <p:spPr>
            <a:xfrm>
              <a:off x="1981200" y="2076450"/>
              <a:ext cx="228600" cy="228600"/>
            </a:xfrm>
            <a:prstGeom prst="ellipse">
              <a:avLst/>
            </a:prstGeom>
            <a:solidFill>
              <a:srgbClr val="A4001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143000" y="2628900"/>
              <a:ext cx="2381250" cy="20002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84935" y="2875598"/>
              <a:ext cx="186520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1. 单 NPC 原型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0650" y="3343275"/>
              <a:ext cx="197167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验证最小闭环：</a:t>
              </a: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读取状态、调用 LLM、</a:t>
              </a: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回复并留下 trace。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267200" y="2076450"/>
              <a:ext cx="228600" cy="228600"/>
            </a:xfrm>
            <a:prstGeom prst="ellipse">
              <a:avLst/>
            </a:prstGeom>
            <a:solidFill>
              <a:srgbClr val="A4001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10000" y="2628900"/>
              <a:ext cx="2381250" cy="20002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51935" y="2875598"/>
              <a:ext cx="1837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2. 上下文与 UI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57650" y="3343275"/>
              <a:ext cx="218122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加入 lore、近期上下文、</a:t>
              </a: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长期记忆和玩家端界面，</a:t>
              </a: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减少角色断裂。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553200" y="2076450"/>
              <a:ext cx="228600" cy="228600"/>
            </a:xfrm>
            <a:prstGeom prst="ellipse">
              <a:avLst/>
            </a:prstGeom>
            <a:solidFill>
              <a:srgbClr val="A4001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7000" y="2628900"/>
              <a:ext cx="2381250" cy="20002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18935" y="2875598"/>
              <a:ext cx="179694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3. 心智与校验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24650" y="3343275"/>
              <a:ext cx="240982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拆出 NPCMind、</a:t>
              </a: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Environment、Validator，</a:t>
              </a: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分离语言与事实。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839200" y="2076450"/>
              <a:ext cx="228600" cy="228600"/>
            </a:xfrm>
            <a:prstGeom prst="ellipse">
              <a:avLst/>
            </a:prstGeom>
            <a:solidFill>
              <a:srgbClr val="A4001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44000" y="2628900"/>
              <a:ext cx="2095500" cy="20002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85935" y="2875598"/>
              <a:ext cx="15648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4. Traveler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0" y="3343275"/>
              <a:ext cx="2209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加入自主运行、</a:t>
              </a: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多 NPC 覆盖和 timeline，</a:t>
              </a:r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用于课堂复盘展示。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876300" y="53340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5587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演进逻辑：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558790"/>
            <a:ext cx="5362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每一阶段都在补上“可控角色 Agent”的一个缺口。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951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总体架构：输入到 timeline 的受控链路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0824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负责提出意图，事实改变交给校验、执行和状态写入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38200" y="2038350"/>
            <a:ext cx="10248900" cy="819150"/>
            <a:chOff x="838200" y="2038350"/>
            <a:chExt cx="10248900" cy="819150"/>
          </a:xfrm>
        </p:grpSpPr>
        <p:sp>
          <p:nvSpPr>
            <p:cNvPr id="7" name="Rectangle 7"/>
            <p:cNvSpPr/>
            <p:nvPr/>
          </p:nvSpPr>
          <p:spPr>
            <a:xfrm>
              <a:off x="8382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15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212" y="2518410"/>
              <a:ext cx="11986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玩家 / Traveler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0985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91133" y="22126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9895" y="25184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状态切片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8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7517" y="2518410"/>
              <a:ext cx="1118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531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8565" y="2212658"/>
              <a:ext cx="9198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1176" y="2518410"/>
              <a:ext cx="97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belief / plan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248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85468" y="221265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2846" y="2518410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decision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964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79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6458" y="251841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/ repair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2288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25146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0005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2862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7721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579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295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931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6012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809750" y="2857500"/>
            <a:ext cx="8591550" cy="2019300"/>
            <a:chOff x="1809750" y="2857500"/>
            <a:chExt cx="8591550" cy="2019300"/>
          </a:xfrm>
        </p:grpSpPr>
        <p:sp>
          <p:nvSpPr>
            <p:cNvPr id="36" name="Rectangle 36"/>
            <p:cNvSpPr/>
            <p:nvPr/>
          </p:nvSpPr>
          <p:spPr>
            <a:xfrm>
              <a:off x="180975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8666" y="4089082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1858" y="4445318"/>
              <a:ext cx="19875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将 decision 转为 action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0125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00761" y="4089082"/>
              <a:ext cx="21904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8742" y="44453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保存任务、物品、关系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14837" y="4089082"/>
              <a:ext cx="1763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Timeline Export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59140" y="44453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输出课堂复盘证据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0391775" y="28575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095625" y="339090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729615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095625" y="33909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3038475" y="3790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4381500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4714875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7381875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715250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54" name="Line 54"/>
          <p:cNvSpPr/>
          <p:nvPr/>
        </p:nvSpPr>
        <p:spPr>
          <a:xfrm>
            <a:off x="876300" y="5524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53440" y="57302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关键边界：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72640" y="5730240"/>
            <a:ext cx="44022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提出意图，系统决定事实是否发生。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9021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模块职责：LLM 参与认知，系统掌握执行权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三层责任边界：认知、校验、事实与证据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1924050"/>
            <a:ext cx="11104245" cy="2800350"/>
            <a:chOff x="914400" y="1924050"/>
            <a:chExt cx="11104245" cy="2800350"/>
          </a:xfrm>
        </p:grpSpPr>
        <p:sp>
          <p:nvSpPr>
            <p:cNvPr id="7" name="Rectangle 7"/>
            <p:cNvSpPr/>
            <p:nvPr/>
          </p:nvSpPr>
          <p:spPr>
            <a:xfrm>
              <a:off x="9144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53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认知与意图层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9195" y="2717482"/>
              <a:ext cx="1593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3098482"/>
              <a:ext cx="8780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9195" y="3479482"/>
              <a:ext cx="13730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 Decision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4026218"/>
              <a:ext cx="45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补充上下文，形成 belief / goal / plan，提出行动意图。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14850" y="1924050"/>
              <a:ext cx="3143250" cy="28003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14850" y="1924050"/>
              <a:ext cx="3143250" cy="533400"/>
            </a:xfrm>
            <a:prstGeom prst="rect">
              <a:avLst/>
            </a:prstGeom>
            <a:solidFill>
              <a:srgbClr val="FFF1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583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校验与执行层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9645" y="2717482"/>
              <a:ext cx="16921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9645" y="3098482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9645" y="3479482"/>
              <a:ext cx="1626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 Surface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455" y="402621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检查行动是否允许，把 decision 转成系统 action。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153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153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62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事实与证据层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095" y="2717482"/>
              <a:ext cx="20881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0095" y="3098482"/>
              <a:ext cx="17471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 / Timeline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0095" y="3479482"/>
              <a:ext cx="18571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Traveler Runtime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3905" y="40262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保存事实状态，把运行过程导出为复盘证据。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405765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41960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765810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02005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汇报重点：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72640" y="5615940"/>
            <a:ext cx="68265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可以决定“想做什么”，但事实只由校验后的系统流程写入。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7774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记忆与检索：让角色带着上下文行动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2462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回复和 decision 不只依赖当前一句输入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450" y="1809750"/>
            <a:ext cx="2857500" cy="3105150"/>
            <a:chOff x="933450" y="1809750"/>
            <a:chExt cx="2857500" cy="3105150"/>
          </a:xfrm>
        </p:grpSpPr>
        <p:sp>
          <p:nvSpPr>
            <p:cNvPr id="7" name="Rectangle 7"/>
            <p:cNvSpPr/>
            <p:nvPr/>
          </p:nvSpPr>
          <p:spPr>
            <a:xfrm>
              <a:off x="933450" y="18097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245" y="20126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近期上下文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33450" y="26479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8245" y="2850832"/>
              <a:ext cx="977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稳定 lore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34861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245" y="36890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长期记忆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43243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8245" y="45272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任务与状态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790950" y="21050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7" name="Line 17"/>
          <p:cNvSpPr/>
          <p:nvPr/>
        </p:nvSpPr>
        <p:spPr>
          <a:xfrm>
            <a:off x="3790950" y="29432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8" name="Line 18"/>
          <p:cNvSpPr/>
          <p:nvPr/>
        </p:nvSpPr>
        <p:spPr>
          <a:xfrm>
            <a:off x="3790950" y="37814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9" name="Line 19"/>
          <p:cNvSpPr/>
          <p:nvPr/>
        </p:nvSpPr>
        <p:spPr>
          <a:xfrm>
            <a:off x="3790950" y="46196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0" name="Line 20"/>
          <p:cNvSpPr/>
          <p:nvPr/>
        </p:nvSpPr>
        <p:spPr>
          <a:xfrm>
            <a:off x="4400550" y="2105025"/>
            <a:ext cx="9525" cy="2514600"/>
          </a:xfrm>
          <a:custGeom>
            <a:avLst/>
            <a:gdLst/>
            <a:ahLst/>
            <a:cxnLst/>
            <a:rect l="l" t="t" r="r" b="b"/>
            <a:pathLst>
              <a:path w="9525"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1" name="Line 21"/>
          <p:cNvSpPr/>
          <p:nvPr/>
        </p:nvSpPr>
        <p:spPr>
          <a:xfrm>
            <a:off x="4400550" y="3362325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04825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143500" y="2552700"/>
            <a:ext cx="2000250" cy="16192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62723" y="2992755"/>
            <a:ext cx="13618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Retrieval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9472" y="34004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typed + semantic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85862" y="3721418"/>
            <a:ext cx="1915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返回 memory snippets</a:t>
            </a:r>
          </a:p>
        </p:txBody>
      </p:sp>
      <p:sp>
        <p:nvSpPr>
          <p:cNvPr id="27" name="Line 27"/>
          <p:cNvSpPr/>
          <p:nvPr/>
        </p:nvSpPr>
        <p:spPr>
          <a:xfrm>
            <a:off x="7143750" y="3362325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777240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867650" y="1962150"/>
            <a:ext cx="3429000" cy="28003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47685" y="2246948"/>
            <a:ext cx="28754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合成后的 Agent 上下文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495" y="285083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Observation：当前局面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51495" y="3231832"/>
            <a:ext cx="26162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Memory：历史互动与关系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51495" y="3612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Lore：稳定世界设定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51495" y="3993832"/>
            <a:ext cx="17911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Quest：任务条件</a:t>
            </a:r>
          </a:p>
        </p:txBody>
      </p:sp>
      <p:sp>
        <p:nvSpPr>
          <p:cNvPr id="35" name="Line 3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后台流程：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2640" y="5615940"/>
            <a:ext cx="65865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 jobs 将运行中的交互和反思整理成后续可检索内容。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808042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+ ActionValidator：自由表达，受控执行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角色可以有主观状态，但世界事实必须经过规则边界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0600" y="1981200"/>
            <a:ext cx="10210800" cy="2724150"/>
            <a:chOff x="990600" y="1981200"/>
            <a:chExt cx="10210800" cy="2724150"/>
          </a:xfrm>
        </p:grpSpPr>
        <p:sp>
          <p:nvSpPr>
            <p:cNvPr id="7" name="Rectangle 7"/>
            <p:cNvSpPr/>
            <p:nvPr/>
          </p:nvSpPr>
          <p:spPr>
            <a:xfrm>
              <a:off x="990600" y="1981200"/>
              <a:ext cx="419100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825" y="2233612"/>
              <a:ext cx="125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3492" y="2842736"/>
              <a:ext cx="229809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belief：角色相信什么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3492" y="3223736"/>
              <a:ext cx="25281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emotion：当前情绪倾向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3492" y="3604736"/>
              <a:ext cx="258563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goal / plan：下一步策略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63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让角色回复前先形成可记录的主观判断。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10400" y="1981200"/>
              <a:ext cx="4191000" cy="2724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6625" y="2233612"/>
              <a:ext cx="24199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3292" y="2842736"/>
              <a:ext cx="22635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 action 是否存在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3292" y="3223736"/>
              <a:ext cx="280416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检查任务、地点、物品条件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3292" y="3604736"/>
              <a:ext cx="211407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阻止或修复越界输出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61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确保自然语言不能直接改写数据库事实。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181600" y="3343275"/>
            <a:ext cx="1828800" cy="9525"/>
          </a:xfrm>
          <a:custGeom>
            <a:avLst/>
            <a:gdLst/>
            <a:ahLst/>
            <a:cxnLst/>
            <a:rect l="l" t="t" r="r" b="b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915150" y="32861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86901" y="3009900"/>
            <a:ext cx="818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decision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设计效果：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2640" y="5615940"/>
            <a:ext cx="7246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保留角色语言的灵活性，同时避免一句自然语言直接改变世界事实。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5559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Autonomous NPC Runtime：NPC 响应世界事件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545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 不只等待玩家输入，也能在事件触发后生成受约束主动行为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2171700"/>
            <a:ext cx="10572750" cy="781050"/>
            <a:chOff x="876300" y="2171700"/>
            <a:chExt cx="10572750" cy="781050"/>
          </a:xfrm>
        </p:grpSpPr>
        <p:sp>
          <p:nvSpPr>
            <p:cNvPr id="7" name="Rectangle 7"/>
            <p:cNvSpPr/>
            <p:nvPr/>
          </p:nvSpPr>
          <p:spPr>
            <a:xfrm>
              <a:off x="87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766" y="24603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world event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32784" y="2460308"/>
              <a:ext cx="10210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 inbox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8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5754" y="2460308"/>
              <a:ext cx="15050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ActionCatalog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91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1289" y="246030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LLM tick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96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8291" y="2460308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validate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01300" y="2171700"/>
              <a:ext cx="104775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31091" y="2362200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51081" y="2619375"/>
              <a:ext cx="748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mailbox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40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8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30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9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21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49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11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40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002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30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00150" y="3848100"/>
            <a:ext cx="9791700" cy="990600"/>
            <a:chOff x="1200150" y="3848100"/>
            <a:chExt cx="979170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001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630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6850" y="4391025"/>
              <a:ext cx="26284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可行动作来自 ActionCatalog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301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3950" y="4391025"/>
              <a:ext cx="24984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自主 tick 也经过 Validator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343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72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1050" y="4391025"/>
              <a:ext cx="2478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结果写入 mailbox 与 trace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53440" y="5615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运行时价值：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01240" y="561594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让世界事件以可约束、可复盘的方式影响角色行为。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2770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Runtime：用 profile 驱动自动探索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905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是 living-world simulation 中可配置的自动探索角色</a:t>
            </a:r>
          </a:p>
        </p:txBody>
      </p:sp>
      <p:sp>
        <p:nvSpPr>
          <p:cNvPr id="7" name="Rectangle 7"/>
          <p:cNvSpPr/>
          <p:nvPr/>
        </p:nvSpPr>
        <p:spPr>
          <a:xfrm>
            <a:off x="990600" y="1847850"/>
            <a:ext cx="3429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2097405"/>
            <a:ext cx="18322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YAML Profile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3495" y="2717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公开身份：角色如何自我介绍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495" y="3098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私人目标：探索偏好与动机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495" y="347948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隐藏信息：不能直接暴露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495" y="3860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行动边界：移动、询问、检查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495" y="4241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探索风格：谨慎或追求声望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19700" y="1981200"/>
            <a:ext cx="4991100" cy="2724150"/>
            <a:chOff x="5219700" y="1981200"/>
            <a:chExt cx="4991100" cy="2724150"/>
          </a:xfrm>
        </p:grpSpPr>
        <p:sp>
          <p:nvSpPr>
            <p:cNvPr id="14" name="Rectangle 14"/>
            <p:cNvSpPr/>
            <p:nvPr/>
          </p:nvSpPr>
          <p:spPr>
            <a:xfrm>
              <a:off x="52197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9939" y="2184082"/>
              <a:ext cx="9330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37738" y="2184082"/>
              <a:ext cx="9550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Retrieve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77300" y="1981200"/>
              <a:ext cx="1333500" cy="5905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7553" y="21840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Decide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773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41572" y="4317682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98245" y="4317682"/>
              <a:ext cx="834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Reflect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532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9532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7820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544050" y="2571750"/>
              <a:ext cx="9525" cy="1543050"/>
            </a:xfrm>
            <a:custGeom>
              <a:avLst/>
              <a:gdLst/>
              <a:ahLst/>
              <a:cxnLst/>
              <a:rect l="l" t="t" r="r" b="b"/>
              <a:pathLst>
                <a:path w="9525" h="1543050">
                  <a:moveTo>
                    <a:pt x="0" y="0"/>
                  </a:moveTo>
                  <a:lnTo>
                    <a:pt x="0" y="154305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486900" y="4019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382000" y="44100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495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382000" y="4352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886450" y="4410075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886450" y="2571750"/>
              <a:ext cx="9525" cy="1838325"/>
            </a:xfrm>
            <a:custGeom>
              <a:avLst/>
              <a:gdLst/>
              <a:ahLst/>
              <a:cxnLst/>
              <a:rect l="l" t="t" r="r" b="b"/>
              <a:pathLst>
                <a:path w="9525" h="1838325">
                  <a:moveTo>
                    <a:pt x="0" y="1838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829300" y="2571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36" name="Line 36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3440" y="5615940"/>
            <a:ext cx="1847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字段：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96490" y="5615940"/>
            <a:ext cx="71266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行动理由、Traveler 发言、NPC 回复、状态变化、arc evidence。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062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真实证据：界面、课堂 trace 与多 NPC 覆盖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1304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当前仓库中的真实截图和 trace 文件证明系统已经可运行</a:t>
            </a:r>
          </a:p>
        </p:txBody>
      </p:sp>
      <p:sp>
        <p:nvSpPr>
          <p:cNvPr id="7" name="Rectangle 7"/>
          <p:cNvSpPr/>
          <p:nvPr/>
        </p:nvSpPr>
        <p:spPr>
          <a:xfrm>
            <a:off x="723900" y="167640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56" y="1885950"/>
            <a:ext cx="4563687" cy="34861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2505" y="5454968"/>
            <a:ext cx="52369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React/Vite 玩家端界面截图：保留交互界面和开发者 trace 面板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20050" y="1676400"/>
            <a:ext cx="32766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36280" y="1964055"/>
            <a:ext cx="21262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Trace 证据字段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1995" y="2603182"/>
            <a:ext cx="25612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发言与行动理由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41995" y="2984182"/>
            <a:ext cx="20111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 回复与角色意图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1995" y="33651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关系变化和状态更新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1995" y="3746182"/>
            <a:ext cx="2550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探索线索与 arc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41995" y="4127182"/>
            <a:ext cx="24512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outcome 与 timing</a:t>
            </a:r>
          </a:p>
        </p:txBody>
      </p:sp>
      <p:sp>
        <p:nvSpPr>
          <p:cNvPr id="17" name="Line 17"/>
          <p:cNvSpPr/>
          <p:nvPr/>
        </p:nvSpPr>
        <p:spPr>
          <a:xfrm>
            <a:off x="8362950" y="47815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45805" y="4997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classroom_showcase_llm_run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5805" y="52644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sable_advantage_llm_run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06312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路线：语言行为与状态变化分离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真实 trace 显示：角色关系可以推进，但任务事实仍由规则控制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6300" y="1847850"/>
            <a:ext cx="10439400" cy="2952750"/>
            <a:chOff x="876300" y="1847850"/>
            <a:chExt cx="10439400" cy="2952750"/>
          </a:xfrm>
        </p:grpSpPr>
        <p:sp>
          <p:nvSpPr>
            <p:cNvPr id="7" name="Rectangle 7"/>
            <p:cNvSpPr/>
            <p:nvPr/>
          </p:nvSpPr>
          <p:spPr>
            <a:xfrm>
              <a:off x="876300" y="1847850"/>
              <a:ext cx="1043940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195" y="2012632"/>
              <a:ext cx="18323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Traveler reason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8495" y="201263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通过非正式信息渠道建立信任，并获取遗迹相关传闻。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3005" y="2349818"/>
              <a:ext cx="42648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action: speak_to_npc / ask_about_ruins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914650"/>
              <a:ext cx="10439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9195" y="3079432"/>
              <a:ext cx="17053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Sable response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8495" y="3079432"/>
              <a:ext cx="48275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可以试探、转移话题、引导 Traveler 继续对话。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416618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relationship delta recorded / dialogue strategy changed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981450"/>
              <a:ext cx="1043940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9195" y="4146232"/>
              <a:ext cx="24677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Response constraints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3795" y="4146232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不能声称遗迹入口已经解锁，也不能声称玩家获得物品奖励。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4483418"/>
              <a:ext cx="56869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state transition remains controlled by validator and quest rules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案例结论：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2640" y="561594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允许角色关系和对话策略推进，不允许绕过规则完成任务。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7063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评估：已有证据与下一步指标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当前不虚构大规模统计结论，而是用 trace 证明关键机制可复盘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2307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已有证据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850832"/>
            <a:ext cx="12410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demo trace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9195" y="3212782"/>
            <a:ext cx="27922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JSON / Markdown 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574732"/>
            <a:ext cx="2715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与 Validator 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95" y="3936682"/>
            <a:ext cx="21321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route 输出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962150"/>
            <a:ext cx="3143250" cy="25908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能说明什么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7745" y="28508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角色知识边界可复盘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7745" y="32127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状态写入与回复分离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7745" y="35747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越权行动有拦截路径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7745" y="3936682"/>
            <a:ext cx="1945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profile 会影响路线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下一步指标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6295" y="285083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固定对话集一致性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6295" y="321278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越权拦截频次统计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3574732"/>
            <a:ext cx="2242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同初始态多次运行对比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6295" y="39366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图形化回放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边界说明：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61594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目前评估仍以案例 trace 和人工复盘为主，后续需要自动分析。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62" y="190500"/>
            <a:ext cx="6858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23085" y="1723072"/>
            <a:ext cx="8649653" cy="4458653"/>
            <a:chOff x="1823085" y="1723072"/>
            <a:chExt cx="8649653" cy="4458653"/>
          </a:xfrm>
        </p:grpSpPr>
        <p:sp>
          <p:nvSpPr>
            <p:cNvPr id="5" name="TextBox 5"/>
            <p:cNvSpPr txBox="1"/>
            <p:nvPr/>
          </p:nvSpPr>
          <p:spPr>
            <a:xfrm>
              <a:off x="1823085" y="1723072"/>
              <a:ext cx="803397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66900" y="257175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40230" y="3011805"/>
              <a:ext cx="57800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本项目把 LLM 放入受规则约束的运行链路中：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2135" y="3523298"/>
              <a:ext cx="86306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语言生成提供表达和推理能力；系统流程维护事实、校验行动并记录结果。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66900" y="4381500"/>
              <a:ext cx="8496300" cy="7239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6940" y="4644390"/>
              <a:ext cx="79187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后续工作：多 Agent 调度、长期记忆质量、自动评估和 timeline 可视化。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9464" y="5633085"/>
              <a:ext cx="48130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Thanks for your listening!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2026-06-08T06:26:42Z</dcterms:created>
  <dcterms:modified xsi:type="dcterms:W3CDTF">2026-06-08T06:26:42Z</dcterms:modified>
  <cp:category/>
  <cp:contentStatus/>
</cp:coreProperties>
</file>