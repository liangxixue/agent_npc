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大家好，我是薛良玺。这次课程汇报的主题是“记忆驱动的可验证 LLM 角色 Agent 系统”。项目关注的不是做一个普通聊天界面，而是把 LLM 角色对话放入状态、记忆、校验和 trace 组成的运行链路中。接下来我会先说明普通角色聊天为什么不足，再展示项目如何从单 NPC 对话逐步演进到 Traveler living-world runtime。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项目的起点是一个很具体的问题：角色说了什么，并不等于世界里真的发生了什么。普通 LLM 对话可能生成“入口已经解锁”这样的文本，但数据库、任务状态和物品并没有对应变化；如果只保存最终回复，也很难回头解释一次行为为什么发生。这里列出的三个风险分别是语言幻觉、上下文断裂和不可复盘。我的设计目标，就是把角色语言能力保留下来，同时把世界事实交给可验证的程序流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基于这个问题，项目目标可以概括为四个支柱：状态、记忆、校验和 trace。状态层用 SQLite 保存任务、地点、物品和关系；记忆层把近期上下文、长期记忆和 lore 带入角色决策；校验层阻止 LLM 直接越权改写世界事实；trace 则记录每一步中间过程。这样，一个 NPC 不只是会回复一句话，而是能在受控流程里读取状态、形成计划、提出行动，并留下证据。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这页讲的是项目能力的演进历史，而不是版本号清单。第一阶段先做单 NPC 记忆对话原型，验证能否读取状态、调用 LLM、回复玩家并留下 trace。第二阶段发现角色只看当前输入不稳定，所以加入分层上下文、lore 检索、长期记忆和玩家端界面。第三阶段把 NPCMind、NarrativeEnvironment 和 ActionValidator 拆出来，解决 LLM 语言意图和世界事实执行权混在一起的问题。最后加入 autonomous runtime、Traveler profile 和 timeline export，让项目变成可以自动探索、多 NPC 互动、并能在课堂上复盘展示的 living world。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玩家端界面截图，右侧列出 timeline 中用于复盘的关键字段，包括 Traveler 发言、NPC 回复、关系变化、探索线索、arc evidence、最终 outcome 和 timing。项目还保留了课堂展示 trace 和 Sable 路线 trace，所以报告中的结果不是虚构描述，而是从当前项目运行输出中整理出来的。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25dc1ad8da2edc6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5240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85800" y="5810250"/>
              <a:ext cx="108204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50570" y="1179195"/>
            <a:ext cx="7081266" cy="2040255"/>
            <a:chOff x="750570" y="1179195"/>
            <a:chExt cx="7081266" cy="2040255"/>
          </a:xfrm>
        </p:grpSpPr>
        <p:sp>
          <p:nvSpPr>
            <p:cNvPr id="6" name="TextBox 6"/>
            <p:cNvSpPr txBox="1"/>
            <p:nvPr/>
          </p:nvSpPr>
          <p:spPr>
            <a:xfrm>
              <a:off x="750570" y="1179195"/>
              <a:ext cx="4467606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记忆驱动的可验证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1788795"/>
              <a:ext cx="528670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角色 Agent 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00100" y="2495550"/>
              <a:ext cx="4953000" cy="3810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7240" y="2853690"/>
              <a:ext cx="70545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从单 NPC 对话到 Traveler living-world runtime 的课程项目汇报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638550"/>
            <a:ext cx="5905500" cy="1328738"/>
            <a:chOff x="800100" y="3638550"/>
            <a:chExt cx="5905500" cy="1328738"/>
          </a:xfrm>
        </p:grpSpPr>
        <p:sp>
          <p:nvSpPr>
            <p:cNvPr id="11" name="Rectangle 11"/>
            <p:cNvSpPr/>
            <p:nvPr/>
          </p:nvSpPr>
          <p:spPr>
            <a:xfrm>
              <a:off x="800100" y="3638550"/>
              <a:ext cx="59055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0140" y="39014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汇报简介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5855" y="4197668"/>
              <a:ext cx="3463290" cy="769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本项目把 LLM 角色对话放入状态、记忆、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校验和 trace 组成的运行链路，重点展示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角色行为如何被约束、记录并用于课程复盘。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0" y="1562100"/>
            <a:ext cx="3429000" cy="3238500"/>
            <a:chOff x="7620000" y="1562100"/>
            <a:chExt cx="3429000" cy="3238500"/>
          </a:xfrm>
        </p:grpSpPr>
        <p:sp>
          <p:nvSpPr>
            <p:cNvPr id="15" name="Rectangle 15"/>
            <p:cNvSpPr/>
            <p:nvPr/>
          </p:nvSpPr>
          <p:spPr>
            <a:xfrm>
              <a:off x="7620000" y="1562100"/>
              <a:ext cx="3429000" cy="3238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175750" y="2070100"/>
              <a:ext cx="355600" cy="482600"/>
              <a:chOff x="9175750" y="2070100"/>
              <a:chExt cx="355600" cy="482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201150" y="2120900"/>
                <a:ext cx="304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03200">
                    <a:moveTo>
                      <a:pt x="0" y="50800"/>
                    </a:moveTo>
                    <a:cubicBezTo>
                      <a:pt x="0" y="22744"/>
                      <a:pt x="22744" y="0"/>
                      <a:pt x="50800" y="0"/>
                    </a:cubicBezTo>
                    <a:lnTo>
                      <a:pt x="254000" y="0"/>
                    </a:lnTo>
                    <a:cubicBezTo>
                      <a:pt x="282056" y="0"/>
                      <a:pt x="304800" y="22744"/>
                      <a:pt x="304800" y="50800"/>
                    </a:cubicBezTo>
                    <a:lnTo>
                      <a:pt x="304800" y="152400"/>
                    </a:lnTo>
                    <a:cubicBezTo>
                      <a:pt x="304800" y="180456"/>
                      <a:pt x="282056" y="203200"/>
                      <a:pt x="254000" y="203200"/>
                    </a:cubicBezTo>
                    <a:lnTo>
                      <a:pt x="50800" y="203200"/>
                    </a:lnTo>
                    <a:cubicBezTo>
                      <a:pt x="22744" y="203200"/>
                      <a:pt x="0" y="180456"/>
                      <a:pt x="0" y="152400"/>
                    </a:cubicBez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353550" y="20701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77350" y="23241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429750" y="23241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175750" y="2374900"/>
                <a:ext cx="1016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0800">
                    <a:moveTo>
                      <a:pt x="0" y="5080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29750" y="2374900"/>
                <a:ext cx="1016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0800">
                    <a:moveTo>
                      <a:pt x="0" y="0"/>
                    </a:moveTo>
                    <a:lnTo>
                      <a:pt x="101600" y="5080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277350" y="24765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302750" y="2222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54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404350" y="2222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54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55546" y="28346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课程最终汇报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59173" y="3340418"/>
              <a:ext cx="29506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LLM Agent / 记忆系统 / 可验证执行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172450" y="3943350"/>
              <a:ext cx="2324100" cy="400050"/>
            </a:xfrm>
            <a:prstGeom prst="roundRect">
              <a:avLst>
                <a:gd name="adj" fmla="val 19048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6539" y="4087178"/>
              <a:ext cx="20359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真实项目代码与运行 trace 支撑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2955" y="6064568"/>
            <a:ext cx="10696575" cy="560070"/>
            <a:chOff x="782955" y="6064568"/>
            <a:chExt cx="10696575" cy="560070"/>
          </a:xfrm>
        </p:grpSpPr>
        <p:sp>
          <p:nvSpPr>
            <p:cNvPr id="31" name="TextBox 31"/>
            <p:cNvSpPr txBox="1"/>
            <p:nvPr/>
          </p:nvSpPr>
          <p:spPr>
            <a:xfrm>
              <a:off x="782955" y="60645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汇报人：薛良玺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2955" y="6350318"/>
              <a:ext cx="1708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时间：2026年6月9日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5462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30" grpId="0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问题定义：角色聊天不等于世界状态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1919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普通 LLM 对话容易把“说出来的内容”误当成“已经发生的事实”。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600200"/>
            <a:ext cx="3276600" cy="2571750"/>
            <a:chOff x="685800" y="1600200"/>
            <a:chExt cx="3276600" cy="2571750"/>
          </a:xfrm>
        </p:grpSpPr>
        <p:sp>
          <p:nvSpPr>
            <p:cNvPr id="9" name="Rectangle 9"/>
            <p:cNvSpPr/>
            <p:nvPr/>
          </p:nvSpPr>
          <p:spPr>
            <a:xfrm>
              <a:off x="685800" y="1600200"/>
              <a:ext cx="32766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600200"/>
              <a:ext cx="3276600" cy="762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040606" y="2009775"/>
              <a:ext cx="316707" cy="283369"/>
              <a:chOff x="1040606" y="2009775"/>
              <a:chExt cx="316707" cy="28336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23950" y="2093119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23950" y="2159794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0606" y="2009775"/>
                <a:ext cx="300038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83369">
                    <a:moveTo>
                      <a:pt x="150019" y="283369"/>
                    </a:moveTo>
                    <a:lnTo>
                      <a:pt x="133350" y="266700"/>
                    </a:lnTo>
                    <a:lnTo>
                      <a:pt x="100012" y="233362"/>
                    </a:lnTo>
                    <a:lnTo>
                      <a:pt x="50006" y="233362"/>
                    </a:lnTo>
                    <a:cubicBezTo>
                      <a:pt x="22389" y="233362"/>
                      <a:pt x="0" y="210974"/>
                      <a:pt x="0" y="183356"/>
                    </a:cubicBez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lnTo>
                      <a:pt x="250031" y="0"/>
                    </a:lnTo>
                    <a:cubicBezTo>
                      <a:pt x="277649" y="0"/>
                      <a:pt x="300038" y="22389"/>
                      <a:pt x="300038" y="50006"/>
                    </a:cubicBezTo>
                    <a:lnTo>
                      <a:pt x="300038" y="150019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323975" y="2226469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40631" y="2226469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33338" y="0"/>
                    </a:moveTo>
                    <a:lnTo>
                      <a:pt x="0" y="33338"/>
                    </a:lnTo>
                    <a:lnTo>
                      <a:pt x="33338" y="66675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539240" y="19392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语言幻觉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3455" y="2521268"/>
              <a:ext cx="2108835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 可能说“入口已解锁”、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“物品已交付”，但数据库和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任务状态并没有对应变化。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7265" y="36204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风险：回复可信，状态不可信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57700" y="1600200"/>
            <a:ext cx="3276600" cy="2571750"/>
            <a:chOff x="4457700" y="1600200"/>
            <a:chExt cx="32766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4457700" y="1600200"/>
              <a:ext cx="32766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57700" y="1600200"/>
              <a:ext cx="3276600" cy="76200"/>
            </a:xfrm>
            <a:prstGeom prst="rect">
              <a:avLst/>
            </a:prstGeom>
            <a:solidFill>
              <a:srgbClr val="B7791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812506" y="2016314"/>
              <a:ext cx="309563" cy="243492"/>
              <a:chOff x="4812506" y="2016314"/>
              <a:chExt cx="309563" cy="24349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812506" y="2233008"/>
                <a:ext cx="300038" cy="2679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6798">
                    <a:moveTo>
                      <a:pt x="0" y="26798"/>
                    </a:moveTo>
                    <a:cubicBezTo>
                      <a:pt x="46416" y="0"/>
                      <a:pt x="103603" y="0"/>
                      <a:pt x="150019" y="26798"/>
                    </a:cubicBezTo>
                    <a:cubicBezTo>
                      <a:pt x="196435" y="0"/>
                      <a:pt x="253622" y="0"/>
                      <a:pt x="300038" y="2679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812506" y="2016314"/>
                <a:ext cx="300038" cy="2679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6798">
                    <a:moveTo>
                      <a:pt x="0" y="26798"/>
                    </a:moveTo>
                    <a:cubicBezTo>
                      <a:pt x="46416" y="0"/>
                      <a:pt x="103603" y="0"/>
                      <a:pt x="150019" y="26798"/>
                    </a:cubicBezTo>
                    <a:cubicBezTo>
                      <a:pt x="196435" y="0"/>
                      <a:pt x="253622" y="0"/>
                      <a:pt x="300038" y="2679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12506" y="2043112"/>
                <a:ext cx="95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6694">
                    <a:moveTo>
                      <a:pt x="0" y="0"/>
                    </a:moveTo>
                    <a:lnTo>
                      <a:pt x="0" y="216694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962525" y="2043112"/>
                <a:ext cx="95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6694">
                    <a:moveTo>
                      <a:pt x="0" y="0"/>
                    </a:moveTo>
                    <a:lnTo>
                      <a:pt x="0" y="216694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112544" y="2043112"/>
                <a:ext cx="95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6694">
                    <a:moveTo>
                      <a:pt x="0" y="0"/>
                    </a:moveTo>
                    <a:lnTo>
                      <a:pt x="0" y="216694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311140" y="19392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上下文断裂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45355" y="2521268"/>
              <a:ext cx="2091690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只依赖当前输入时，角色会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忘记近期互动、长期记忆、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稳定世界设定和任务条件。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49165" y="36204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风险：角色可聊，角色不稳定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229600" y="1600200"/>
            <a:ext cx="3276600" cy="2571750"/>
            <a:chOff x="8229600" y="1600200"/>
            <a:chExt cx="3276600" cy="2571750"/>
          </a:xfrm>
        </p:grpSpPr>
        <p:sp>
          <p:nvSpPr>
            <p:cNvPr id="33" name="Rectangle 33"/>
            <p:cNvSpPr/>
            <p:nvPr/>
          </p:nvSpPr>
          <p:spPr>
            <a:xfrm>
              <a:off x="8229600" y="1600200"/>
              <a:ext cx="32766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229600" y="1600200"/>
              <a:ext cx="3276600" cy="7620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584406" y="2059781"/>
              <a:ext cx="300038" cy="166688"/>
              <a:chOff x="8584406" y="2059781"/>
              <a:chExt cx="300038" cy="16668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601075" y="207645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133350"/>
                    </a:moveTo>
                    <a:lnTo>
                      <a:pt x="100012" y="16669"/>
                    </a:lnTo>
                    <a:lnTo>
                      <a:pt x="183356" y="100012"/>
                    </a:ln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67762" y="2159794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684419" y="207645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84406" y="2193131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851106" y="2059781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083040" y="19392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不可复盘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17255" y="2521268"/>
              <a:ext cx="2434590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如果只保存最终回复，就无法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解释一次行为如何检索、决策、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校验并写入状态。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21065" y="36204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风险：演示成功，证据不足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5800" y="4743450"/>
            <a:ext cx="10820400" cy="933450"/>
            <a:chOff x="685800" y="4743450"/>
            <a:chExt cx="10820400" cy="933450"/>
          </a:xfrm>
        </p:grpSpPr>
        <p:sp>
          <p:nvSpPr>
            <p:cNvPr id="45" name="Rectangle 45"/>
            <p:cNvSpPr/>
            <p:nvPr/>
          </p:nvSpPr>
          <p:spPr>
            <a:xfrm>
              <a:off x="685800" y="4743450"/>
              <a:ext cx="10820400" cy="933450"/>
            </a:xfrm>
            <a:prstGeom prst="roundRect">
              <a:avLst>
                <a:gd name="adj" fmla="val 816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18111" y="5060156"/>
              <a:ext cx="325511" cy="300038"/>
              <a:chOff x="1018111" y="5060156"/>
              <a:chExt cx="325511" cy="30003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018111" y="5060156"/>
                <a:ext cx="325511" cy="297471"/>
              </a:xfrm>
              <a:custGeom>
                <a:avLst/>
                <a:gdLst/>
                <a:ahLst/>
                <a:cxnLst/>
                <a:rect l="l" t="t" r="r" b="b"/>
                <a:pathLst>
                  <a:path w="325511" h="297471">
                    <a:moveTo>
                      <a:pt x="163513" y="297471"/>
                    </a:moveTo>
                    <a:cubicBezTo>
                      <a:pt x="59091" y="265102"/>
                      <a:pt x="0" y="154893"/>
                      <a:pt x="30830" y="50006"/>
                    </a:cubicBezTo>
                    <a:cubicBezTo>
                      <a:pt x="82762" y="52383"/>
                      <a:pt x="133579" y="34447"/>
                      <a:pt x="172514" y="0"/>
                    </a:cubicBezTo>
                    <a:cubicBezTo>
                      <a:pt x="211449" y="34447"/>
                      <a:pt x="262267" y="52383"/>
                      <a:pt x="314198" y="50006"/>
                    </a:cubicBezTo>
                    <a:cubicBezTo>
                      <a:pt x="325511" y="88496"/>
                      <a:pt x="324988" y="129499"/>
                      <a:pt x="312698" y="167688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40631" y="5293519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577340" y="4911090"/>
              <a:ext cx="48595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因此，项目要解决的不是“让角色更会说话”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83055" y="5283518"/>
              <a:ext cx="78382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而是把语言生成放入受规则约束的运行流程中，让世界事实由状态机、校验器和 trace 共同维护。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21970" y="6322695"/>
            <a:ext cx="32752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一、引言 / 五、项目特色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  <p:bldP spid="44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2059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项目目标：状态 + 记忆 + 校验 + Trace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64790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让 LLM 角色 Agent 的每次行动都有上下文、有边界、有状态结果、有复盘证据。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38500" y="2095500"/>
            <a:ext cx="5715000" cy="1428750"/>
            <a:chOff x="3238500" y="2095500"/>
            <a:chExt cx="5715000" cy="1428750"/>
          </a:xfrm>
        </p:grpSpPr>
        <p:sp>
          <p:nvSpPr>
            <p:cNvPr id="9" name="Rectangle 9"/>
            <p:cNvSpPr/>
            <p:nvPr/>
          </p:nvSpPr>
          <p:spPr>
            <a:xfrm>
              <a:off x="3238500" y="2095500"/>
              <a:ext cx="57150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72540" y="2320290"/>
              <a:ext cx="4846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构建可运行、可观察、可验证的角色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55027" y="2787968"/>
              <a:ext cx="52819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 读取世界设定和记忆，形成主观计划，输出结构化 decision，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38675" y="30546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再经过校验和任务状态机改变世界。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3900" y="1600200"/>
            <a:ext cx="2264092" cy="1524000"/>
            <a:chOff x="723900" y="1600200"/>
            <a:chExt cx="2264092" cy="1524000"/>
          </a:xfrm>
        </p:grpSpPr>
        <p:sp>
          <p:nvSpPr>
            <p:cNvPr id="14" name="Rectangle 14"/>
            <p:cNvSpPr/>
            <p:nvPr/>
          </p:nvSpPr>
          <p:spPr>
            <a:xfrm>
              <a:off x="723900" y="16002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047750" y="1909762"/>
              <a:ext cx="228600" cy="257176"/>
              <a:chOff x="1047750" y="1909762"/>
              <a:chExt cx="228600" cy="25717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47750" y="190976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47750" y="19526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47750" y="203835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630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3455" y="2349818"/>
              <a:ext cx="2014537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SQLite 保存任务、地点、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物品、关系和事件。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20200" y="1600200"/>
            <a:ext cx="2264093" cy="1524000"/>
            <a:chOff x="9220200" y="1600200"/>
            <a:chExt cx="2264093" cy="1524000"/>
          </a:xfrm>
        </p:grpSpPr>
        <p:sp>
          <p:nvSpPr>
            <p:cNvPr id="22" name="Rectangle 22"/>
            <p:cNvSpPr/>
            <p:nvPr/>
          </p:nvSpPr>
          <p:spPr>
            <a:xfrm>
              <a:off x="9220200" y="16002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529762" y="1929655"/>
              <a:ext cx="266701" cy="208708"/>
              <a:chOff x="9529762" y="1929655"/>
              <a:chExt cx="266701" cy="20870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529762" y="2115393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529762" y="1929655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529762" y="19526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658350" y="19526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786938" y="19526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9593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9755" y="2349818"/>
              <a:ext cx="2014538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近期上下文、长期记忆、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稳定 lore 共同进入决策。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23900" y="4038600"/>
            <a:ext cx="2247900" cy="1524000"/>
            <a:chOff x="723900" y="4038600"/>
            <a:chExt cx="2247900" cy="1524000"/>
          </a:xfrm>
        </p:grpSpPr>
        <p:sp>
          <p:nvSpPr>
            <p:cNvPr id="32" name="Rectangle 32"/>
            <p:cNvSpPr/>
            <p:nvPr/>
          </p:nvSpPr>
          <p:spPr>
            <a:xfrm>
              <a:off x="723900" y="40386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14181" y="4348162"/>
              <a:ext cx="279010" cy="257176"/>
              <a:chOff x="1014181" y="4348162"/>
              <a:chExt cx="279010" cy="2571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14181" y="434816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04912" y="45481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463040" y="43014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3455" y="4788218"/>
              <a:ext cx="1748790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ActionValidator 拦截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越界行动并安全降级。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220200" y="4038600"/>
            <a:ext cx="2247900" cy="1524000"/>
            <a:chOff x="9220200" y="4038600"/>
            <a:chExt cx="22479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9220200" y="40386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529762" y="4405312"/>
              <a:ext cx="257175" cy="142875"/>
              <a:chOff x="9529762" y="4405312"/>
              <a:chExt cx="257175" cy="142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544050" y="44196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85725" y="14288"/>
                    </a:lnTo>
                    <a:lnTo>
                      <a:pt x="157162" y="85725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686925" y="449103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615488" y="44196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529762" y="45196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758362" y="44053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959340" y="4301490"/>
              <a:ext cx="7388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Trace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69755" y="4788218"/>
              <a:ext cx="1774508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记录检索、decision、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状态变化和 timeline。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971800" y="2305050"/>
            <a:ext cx="6248400" cy="2552700"/>
            <a:chOff x="2971800" y="2305050"/>
            <a:chExt cx="6248400" cy="2552700"/>
          </a:xfrm>
        </p:grpSpPr>
        <p:sp>
          <p:nvSpPr>
            <p:cNvPr id="49" name="Line 49"/>
            <p:cNvSpPr/>
            <p:nvPr/>
          </p:nvSpPr>
          <p:spPr>
            <a:xfrm>
              <a:off x="2971800" y="23622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3143250" y="23050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8953500" y="23622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2667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8953500" y="23050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2971800" y="48006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3143250" y="47434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8953500" y="48006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2667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8953500" y="47434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3238500" y="4229100"/>
            <a:ext cx="5715000" cy="914400"/>
            <a:chOff x="3238500" y="4229100"/>
            <a:chExt cx="5715000" cy="914400"/>
          </a:xfrm>
        </p:grpSpPr>
        <p:sp>
          <p:nvSpPr>
            <p:cNvPr id="58" name="Rectangle 58"/>
            <p:cNvSpPr/>
            <p:nvPr/>
          </p:nvSpPr>
          <p:spPr>
            <a:xfrm>
              <a:off x="3238500" y="4229100"/>
              <a:ext cx="5715000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564255" y="4426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设计约束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64255" y="4750118"/>
              <a:ext cx="5074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自然语言可以影响关系和事件，但不能绕过规则直接改写事实。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521970" y="6322695"/>
            <a:ext cx="2651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1.3 项目目标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31" grpId="0"/>
      <p:bldP spid="38" grpId="0"/>
      <p:bldP spid="48" grpId="0"/>
      <p:bldP spid="57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18781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项目演进：从“会聊天”到可验证 living world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6149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这页按能力阶段说明项目为什么不断增加模块，而不是罗列版本证据。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1466850"/>
            <a:ext cx="2724150" cy="4248150"/>
            <a:chOff x="685800" y="1466850"/>
            <a:chExt cx="2724150" cy="4248150"/>
          </a:xfrm>
        </p:grpSpPr>
        <p:sp>
          <p:nvSpPr>
            <p:cNvPr id="9" name="Rectangle 9"/>
            <p:cNvSpPr/>
            <p:nvPr/>
          </p:nvSpPr>
          <p:spPr>
            <a:xfrm>
              <a:off x="685800" y="1466850"/>
              <a:ext cx="2724150" cy="4248150"/>
            </a:xfrm>
            <a:prstGeom prst="roundRect">
              <a:avLst>
                <a:gd name="adj" fmla="val 279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33462" y="1795462"/>
              <a:ext cx="257176" cy="257176"/>
              <a:chOff x="1033462" y="1795462"/>
              <a:chExt cx="257176" cy="25717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33462" y="19954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33488" y="17954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62038" y="1824038"/>
                <a:ext cx="2143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00025">
                    <a:moveTo>
                      <a:pt x="85725" y="200025"/>
                    </a:moveTo>
                    <a:lnTo>
                      <a:pt x="164306" y="200025"/>
                    </a:lnTo>
                    <a:cubicBezTo>
                      <a:pt x="191924" y="200025"/>
                      <a:pt x="214312" y="177636"/>
                      <a:pt x="214312" y="150019"/>
                    </a:cubicBezTo>
                    <a:cubicBezTo>
                      <a:pt x="214312" y="122401"/>
                      <a:pt x="191924" y="100012"/>
                      <a:pt x="164306" y="100012"/>
                    </a:cubicBezTo>
                    <a:lnTo>
                      <a:pt x="50006" y="100012"/>
                    </a:ln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63040" y="17868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演进主线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3455" y="2406968"/>
              <a:ext cx="1431608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每一阶段都在补上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“可控角色 Agent”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缺失的一块：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3455" y="3492818"/>
              <a:ext cx="1405890" cy="11315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上下文是否稳定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状态边界是否清楚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角色能否主动行动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结果能否复盘展示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5029200"/>
              <a:ext cx="2114550" cy="400050"/>
            </a:xfrm>
            <a:prstGeom prst="roundRect">
              <a:avLst>
                <a:gd name="adj" fmla="val 19048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4461" y="51730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 demo 到运行链路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790950" y="1905000"/>
            <a:ext cx="9525" cy="3314700"/>
            <a:chOff x="3790950" y="1905000"/>
            <a:chExt cx="9525" cy="3314700"/>
          </a:xfrm>
        </p:grpSpPr>
        <p:sp>
          <p:nvSpPr>
            <p:cNvPr id="20" name="Line 20"/>
            <p:cNvSpPr/>
            <p:nvPr/>
          </p:nvSpPr>
          <p:spPr>
            <a:xfrm>
              <a:off x="3790950" y="1905000"/>
              <a:ext cx="9525" cy="3314700"/>
            </a:xfrm>
            <a:custGeom>
              <a:avLst/>
              <a:gdLst/>
              <a:ahLst/>
              <a:cxnLst/>
              <a:rect l="l" t="t" r="r" b="b"/>
              <a:pathLst>
                <a:path w="9525" h="3314700">
                  <a:moveTo>
                    <a:pt x="0" y="0"/>
                  </a:moveTo>
                  <a:lnTo>
                    <a:pt x="0" y="3314700"/>
                  </a:lnTo>
                </a:path>
              </a:pathLst>
            </a:custGeom>
            <a:noFill/>
            <a:ln w="28575">
              <a:solidFill>
                <a:srgbClr val="94A3B8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3705225" y="1466850"/>
            <a:ext cx="7629525" cy="876300"/>
            <a:chOff x="3705225" y="1466850"/>
            <a:chExt cx="7629525" cy="876300"/>
          </a:xfrm>
        </p:grpSpPr>
        <p:sp>
          <p:nvSpPr>
            <p:cNvPr id="22" name="Rectangle 22"/>
            <p:cNvSpPr/>
            <p:nvPr/>
          </p:nvSpPr>
          <p:spPr>
            <a:xfrm>
              <a:off x="4095750" y="1466850"/>
              <a:ext cx="7239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705225" y="1819275"/>
              <a:ext cx="171450" cy="171450"/>
            </a:xfrm>
            <a:prstGeom prst="ellipse">
              <a:avLst/>
            </a:prstGeom>
            <a:solidFill>
              <a:srgbClr val="1D4E89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397375" y="1764506"/>
              <a:ext cx="215900" cy="242888"/>
              <a:chOff x="4397375" y="1764506"/>
              <a:chExt cx="215900" cy="24288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397375" y="1764506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397375" y="1804988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397375" y="1885950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838700" y="1647825"/>
              <a:ext cx="22748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1. 单 NPC 记忆对话原型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42510" y="1956435"/>
              <a:ext cx="5503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先验证最小闭环：读取状态、调用 LLM、回复玩家，并把过程保存为 trace。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83015" y="16964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得到能力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3015" y="1972628"/>
              <a:ext cx="2217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SQLite / workflow / reply trace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705225" y="2571750"/>
            <a:ext cx="7629525" cy="876300"/>
            <a:chOff x="3705225" y="2571750"/>
            <a:chExt cx="7629525" cy="876300"/>
          </a:xfrm>
        </p:grpSpPr>
        <p:sp>
          <p:nvSpPr>
            <p:cNvPr id="33" name="Rectangle 33"/>
            <p:cNvSpPr/>
            <p:nvPr/>
          </p:nvSpPr>
          <p:spPr>
            <a:xfrm>
              <a:off x="4095750" y="2571750"/>
              <a:ext cx="7239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705225" y="2924175"/>
              <a:ext cx="171450" cy="171450"/>
            </a:xfrm>
            <a:prstGeom prst="ellipse">
              <a:avLst/>
            </a:prstGeom>
            <a:solidFill>
              <a:srgbClr val="1D4E89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383881" y="2888194"/>
              <a:ext cx="252413" cy="197113"/>
              <a:chOff x="4383881" y="2888194"/>
              <a:chExt cx="252413" cy="19711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383881" y="3063612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383881" y="2888194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383881" y="2909888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505325" y="2909888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626769" y="2909888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4838700" y="275272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2. 分层上下文与玩家端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42510" y="3061335"/>
              <a:ext cx="56711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原型回复容易断裂，因此把 lore、近期上下文、长期记忆和交互入口拆开管理。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83015" y="28013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得到能力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83015" y="3077528"/>
              <a:ext cx="2350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retrieval / memory jobs / React UI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705225" y="3676650"/>
            <a:ext cx="7629525" cy="876300"/>
            <a:chOff x="3705225" y="3676650"/>
            <a:chExt cx="7629525" cy="876300"/>
          </a:xfrm>
        </p:grpSpPr>
        <p:sp>
          <p:nvSpPr>
            <p:cNvPr id="46" name="Rectangle 46"/>
            <p:cNvSpPr/>
            <p:nvPr/>
          </p:nvSpPr>
          <p:spPr>
            <a:xfrm>
              <a:off x="4095750" y="3676650"/>
              <a:ext cx="7239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705225" y="4029075"/>
              <a:ext cx="171450" cy="171450"/>
            </a:xfrm>
            <a:prstGeom prst="ellipse">
              <a:avLst/>
            </a:prstGeom>
            <a:solidFill>
              <a:srgbClr val="0E7490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383881" y="3974306"/>
              <a:ext cx="242888" cy="242888"/>
              <a:chOff x="4383881" y="3974306"/>
              <a:chExt cx="242888" cy="2428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505325" y="4109244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410869" y="4109244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4572794" y="4055269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505325" y="3974306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383881" y="4055269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410869" y="3974306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838700" y="385762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3. 心智建模与规则边界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42510" y="4166235"/>
              <a:ext cx="54951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可以表达意图，但不能直接改世界事实，所以拆出主观判断和执行校验。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83015" y="39062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得到能力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83015" y="4182428"/>
              <a:ext cx="2343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NPCMind / environment / validator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3705225" y="4781550"/>
            <a:ext cx="8032813" cy="876300"/>
            <a:chOff x="3705225" y="4781550"/>
            <a:chExt cx="8032813" cy="876300"/>
          </a:xfrm>
        </p:grpSpPr>
        <p:sp>
          <p:nvSpPr>
            <p:cNvPr id="60" name="Rectangle 60"/>
            <p:cNvSpPr/>
            <p:nvPr/>
          </p:nvSpPr>
          <p:spPr>
            <a:xfrm>
              <a:off x="4095750" y="4781550"/>
              <a:ext cx="7239000" cy="876300"/>
            </a:xfrm>
            <a:prstGeom prst="roundRect">
              <a:avLst>
                <a:gd name="adj" fmla="val 8696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3705225" y="5133975"/>
              <a:ext cx="171450" cy="171450"/>
            </a:xfrm>
            <a:prstGeom prst="ellipse">
              <a:avLst/>
            </a:prstGeom>
            <a:solidFill>
              <a:srgbClr val="B7791F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4383881" y="5079206"/>
              <a:ext cx="242888" cy="242887"/>
              <a:chOff x="4383881" y="5079206"/>
              <a:chExt cx="242888" cy="242887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4410869" y="5079206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4383881" y="5241131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4559300" y="5080960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4586288" y="5243155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4838700" y="4962525"/>
              <a:ext cx="33985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4. 多角色 living world 与 Traveler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842510" y="5271135"/>
              <a:ext cx="60792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课程展示需要自动探索、多 NPC 覆盖和可复盘证据，于是加入 runtime 与 timeline。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83015" y="501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得到能力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83015" y="5287328"/>
              <a:ext cx="2855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world events / Traveler / timeline export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521970" y="6322695"/>
            <a:ext cx="41513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git_history_oneline.md · course_report_zh.md · 项目主体文件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32" grpId="0"/>
      <p:bldP spid="45" grpId="0"/>
      <p:bldP spid="59" grpId="0"/>
      <p:bldP spid="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29519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总体架构：输入到 timeline 的受控链路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62540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系统把 LLM 放在“提出意图”的位置，把事实改变交给校验、执行和状态写入。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52450" y="1790700"/>
            <a:ext cx="9925050" cy="995362"/>
            <a:chOff x="552450" y="1790700"/>
            <a:chExt cx="9925050" cy="995362"/>
          </a:xfrm>
        </p:grpSpPr>
        <p:sp>
          <p:nvSpPr>
            <p:cNvPr id="9" name="Rectangle 9"/>
            <p:cNvSpPr/>
            <p:nvPr/>
          </p:nvSpPr>
          <p:spPr>
            <a:xfrm>
              <a:off x="5524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50131" y="2021681"/>
              <a:ext cx="242888" cy="242887"/>
              <a:chOff x="1050131" y="2021681"/>
              <a:chExt cx="242888" cy="2428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77119" y="20216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50131" y="218360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25550" y="202343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52538" y="218563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22556" y="23498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326" y="2572702"/>
              <a:ext cx="10487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玩家 / Traveler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2669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805112" y="2021681"/>
              <a:ext cx="215901" cy="256382"/>
              <a:chOff x="2805112" y="2021681"/>
              <a:chExt cx="215901" cy="25638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2832100" y="20216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805112" y="2183606"/>
                <a:ext cx="74216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74216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74216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926556" y="218360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40481"/>
                    </a:moveTo>
                    <a:cubicBezTo>
                      <a:pt x="0" y="62838"/>
                      <a:pt x="18124" y="80962"/>
                      <a:pt x="40481" y="80962"/>
                    </a:cubicBezTo>
                    <a:cubicBezTo>
                      <a:pt x="62838" y="80962"/>
                      <a:pt x="80962" y="62838"/>
                      <a:pt x="80962" y="40481"/>
                    </a:cubicBezTo>
                    <a:cubicBezTo>
                      <a:pt x="80962" y="18124"/>
                      <a:pt x="62838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996724" y="2253774"/>
                <a:ext cx="24289" cy="24289"/>
              </a:xfrm>
              <a:custGeom>
                <a:avLst/>
                <a:gdLst/>
                <a:ahLst/>
                <a:cxnLst/>
                <a:rect l="l" t="t" r="r" b="b"/>
                <a:pathLst>
                  <a:path w="24289" h="24289">
                    <a:moveTo>
                      <a:pt x="0" y="0"/>
                    </a:moveTo>
                    <a:lnTo>
                      <a:pt x="24289" y="2428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2359009" y="23498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Observation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985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状态切片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9814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479131" y="2040469"/>
              <a:ext cx="252413" cy="197112"/>
              <a:chOff x="4479131" y="2040469"/>
              <a:chExt cx="252413" cy="19711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479131" y="2215887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79131" y="20404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479131" y="206216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00575" y="206216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722019" y="206216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451556" y="23498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68330" y="2572702"/>
              <a:ext cx="978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memory / lore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6959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193631" y="2021681"/>
              <a:ext cx="242888" cy="242888"/>
              <a:chOff x="6193631" y="2021681"/>
              <a:chExt cx="242888" cy="24288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315075" y="21566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220619" y="21566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82544" y="21026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315075" y="202168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193631" y="21026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220619" y="202168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995935" y="2349818"/>
              <a:ext cx="752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45838" y="2572702"/>
              <a:ext cx="852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belief / plan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4104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935119" y="2008188"/>
              <a:ext cx="188912" cy="256381"/>
              <a:chOff x="7935119" y="2008188"/>
              <a:chExt cx="188912" cy="25638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948612" y="2035175"/>
                <a:ext cx="1619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07950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80962"/>
                    </a:lnTo>
                    <a:cubicBezTo>
                      <a:pt x="161925" y="95867"/>
                      <a:pt x="149842" y="107950"/>
                      <a:pt x="134937" y="107950"/>
                    </a:cubicBezTo>
                    <a:lnTo>
                      <a:pt x="26988" y="107950"/>
                    </a:lnTo>
                    <a:cubicBezTo>
                      <a:pt x="12083" y="107950"/>
                      <a:pt x="0" y="95867"/>
                      <a:pt x="0" y="8096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029575" y="2008188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989094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070056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35119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26987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070056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0"/>
                    </a:moveTo>
                    <a:lnTo>
                      <a:pt x="53975" y="2698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989094" y="2224088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02588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056562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497784" y="2349818"/>
              <a:ext cx="1177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decision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23346" y="25727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结构化意图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249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604421" y="2021681"/>
              <a:ext cx="263509" cy="242888"/>
              <a:chOff x="9604421" y="2021681"/>
              <a:chExt cx="263509" cy="24288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9604421" y="202168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784556" y="22105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595056" y="23498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68313" y="25727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allowed / repaired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19050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21717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36195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38862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53340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56007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70485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73152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71" name="Line 71"/>
            <p:cNvSpPr/>
            <p:nvPr/>
          </p:nvSpPr>
          <p:spPr>
            <a:xfrm>
              <a:off x="87630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72" name="Polygon 72"/>
            <p:cNvSpPr/>
            <p:nvPr/>
          </p:nvSpPr>
          <p:spPr>
            <a:xfrm>
              <a:off x="90297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16" name="Group 116"/>
          <p:cNvGrpSpPr/>
          <p:nvPr/>
        </p:nvGrpSpPr>
        <p:grpSpPr>
          <a:xfrm>
            <a:off x="1485900" y="2743200"/>
            <a:ext cx="9520952" cy="2114550"/>
            <a:chOff x="1485900" y="2743200"/>
            <a:chExt cx="9520952" cy="2114550"/>
          </a:xfrm>
        </p:grpSpPr>
        <p:sp>
          <p:nvSpPr>
            <p:cNvPr id="74" name="Rectangle 74"/>
            <p:cNvSpPr/>
            <p:nvPr/>
          </p:nvSpPr>
          <p:spPr>
            <a:xfrm>
              <a:off x="1485900" y="3733800"/>
              <a:ext cx="2647950" cy="112395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1831181" y="4073525"/>
              <a:ext cx="243333" cy="236141"/>
              <a:chOff x="1831181" y="4073525"/>
              <a:chExt cx="243333" cy="236141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1831181" y="407352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3" y="107950"/>
                      <a:pt x="202406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1831181" y="4181475"/>
                <a:ext cx="18216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82166" h="107950">
                    <a:moveTo>
                      <a:pt x="121444" y="107950"/>
                    </a:move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182166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2006600" y="423545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033588" y="4215209"/>
                <a:ext cx="9525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1">
                    <a:moveTo>
                      <a:pt x="0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033588" y="4289425"/>
                <a:ext cx="9525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1">
                    <a:moveTo>
                      <a:pt x="0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056972" y="4238823"/>
                <a:ext cx="17528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28" h="10120">
                    <a:moveTo>
                      <a:pt x="17528" y="0"/>
                    </a:moveTo>
                    <a:lnTo>
                      <a:pt x="0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992701" y="4275931"/>
                <a:ext cx="17542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42" h="10120">
                    <a:moveTo>
                      <a:pt x="17542" y="0"/>
                    </a:moveTo>
                    <a:lnTo>
                      <a:pt x="0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992701" y="4238823"/>
                <a:ext cx="17542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42" h="10120">
                    <a:moveTo>
                      <a:pt x="0" y="0"/>
                    </a:moveTo>
                    <a:lnTo>
                      <a:pt x="17542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056972" y="4275931"/>
                <a:ext cx="17542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42" h="10120">
                    <a:moveTo>
                      <a:pt x="0" y="0"/>
                    </a:moveTo>
                    <a:lnTo>
                      <a:pt x="17542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885156" y="4127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1885156" y="423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249805" y="3969068"/>
              <a:ext cx="20568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NarrativeEnvironment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253615" y="42872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 decision 转为可执行 action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253615" y="4515802"/>
              <a:ext cx="1888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构造 observation / 写 trace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781550" y="3733800"/>
              <a:ext cx="2647950" cy="112395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5140325" y="4060031"/>
              <a:ext cx="215900" cy="242888"/>
              <a:chOff x="5140325" y="4060031"/>
              <a:chExt cx="215900" cy="242888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5140325" y="406003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5140325" y="410051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5140325" y="418147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5545455" y="3969068"/>
              <a:ext cx="17922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SQLite World State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549265" y="42872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任务、关系、物品、地点、事件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549265" y="45158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只有校验后的结果能写入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077200" y="3733800"/>
              <a:ext cx="2647950" cy="1123950"/>
            </a:xfrm>
            <a:prstGeom prst="roundRect">
              <a:avLst>
                <a:gd name="adj" fmla="val 6780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8422481" y="4114006"/>
              <a:ext cx="242888" cy="134937"/>
              <a:chOff x="8422481" y="4114006"/>
              <a:chExt cx="242888" cy="134937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8435975" y="4127500"/>
                <a:ext cx="2159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07950">
                    <a:moveTo>
                      <a:pt x="0" y="107950"/>
                    </a:moveTo>
                    <a:lnTo>
                      <a:pt x="80962" y="13494"/>
                    </a:lnTo>
                    <a:lnTo>
                      <a:pt x="148431" y="80962"/>
                    </a:ln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570912" y="4194969"/>
                <a:ext cx="26987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503444" y="4127500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422481" y="4221956"/>
                <a:ext cx="2698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638381" y="4114006"/>
                <a:ext cx="2698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8841105" y="3969068"/>
              <a:ext cx="14425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Export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844915" y="4287202"/>
              <a:ext cx="2161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/ reason / state changes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844915" y="45158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课堂展示与报告证据</a:t>
              </a:r>
            </a:p>
          </p:txBody>
        </p:sp>
        <p:sp>
          <p:nvSpPr>
            <p:cNvPr id="108" name="Line 108"/>
            <p:cNvSpPr/>
            <p:nvPr/>
          </p:nvSpPr>
          <p:spPr>
            <a:xfrm>
              <a:off x="9801225" y="27432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2809875" y="333375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69913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2809875" y="33337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1" name="Polygon 111"/>
            <p:cNvSpPr/>
            <p:nvPr/>
          </p:nvSpPr>
          <p:spPr>
            <a:xfrm>
              <a:off x="2752725" y="3638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12" name="Line 112"/>
            <p:cNvSpPr/>
            <p:nvPr/>
          </p:nvSpPr>
          <p:spPr>
            <a:xfrm>
              <a:off x="4133850" y="42957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3" name="Polygon 113"/>
            <p:cNvSpPr/>
            <p:nvPr/>
          </p:nvSpPr>
          <p:spPr>
            <a:xfrm>
              <a:off x="4686300" y="4238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14" name="Line 114"/>
            <p:cNvSpPr/>
            <p:nvPr/>
          </p:nvSpPr>
          <p:spPr>
            <a:xfrm>
              <a:off x="7429500" y="42957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5" name="Polygon 115"/>
            <p:cNvSpPr/>
            <p:nvPr/>
          </p:nvSpPr>
          <p:spPr>
            <a:xfrm>
              <a:off x="7981950" y="4238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20" name="Group 120"/>
          <p:cNvGrpSpPr/>
          <p:nvPr/>
        </p:nvGrpSpPr>
        <p:grpSpPr>
          <a:xfrm>
            <a:off x="1485900" y="5391150"/>
            <a:ext cx="9239250" cy="476250"/>
            <a:chOff x="1485900" y="5391150"/>
            <a:chExt cx="9239250" cy="476250"/>
          </a:xfrm>
        </p:grpSpPr>
        <p:sp>
          <p:nvSpPr>
            <p:cNvPr id="117" name="Rectangle 117"/>
            <p:cNvSpPr/>
            <p:nvPr/>
          </p:nvSpPr>
          <p:spPr>
            <a:xfrm>
              <a:off x="1485900" y="5391150"/>
              <a:ext cx="9239250" cy="476250"/>
            </a:xfrm>
            <a:prstGeom prst="roundRect">
              <a:avLst>
                <a:gd name="adj" fmla="val 16000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1754505" y="55502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关键边界：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2668905" y="5550218"/>
              <a:ext cx="56419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提出意图，系统决定事实是否发生，并把每一步留下可复盘证据。</a:t>
              </a:r>
            </a:p>
          </p:txBody>
        </p:sp>
      </p:grpSp>
      <p:sp>
        <p:nvSpPr>
          <p:cNvPr id="121" name="TextBox 121"/>
          <p:cNvSpPr txBox="1"/>
          <p:nvPr/>
        </p:nvSpPr>
        <p:spPr>
          <a:xfrm>
            <a:off x="521970" y="6322695"/>
            <a:ext cx="277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四、系统架构图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116" grpId="0"/>
      <p:bldP spid="1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90217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模块职责：LLM 参与认知，系统掌握执行权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把原来的职责表压缩成三层边界：认知、校验、事实与证据。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4850" y="1562100"/>
            <a:ext cx="3348990" cy="3238500"/>
            <a:chOff x="704850" y="1562100"/>
            <a:chExt cx="3348990" cy="3238500"/>
          </a:xfrm>
        </p:grpSpPr>
        <p:sp>
          <p:nvSpPr>
            <p:cNvPr id="9" name="Rectangle 9"/>
            <p:cNvSpPr/>
            <p:nvPr/>
          </p:nvSpPr>
          <p:spPr>
            <a:xfrm>
              <a:off x="704850" y="1562100"/>
              <a:ext cx="3238500" cy="3238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04850" y="1562100"/>
              <a:ext cx="3238500" cy="552450"/>
            </a:xfrm>
            <a:prstGeom prst="roundRect">
              <a:avLst>
                <a:gd name="adj" fmla="val 13793"/>
              </a:avLst>
            </a:prstGeom>
            <a:solidFill>
              <a:srgbClr val="EEF4F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31081" y="1735931"/>
              <a:ext cx="242888" cy="242888"/>
              <a:chOff x="1031081" y="1735931"/>
              <a:chExt cx="242888" cy="2428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52525" y="18708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8069" y="18708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19994" y="18168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52525" y="17359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31081" y="18168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8069" y="17359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443990" y="17106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认知与意图层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3455" y="2387918"/>
              <a:ext cx="1243013" cy="922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Memory / Lore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NPCMind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Decision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90600" y="3733800"/>
              <a:ext cx="2667000" cy="685800"/>
            </a:xfrm>
            <a:prstGeom prst="roundRect">
              <a:avLst>
                <a:gd name="adj" fmla="val 11111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86815" y="3858578"/>
              <a:ext cx="2867025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职责：补充上下文，形成 belief / goal / plan，</a:t>
              </a: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并提出结构化行动意图。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86815" y="4258628"/>
              <a:ext cx="21969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输出：decision + response draft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76750" y="1562100"/>
            <a:ext cx="3238500" cy="3238500"/>
            <a:chOff x="4476750" y="1562100"/>
            <a:chExt cx="3238500" cy="3238500"/>
          </a:xfrm>
        </p:grpSpPr>
        <p:sp>
          <p:nvSpPr>
            <p:cNvPr id="24" name="Rectangle 24"/>
            <p:cNvSpPr/>
            <p:nvPr/>
          </p:nvSpPr>
          <p:spPr>
            <a:xfrm>
              <a:off x="4476750" y="1562100"/>
              <a:ext cx="3238500" cy="3238500"/>
            </a:xfrm>
            <a:prstGeom prst="roundRect">
              <a:avLst>
                <a:gd name="adj" fmla="val 2353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76750" y="1562100"/>
              <a:ext cx="3238500" cy="552450"/>
            </a:xfrm>
            <a:prstGeom prst="roundRect">
              <a:avLst>
                <a:gd name="adj" fmla="val 13793"/>
              </a:avLst>
            </a:prstGeom>
            <a:solidFill>
              <a:srgbClr val="D8F3F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784771" y="1735931"/>
              <a:ext cx="263509" cy="242888"/>
              <a:chOff x="4784771" y="1735931"/>
              <a:chExt cx="263509" cy="24288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784771" y="173593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964906" y="192484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215890" y="17106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校验与执行层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45355" y="2387918"/>
              <a:ext cx="1868805" cy="922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ActionValidator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NarrativeEnvironment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Action Surface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762500" y="3733800"/>
              <a:ext cx="26670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58715" y="3858578"/>
              <a:ext cx="2560320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职责：检查行动是否允许，修复越界结果，</a:t>
              </a: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 decision 转成系统 action。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58715" y="4258628"/>
              <a:ext cx="2350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输出：allowed / blocked / repaired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248650" y="1562100"/>
            <a:ext cx="3238500" cy="3238500"/>
            <a:chOff x="8248650" y="1562100"/>
            <a:chExt cx="3238500" cy="3238500"/>
          </a:xfrm>
        </p:grpSpPr>
        <p:sp>
          <p:nvSpPr>
            <p:cNvPr id="35" name="Rectangle 35"/>
            <p:cNvSpPr/>
            <p:nvPr/>
          </p:nvSpPr>
          <p:spPr>
            <a:xfrm>
              <a:off x="8248650" y="1562100"/>
              <a:ext cx="3238500" cy="3238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248650" y="1562100"/>
              <a:ext cx="3238500" cy="552450"/>
            </a:xfrm>
            <a:prstGeom prst="roundRect">
              <a:avLst>
                <a:gd name="adj" fmla="val 13793"/>
              </a:avLst>
            </a:prstGeom>
            <a:solidFill>
              <a:srgbClr val="FFF3D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588375" y="1735931"/>
              <a:ext cx="215900" cy="242888"/>
              <a:chOff x="8588375" y="1735931"/>
              <a:chExt cx="215900" cy="24288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588375" y="173593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88375" y="177641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88375" y="185737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987790" y="17106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事实与证据层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17255" y="2387918"/>
              <a:ext cx="1628775" cy="922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SQLite World State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Trace / Timeline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Traveler Runtime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534400" y="3733800"/>
              <a:ext cx="2667000" cy="685800"/>
            </a:xfrm>
            <a:prstGeom prst="roundRect">
              <a:avLst>
                <a:gd name="adj" fmla="val 11111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30615" y="3858578"/>
              <a:ext cx="2293620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职责：保存任务、物品、地点和关系，</a:t>
              </a: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把运行过程导出为复盘证据。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30615" y="4258628"/>
              <a:ext cx="19939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输出：state_after + timeline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943350" y="3124200"/>
            <a:ext cx="4305300" cy="114300"/>
            <a:chOff x="3943350" y="3124200"/>
            <a:chExt cx="4305300" cy="114300"/>
          </a:xfrm>
        </p:grpSpPr>
        <p:sp>
          <p:nvSpPr>
            <p:cNvPr id="47" name="Line 47"/>
            <p:cNvSpPr/>
            <p:nvPr/>
          </p:nvSpPr>
          <p:spPr>
            <a:xfrm>
              <a:off x="3943350" y="31813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4381500" y="31242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7715250" y="31813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8153400" y="31242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466850" y="5334000"/>
            <a:ext cx="9258300" cy="533400"/>
            <a:chOff x="1466850" y="5334000"/>
            <a:chExt cx="9258300" cy="533400"/>
          </a:xfrm>
        </p:grpSpPr>
        <p:sp>
          <p:nvSpPr>
            <p:cNvPr id="52" name="Rectangle 52"/>
            <p:cNvSpPr/>
            <p:nvPr/>
          </p:nvSpPr>
          <p:spPr>
            <a:xfrm>
              <a:off x="1466850" y="5334000"/>
              <a:ext cx="9258300" cy="533400"/>
            </a:xfrm>
            <a:prstGeom prst="roundRect">
              <a:avLst>
                <a:gd name="adj" fmla="val 14286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773555" y="5521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汇报重点：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745105" y="5521642"/>
              <a:ext cx="54799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可以决定“想做什么”，但世界事实只由校验后的系统流程写入。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21970" y="6322695"/>
            <a:ext cx="27712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3.8 模块职责表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4" grpId="0"/>
      <p:bldP spid="46" grpId="0"/>
      <p:bldP spid="51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记忆与检索：让角色带着上下文行动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79102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角色回复和 decision 不只依赖当前一句输入，而是综合近期上下文、长期记忆、lore 和任务状态。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5800" y="1504950"/>
            <a:ext cx="3524250" cy="4057650"/>
            <a:chOff x="685800" y="1504950"/>
            <a:chExt cx="3524250" cy="4057650"/>
          </a:xfrm>
        </p:grpSpPr>
        <p:sp>
          <p:nvSpPr>
            <p:cNvPr id="9" name="Rectangle 9"/>
            <p:cNvSpPr/>
            <p:nvPr/>
          </p:nvSpPr>
          <p:spPr>
            <a:xfrm>
              <a:off x="685800" y="15049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12031" y="1825625"/>
              <a:ext cx="256381" cy="229394"/>
              <a:chOff x="1012031" y="1825625"/>
              <a:chExt cx="256381" cy="22939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79500" y="1893094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9500" y="1947069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2031" y="1825625"/>
                <a:ext cx="242888" cy="2293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29394">
                    <a:moveTo>
                      <a:pt x="121444" y="229394"/>
                    </a:moveTo>
                    <a:lnTo>
                      <a:pt x="107950" y="215900"/>
                    </a:lnTo>
                    <a:lnTo>
                      <a:pt x="80962" y="188913"/>
                    </a:lnTo>
                    <a:lnTo>
                      <a:pt x="40481" y="188913"/>
                    </a:lnTo>
                    <a:cubicBezTo>
                      <a:pt x="18124" y="188913"/>
                      <a:pt x="0" y="170788"/>
                      <a:pt x="0" y="148431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41425" y="2001044"/>
                <a:ext cx="26987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53975">
                    <a:moveTo>
                      <a:pt x="0" y="53975"/>
                    </a:moveTo>
                    <a:lnTo>
                      <a:pt x="26987" y="26987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73956" y="2001044"/>
                <a:ext cx="26988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53975">
                    <a:moveTo>
                      <a:pt x="26988" y="0"/>
                    </a:moveTo>
                    <a:lnTo>
                      <a:pt x="0" y="26987"/>
                    </a:lnTo>
                    <a:lnTo>
                      <a:pt x="26988" y="5397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49705" y="17402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近期上下文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53515" y="20393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最近交互、当前输入、局部状态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25717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12031" y="2897719"/>
              <a:ext cx="252413" cy="197112"/>
              <a:chOff x="1012031" y="2897719"/>
              <a:chExt cx="252413" cy="19711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012031" y="3073137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12031" y="289771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12031" y="291941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33475" y="291941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254919" y="291941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449705" y="2807018"/>
              <a:ext cx="83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稳定 lore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53515" y="3106102"/>
              <a:ext cx="23999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地点、NPC 设定、世界规则、秘密边界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5800" y="36385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25525" y="3945731"/>
              <a:ext cx="215900" cy="242888"/>
              <a:chOff x="1025525" y="3945731"/>
              <a:chExt cx="215900" cy="2428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25525" y="394573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25525" y="398621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25525" y="406717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449705" y="3873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长期记忆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53515" y="41729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历史互动、关系变化、重要事件摘要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47053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9019" y="5026025"/>
              <a:ext cx="202405" cy="229394"/>
              <a:chOff x="1039019" y="5026025"/>
              <a:chExt cx="202405" cy="22939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039019" y="5026025"/>
                <a:ext cx="16192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0">
                    <a:moveTo>
                      <a:pt x="62274" y="215900"/>
                    </a:moveTo>
                    <a:lnTo>
                      <a:pt x="26988" y="215900"/>
                    </a:lnTo>
                    <a:cubicBezTo>
                      <a:pt x="12083" y="215900"/>
                      <a:pt x="0" y="203817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60462" y="520144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92994" y="508000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92994" y="5133975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0" y="0"/>
                    </a:moveTo>
                    <a:lnTo>
                      <a:pt x="26987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449705" y="49406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任务与状态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53515" y="5239702"/>
              <a:ext cx="2420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quest、inventory、location、trust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76800" y="2247900"/>
            <a:ext cx="2209800" cy="2095500"/>
            <a:chOff x="4876800" y="2247900"/>
            <a:chExt cx="2209800" cy="2095500"/>
          </a:xfrm>
        </p:grpSpPr>
        <p:sp>
          <p:nvSpPr>
            <p:cNvPr id="43" name="Rectangle 43"/>
            <p:cNvSpPr/>
            <p:nvPr/>
          </p:nvSpPr>
          <p:spPr>
            <a:xfrm>
              <a:off x="4876800" y="2247900"/>
              <a:ext cx="2209800" cy="2095500"/>
            </a:xfrm>
            <a:prstGeom prst="roundRect">
              <a:avLst>
                <a:gd name="adj" fmla="val 3636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857875" y="2605088"/>
              <a:ext cx="279400" cy="331787"/>
              <a:chOff x="5857875" y="2605088"/>
              <a:chExt cx="279400" cy="33178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892800" y="2605088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857875" y="2814638"/>
                <a:ext cx="96044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6044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96044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015038" y="281463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8"/>
                    </a:moveTo>
                    <a:cubicBezTo>
                      <a:pt x="0" y="81320"/>
                      <a:pt x="23455" y="104775"/>
                      <a:pt x="52388" y="104775"/>
                    </a:cubicBezTo>
                    <a:cubicBezTo>
                      <a:pt x="81320" y="104775"/>
                      <a:pt x="104775" y="81320"/>
                      <a:pt x="104775" y="52388"/>
                    </a:cubicBezTo>
                    <a:cubicBezTo>
                      <a:pt x="104775" y="23455"/>
                      <a:pt x="81320" y="0"/>
                      <a:pt x="52388" y="0"/>
                    </a:cubicBezTo>
                    <a:cubicBezTo>
                      <a:pt x="23455" y="0"/>
                      <a:pt x="0" y="23455"/>
                      <a:pt x="0" y="5238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105842" y="2905442"/>
                <a:ext cx="31433" cy="31433"/>
              </a:xfrm>
              <a:custGeom>
                <a:avLst/>
                <a:gdLst/>
                <a:ahLst/>
                <a:cxnLst/>
                <a:rect l="l" t="t" r="r" b="b"/>
                <a:pathLst>
                  <a:path w="31433" h="31433">
                    <a:moveTo>
                      <a:pt x="0" y="0"/>
                    </a:moveTo>
                    <a:lnTo>
                      <a:pt x="31433" y="31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398070" y="3044190"/>
              <a:ext cx="11672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Retrieval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21962" y="3416618"/>
              <a:ext cx="15194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typed + semantic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36774" y="3753802"/>
              <a:ext cx="14898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返回 memory snippets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10500" y="1752600"/>
            <a:ext cx="3429000" cy="3086100"/>
            <a:chOff x="7810500" y="1752600"/>
            <a:chExt cx="3429000" cy="3086100"/>
          </a:xfrm>
        </p:grpSpPr>
        <p:sp>
          <p:nvSpPr>
            <p:cNvPr id="53" name="Rectangle 53"/>
            <p:cNvSpPr/>
            <p:nvPr/>
          </p:nvSpPr>
          <p:spPr>
            <a:xfrm>
              <a:off x="7810500" y="1752600"/>
              <a:ext cx="3429000" cy="308610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92440" y="1958340"/>
              <a:ext cx="26542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合成后的 Agent 上下文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98155" y="2502218"/>
              <a:ext cx="2254568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Observation：当前局面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Memory：历史互动与关系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Lore：稳定世界设定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Quest：任务条件与可行动作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Trace hooks：后续复盘字段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15300" y="4191000"/>
              <a:ext cx="2819400" cy="400050"/>
            </a:xfrm>
            <a:prstGeom prst="roundRect">
              <a:avLst>
                <a:gd name="adj" fmla="val 19048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80549" y="4325302"/>
              <a:ext cx="1888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进入 NPCMind / LLM decision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210050" y="1933575"/>
            <a:ext cx="3600450" cy="3209925"/>
            <a:chOff x="4210050" y="1933575"/>
            <a:chExt cx="3600450" cy="3209925"/>
          </a:xfrm>
        </p:grpSpPr>
        <p:sp>
          <p:nvSpPr>
            <p:cNvPr id="59" name="Line 59"/>
            <p:cNvSpPr/>
            <p:nvPr/>
          </p:nvSpPr>
          <p:spPr>
            <a:xfrm>
              <a:off x="4210050" y="19335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210050" y="30003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4210050" y="40671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4210050" y="51339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4495800" y="1933575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4495800" y="32956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4781550" y="3238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7086600" y="329565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7715250" y="3238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4876800" y="5105400"/>
            <a:ext cx="6362700" cy="666750"/>
            <a:chOff x="4876800" y="5105400"/>
            <a:chExt cx="6362700" cy="666750"/>
          </a:xfrm>
        </p:grpSpPr>
        <p:sp>
          <p:nvSpPr>
            <p:cNvPr id="69" name="Rectangle 69"/>
            <p:cNvSpPr/>
            <p:nvPr/>
          </p:nvSpPr>
          <p:spPr>
            <a:xfrm>
              <a:off x="4876800" y="5105400"/>
              <a:ext cx="6362700" cy="666750"/>
            </a:xfrm>
            <a:prstGeom prst="roundRect">
              <a:avLst>
                <a:gd name="adj" fmla="val 11429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5181600" y="5327650"/>
              <a:ext cx="229019" cy="222250"/>
              <a:chOff x="5181600" y="5327650"/>
              <a:chExt cx="229019" cy="22225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5181600" y="53276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181600" y="5429250"/>
                <a:ext cx="17145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01600">
                    <a:moveTo>
                      <a:pt x="114300" y="101600"/>
                    </a:move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5346700" y="54800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72100" y="54610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372100" y="55308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394109" y="5483225"/>
                <a:ext cx="1649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97" h="9525">
                    <a:moveTo>
                      <a:pt x="16497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333619" y="5518150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16510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333619" y="5483225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5394109" y="5518150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5232400" y="5378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232400" y="5480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5583555" y="5226368"/>
              <a:ext cx="15937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后台 memory jobs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587365" y="5525452"/>
              <a:ext cx="53613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把运行产生的交互、反思和候选记忆整理为后续可检索内容，降低单轮 prompt 负担。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521970" y="6322695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3.2 记忆与检索系统 / 5.4 后台长期记忆流程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2" grpId="0"/>
      <p:bldP spid="58" grpId="0"/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808042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 + ActionValidator：自由表达，受控执行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角色可以有主观判断和语言策略，但事实变化必须经过规则边界。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581150"/>
            <a:ext cx="4191000" cy="2667000"/>
            <a:chOff x="685800" y="1581150"/>
            <a:chExt cx="4191000" cy="2667000"/>
          </a:xfrm>
        </p:grpSpPr>
        <p:sp>
          <p:nvSpPr>
            <p:cNvPr id="9" name="Rectangle 9"/>
            <p:cNvSpPr/>
            <p:nvPr/>
          </p:nvSpPr>
          <p:spPr>
            <a:xfrm>
              <a:off x="685800" y="158115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81150"/>
              <a:ext cx="4191000" cy="495300"/>
            </a:xfrm>
            <a:prstGeom prst="roundRect">
              <a:avLst>
                <a:gd name="adj" fmla="val 15385"/>
              </a:avLst>
            </a:prstGeom>
            <a:solidFill>
              <a:srgbClr val="D8F3F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28700" y="1733550"/>
              <a:ext cx="228600" cy="228600"/>
              <a:chOff x="1028700" y="1733550"/>
              <a:chExt cx="228600" cy="228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43000" y="18605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4100" y="18605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06500" y="18097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43000" y="17335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28700" y="18097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4100" y="17335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405890" y="1701165"/>
              <a:ext cx="27676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NPCMind：形成主观状态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9655" y="2330768"/>
              <a:ext cx="3549015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belief：我相信当前局面是什么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emotion：我对玩家或事件的态度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active goal：当前要推进的目标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active plan：下一步行动计划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social strategy：透露、要求凭证或转移话题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76800" y="2476500"/>
            <a:ext cx="2438400" cy="938212"/>
            <a:chOff x="4876800" y="2476500"/>
            <a:chExt cx="2438400" cy="938212"/>
          </a:xfrm>
        </p:grpSpPr>
        <p:sp>
          <p:nvSpPr>
            <p:cNvPr id="21" name="Rectangle 21"/>
            <p:cNvSpPr/>
            <p:nvPr/>
          </p:nvSpPr>
          <p:spPr>
            <a:xfrm>
              <a:off x="5238750" y="2476500"/>
              <a:ext cx="1714500" cy="914400"/>
            </a:xfrm>
            <a:prstGeom prst="roundRect">
              <a:avLst>
                <a:gd name="adj" fmla="val 833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007100" y="2654300"/>
              <a:ext cx="177800" cy="241300"/>
              <a:chOff x="6007100" y="2654300"/>
              <a:chExt cx="177800" cy="2413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19800" y="26797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096000" y="26543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057900" y="2781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34100" y="2781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07100" y="28067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134100" y="28067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57900" y="2857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070600" y="2730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121400" y="2730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507059" y="2959418"/>
              <a:ext cx="1177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decision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82102" y="32013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意图 + 回复草稿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876800" y="29337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5143500" y="2876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6953250" y="29337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219950" y="2876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315200" y="1581150"/>
            <a:ext cx="4420267" cy="2667000"/>
            <a:chOff x="7315200" y="1581150"/>
            <a:chExt cx="4420267" cy="2667000"/>
          </a:xfrm>
        </p:grpSpPr>
        <p:sp>
          <p:nvSpPr>
            <p:cNvPr id="39" name="Rectangle 39"/>
            <p:cNvSpPr/>
            <p:nvPr/>
          </p:nvSpPr>
          <p:spPr>
            <a:xfrm>
              <a:off x="7315200" y="158115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15200" y="1581150"/>
              <a:ext cx="4191000" cy="495300"/>
            </a:xfrm>
            <a:prstGeom prst="roundRect">
              <a:avLst>
                <a:gd name="adj" fmla="val 15385"/>
              </a:avLst>
            </a:prstGeom>
            <a:solidFill>
              <a:srgbClr val="D8F3F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640961" y="1733550"/>
              <a:ext cx="248008" cy="228600"/>
              <a:chOff x="7640961" y="1733550"/>
              <a:chExt cx="248008" cy="228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640961" y="173355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2" y="201982"/>
                      <a:pt x="0" y="118014"/>
                      <a:pt x="23489" y="38100"/>
                    </a:cubicBezTo>
                    <a:cubicBezTo>
                      <a:pt x="63057" y="39911"/>
                      <a:pt x="101774" y="26246"/>
                      <a:pt x="131439" y="0"/>
                    </a:cubicBezTo>
                    <a:cubicBezTo>
                      <a:pt x="161104" y="26246"/>
                      <a:pt x="199822" y="39911"/>
                      <a:pt x="239389" y="38100"/>
                    </a:cubicBezTo>
                    <a:cubicBezTo>
                      <a:pt x="248008" y="67426"/>
                      <a:pt x="247610" y="98666"/>
                      <a:pt x="238246" y="127762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810500" y="19113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035290" y="1701165"/>
              <a:ext cx="3700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ActionValidator：守住事实边界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79055" y="2330768"/>
              <a:ext cx="2777490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检查行动是否在当前状态下允许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阻止“语言上直接解锁地点”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阻止“缺少条件就发放物品”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将非法或不完整行动降级为安全结果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把校验原因写入 trace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43050" y="4876800"/>
            <a:ext cx="9105900" cy="876300"/>
            <a:chOff x="1543050" y="4876800"/>
            <a:chExt cx="9105900" cy="876300"/>
          </a:xfrm>
        </p:grpSpPr>
        <p:sp>
          <p:nvSpPr>
            <p:cNvPr id="47" name="Rectangle 47"/>
            <p:cNvSpPr/>
            <p:nvPr/>
          </p:nvSpPr>
          <p:spPr>
            <a:xfrm>
              <a:off x="1543050" y="48768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824990" y="5025390"/>
              <a:ext cx="9404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803D"/>
                  </a:solidFill>
                  <a:latin typeface="Arial"/>
                  <a:ea typeface="Microsoft YaHei"/>
                  <a:cs typeface="Arial"/>
                </a:rPr>
                <a:t>allowed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34515" y="54111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满足当前任务和世界条件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05375" y="48768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87315" y="5025390"/>
              <a:ext cx="9530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blocked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196840" y="54111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越界行动不会写入状态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267700" y="48768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49640" y="50253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repaired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59165" y="54111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保留有效意图，移除不合规部分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43050" y="4400550"/>
            <a:ext cx="9105900" cy="323850"/>
            <a:chOff x="1543050" y="4400550"/>
            <a:chExt cx="9105900" cy="323850"/>
          </a:xfrm>
        </p:grpSpPr>
        <p:sp>
          <p:nvSpPr>
            <p:cNvPr id="57" name="Rectangle 57"/>
            <p:cNvSpPr/>
            <p:nvPr/>
          </p:nvSpPr>
          <p:spPr>
            <a:xfrm>
              <a:off x="1543050" y="4400550"/>
              <a:ext cx="9105900" cy="323850"/>
            </a:xfrm>
            <a:prstGeom prst="roundRect">
              <a:avLst>
                <a:gd name="adj" fmla="val 23529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052411" y="4506278"/>
              <a:ext cx="4087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语言层可以灵活扮演角色；状态层必须可验证、可追踪、可测试。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21970" y="6322695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2.3 / 3.3 / 3.4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8" grpId="0"/>
      <p:bldP spid="46" grpId="0"/>
      <p:bldP spid="56" grpId="0"/>
      <p:bldP spid="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4555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Autonomous NPC Runtime：NPC 响应世界事件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966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NPC 不只等待玩家输入，也可以在世界事件触发后生成受约束的主动行为。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85800" y="1809750"/>
            <a:ext cx="10960633" cy="976312"/>
            <a:chOff x="685800" y="1809750"/>
            <a:chExt cx="10960633" cy="976312"/>
          </a:xfrm>
        </p:grpSpPr>
        <p:sp>
          <p:nvSpPr>
            <p:cNvPr id="9" name="Rectangle 9"/>
            <p:cNvSpPr/>
            <p:nvPr/>
          </p:nvSpPr>
          <p:spPr>
            <a:xfrm>
              <a:off x="685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78731" y="2035175"/>
              <a:ext cx="242888" cy="215900"/>
              <a:chOff x="1278731" y="2035175"/>
              <a:chExt cx="242888" cy="215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278731" y="2035175"/>
                <a:ext cx="242888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5900">
                    <a:moveTo>
                      <a:pt x="0" y="40481"/>
                    </a:moveTo>
                    <a:lnTo>
                      <a:pt x="80962" y="0"/>
                    </a:lnTo>
                    <a:lnTo>
                      <a:pt x="161925" y="40481"/>
                    </a:lnTo>
                    <a:lnTo>
                      <a:pt x="242888" y="0"/>
                    </a:lnTo>
                    <a:lnTo>
                      <a:pt x="242888" y="175419"/>
                    </a:lnTo>
                    <a:lnTo>
                      <a:pt x="161925" y="215900"/>
                    </a:lnTo>
                    <a:lnTo>
                      <a:pt x="80962" y="175419"/>
                    </a:lnTo>
                    <a:lnTo>
                      <a:pt x="0" y="215900"/>
                    </a:ln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59694" y="2143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19212" y="215661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13669" y="21296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13669" y="21296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53975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39587" y="2349818"/>
              <a:ext cx="1121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world event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680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事件写入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90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183731" y="2021681"/>
              <a:ext cx="242888" cy="242887"/>
              <a:chOff x="3183731" y="2021681"/>
              <a:chExt cx="242888" cy="24288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210719" y="20216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183731" y="218360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359150" y="202343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386138" y="218563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867452" y="2349818"/>
              <a:ext cx="875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 inbox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1180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事件投递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95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115719" y="2035175"/>
              <a:ext cx="202405" cy="229394"/>
              <a:chOff x="5115719" y="2035175"/>
              <a:chExt cx="202405" cy="22939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115719" y="2035175"/>
                <a:ext cx="16192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0">
                    <a:moveTo>
                      <a:pt x="62274" y="215900"/>
                    </a:moveTo>
                    <a:lnTo>
                      <a:pt x="26987" y="215900"/>
                    </a:lnTo>
                    <a:cubicBezTo>
                      <a:pt x="12083" y="215900"/>
                      <a:pt x="0" y="203817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7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237162" y="22105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169694" y="208915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169694" y="214312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564526" y="234981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ActionCatalog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76788" y="25727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可行动作集合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00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020719" y="2008188"/>
              <a:ext cx="188912" cy="256381"/>
              <a:chOff x="7020719" y="2008188"/>
              <a:chExt cx="188912" cy="25638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034212" y="2035175"/>
                <a:ext cx="1619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07950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80962"/>
                    </a:lnTo>
                    <a:cubicBezTo>
                      <a:pt x="161925" y="95867"/>
                      <a:pt x="149842" y="107950"/>
                      <a:pt x="134937" y="107950"/>
                    </a:cubicBezTo>
                    <a:lnTo>
                      <a:pt x="26988" y="107950"/>
                    </a:lnTo>
                    <a:cubicBezTo>
                      <a:pt x="12083" y="107950"/>
                      <a:pt x="0" y="95867"/>
                      <a:pt x="0" y="8096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15175" y="2008188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074694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155656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20719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26987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155656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0"/>
                    </a:moveTo>
                    <a:lnTo>
                      <a:pt x="53975" y="2698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74694" y="2224088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088188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142162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10532" y="2349818"/>
              <a:ext cx="8092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tick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01752" y="25727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constrained decision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305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880521" y="2021681"/>
              <a:ext cx="263509" cy="242888"/>
              <a:chOff x="8880521" y="2021681"/>
              <a:chExt cx="263509" cy="2428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880521" y="202168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060656" y="22105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634434" y="2349818"/>
              <a:ext cx="7714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validate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46295" y="257270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拦截 / 修复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210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10803731" y="2075656"/>
              <a:ext cx="242887" cy="134938"/>
              <a:chOff x="10803731" y="2075656"/>
              <a:chExt cx="242887" cy="13493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0817225" y="2089150"/>
                <a:ext cx="2159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07950">
                    <a:moveTo>
                      <a:pt x="0" y="107950"/>
                    </a:moveTo>
                    <a:lnTo>
                      <a:pt x="80962" y="13494"/>
                    </a:lnTo>
                    <a:lnTo>
                      <a:pt x="148431" y="80962"/>
                    </a:ln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0952162" y="2156619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884694" y="2089150"/>
                <a:ext cx="26987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0803731" y="2183606"/>
                <a:ext cx="26987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019631" y="2075656"/>
                <a:ext cx="26987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203917" y="2349818"/>
              <a:ext cx="14425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mailbox / trace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3180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结果记录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2114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3" name="Polygon 63"/>
            <p:cNvSpPr/>
            <p:nvPr/>
          </p:nvSpPr>
          <p:spPr>
            <a:xfrm>
              <a:off x="2495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4" name="Line 64"/>
            <p:cNvSpPr/>
            <p:nvPr/>
          </p:nvSpPr>
          <p:spPr>
            <a:xfrm>
              <a:off x="4019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4400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5924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6305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8" name="Line 68"/>
            <p:cNvSpPr/>
            <p:nvPr/>
          </p:nvSpPr>
          <p:spPr>
            <a:xfrm>
              <a:off x="7829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9" name="Polygon 69"/>
            <p:cNvSpPr/>
            <p:nvPr/>
          </p:nvSpPr>
          <p:spPr>
            <a:xfrm>
              <a:off x="8210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9734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10115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1009650" y="3657600"/>
            <a:ext cx="10191750" cy="1390650"/>
            <a:chOff x="1009650" y="3657600"/>
            <a:chExt cx="10191750" cy="1390650"/>
          </a:xfrm>
        </p:grpSpPr>
        <p:sp>
          <p:nvSpPr>
            <p:cNvPr id="73" name="Rectangle 73"/>
            <p:cNvSpPr/>
            <p:nvPr/>
          </p:nvSpPr>
          <p:spPr>
            <a:xfrm>
              <a:off x="1009650" y="3657600"/>
              <a:ext cx="302895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272540" y="384429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控制点 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278255" y="4254818"/>
              <a:ext cx="23655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可行动作来自 ActionCatalog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282065" y="4572952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LLM 不能凭空发明系统未支持的工具。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591050" y="3657600"/>
              <a:ext cx="302895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853940" y="384429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控制点 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859655" y="4254818"/>
              <a:ext cx="21495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所有行动仍经过 Validator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863465" y="4572952"/>
              <a:ext cx="1923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自主 tick 也不能绕过状态机。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172450" y="3657600"/>
              <a:ext cx="302895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35340" y="384429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控制点 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41055" y="4254818"/>
              <a:ext cx="22305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结果写入 mailbox 与 trace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444865" y="4572952"/>
              <a:ext cx="2294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便于区分直接对话和独立 NPC tick。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09650" y="5410200"/>
            <a:ext cx="10191750" cy="419100"/>
            <a:chOff x="1009650" y="5410200"/>
            <a:chExt cx="10191750" cy="419100"/>
          </a:xfrm>
        </p:grpSpPr>
        <p:sp>
          <p:nvSpPr>
            <p:cNvPr id="86" name="Rectangle 86"/>
            <p:cNvSpPr/>
            <p:nvPr/>
          </p:nvSpPr>
          <p:spPr>
            <a:xfrm>
              <a:off x="1009650" y="5410200"/>
              <a:ext cx="10191750" cy="419100"/>
            </a:xfrm>
            <a:prstGeom prst="roundRect">
              <a:avLst>
                <a:gd name="adj" fmla="val 18182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456426" y="5531168"/>
              <a:ext cx="72981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自主运行时的价值不是“让 NPC 随机行动”，而是让世界事件通过可约束流程影响角色行为。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521970" y="6322695"/>
            <a:ext cx="35813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3.6 autonomous NPC runtime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85" grpId="0"/>
      <p:bldP spid="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27707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 Runtime：用 profile 驱动自动探索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70731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Traveler 是 living-world simulation 中可配置的自动探索角色，而不是普通玩家输入。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1562100"/>
            <a:ext cx="3314700" cy="3486150"/>
            <a:chOff x="685800" y="1562100"/>
            <a:chExt cx="3314700" cy="3486150"/>
          </a:xfrm>
        </p:grpSpPr>
        <p:sp>
          <p:nvSpPr>
            <p:cNvPr id="9" name="Rectangle 9"/>
            <p:cNvSpPr/>
            <p:nvPr/>
          </p:nvSpPr>
          <p:spPr>
            <a:xfrm>
              <a:off x="685800" y="1562100"/>
              <a:ext cx="3314700" cy="3486150"/>
            </a:xfrm>
            <a:prstGeom prst="roundRect">
              <a:avLst>
                <a:gd name="adj" fmla="val 229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62100"/>
              <a:ext cx="3314700" cy="514350"/>
            </a:xfrm>
            <a:prstGeom prst="roundRect">
              <a:avLst>
                <a:gd name="adj" fmla="val 14815"/>
              </a:avLst>
            </a:prstGeom>
            <a:solidFill>
              <a:srgbClr val="EEF4F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31081" y="1716881"/>
              <a:ext cx="242888" cy="242888"/>
              <a:chOff x="1031081" y="1716881"/>
              <a:chExt cx="242888" cy="2428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31081" y="19057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994" y="17168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7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7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8069" y="1743869"/>
                <a:ext cx="202406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88912">
                    <a:moveTo>
                      <a:pt x="80962" y="188912"/>
                    </a:moveTo>
                    <a:lnTo>
                      <a:pt x="155178" y="188912"/>
                    </a:lnTo>
                    <a:cubicBezTo>
                      <a:pt x="181261" y="188912"/>
                      <a:pt x="202406" y="167768"/>
                      <a:pt x="202406" y="141684"/>
                    </a:cubicBezTo>
                    <a:cubicBezTo>
                      <a:pt x="202406" y="115601"/>
                      <a:pt x="181261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43990" y="1691640"/>
              <a:ext cx="157051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YAML Profile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3455" y="2292668"/>
              <a:ext cx="2606040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公开身份：角色如何自我介绍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私人目标：探索偏好与动机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隐藏信息：不能直接暴露的背景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行动边界：允许移动、询问、检查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探索风格：求真、谨慎或追求声望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4229100"/>
              <a:ext cx="2705100" cy="514350"/>
            </a:xfrm>
            <a:prstGeom prst="roundRect">
              <a:avLst>
                <a:gd name="adj" fmla="val 14815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19454" y="4407218"/>
              <a:ext cx="20473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profile 会改变路线选择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476750" y="1466850"/>
            <a:ext cx="6743700" cy="3581400"/>
            <a:chOff x="4476750" y="1466850"/>
            <a:chExt cx="6743700" cy="3581400"/>
          </a:xfrm>
        </p:grpSpPr>
        <p:sp>
          <p:nvSpPr>
            <p:cNvPr id="20" name="Rectangle 20"/>
            <p:cNvSpPr/>
            <p:nvPr/>
          </p:nvSpPr>
          <p:spPr>
            <a:xfrm>
              <a:off x="4476750" y="1466850"/>
              <a:ext cx="6743700" cy="3581400"/>
            </a:xfrm>
            <a:prstGeom prst="roundRect">
              <a:avLst>
                <a:gd name="adj" fmla="val 212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810250" y="2800350"/>
              <a:ext cx="2819400" cy="914400"/>
            </a:xfrm>
            <a:prstGeom prst="roundRect">
              <a:avLst>
                <a:gd name="adj" fmla="val 8333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141244" y="3062288"/>
              <a:ext cx="233362" cy="316706"/>
              <a:chOff x="6141244" y="3062288"/>
              <a:chExt cx="233362" cy="31670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157912" y="3095625"/>
                <a:ext cx="2000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3335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00012"/>
                    </a:lnTo>
                    <a:cubicBezTo>
                      <a:pt x="200025" y="118424"/>
                      <a:pt x="185099" y="133350"/>
                      <a:pt x="166688" y="133350"/>
                    </a:cubicBezTo>
                    <a:lnTo>
                      <a:pt x="33338" y="133350"/>
                    </a:lnTo>
                    <a:cubicBezTo>
                      <a:pt x="14926" y="133350"/>
                      <a:pt x="0" y="118424"/>
                      <a:pt x="0" y="100012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257925" y="3062288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207919" y="3228975"/>
                <a:ext cx="9525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019">
                    <a:moveTo>
                      <a:pt x="0" y="0"/>
                    </a:moveTo>
                    <a:lnTo>
                      <a:pt x="0" y="150019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307931" y="3228975"/>
                <a:ext cx="9525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019">
                    <a:moveTo>
                      <a:pt x="0" y="0"/>
                    </a:moveTo>
                    <a:lnTo>
                      <a:pt x="0" y="150019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141244" y="3262312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307931" y="3262312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0"/>
                    </a:move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207919" y="3328988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224588" y="3162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291262" y="3162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663690" y="294894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73215" y="3315652"/>
              <a:ext cx="2000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profile-constrained LLM loop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86300" y="16954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91232" y="1892618"/>
              <a:ext cx="7998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Observe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05600" y="16954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01081" y="18926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Retrieve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724900" y="16954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24344" y="189261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Decide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724900" y="42862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56661" y="4483418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05600" y="42862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53062" y="4483418"/>
              <a:ext cx="7147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Reflect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096000" y="19716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6610350" y="19145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8115300" y="19716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8629650" y="19145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9429750" y="2247900"/>
              <a:ext cx="9525" cy="2038350"/>
            </a:xfrm>
            <a:custGeom>
              <a:avLst/>
              <a:gdLst/>
              <a:ahLst/>
              <a:cxnLst/>
              <a:rect l="l" t="t" r="r" b="b"/>
              <a:pathLst>
                <a:path w="9525" h="2038350">
                  <a:moveTo>
                    <a:pt x="0" y="0"/>
                  </a:moveTo>
                  <a:lnTo>
                    <a:pt x="0" y="20383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9372600" y="41910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8115300" y="45624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8115300" y="4505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5391150" y="456247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13144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5391150" y="2247900"/>
              <a:ext cx="9525" cy="2314575"/>
            </a:xfrm>
            <a:custGeom>
              <a:avLst/>
              <a:gdLst/>
              <a:ahLst/>
              <a:cxnLst/>
              <a:rect l="l" t="t" r="r" b="b"/>
              <a:pathLst>
                <a:path w="9525" h="2314575">
                  <a:moveTo>
                    <a:pt x="0" y="23145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5334000" y="22479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685800" y="5410200"/>
            <a:ext cx="10820400" cy="633412"/>
            <a:chOff x="685800" y="5410200"/>
            <a:chExt cx="10820400" cy="633412"/>
          </a:xfrm>
        </p:grpSpPr>
        <p:sp>
          <p:nvSpPr>
            <p:cNvPr id="56" name="Rectangle 56"/>
            <p:cNvSpPr/>
            <p:nvPr/>
          </p:nvSpPr>
          <p:spPr>
            <a:xfrm>
              <a:off x="685800" y="5410200"/>
              <a:ext cx="10820400" cy="552450"/>
            </a:xfrm>
            <a:prstGeom prst="roundRect">
              <a:avLst>
                <a:gd name="adj" fmla="val 1379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990600" y="5622925"/>
              <a:ext cx="228600" cy="127000"/>
              <a:chOff x="990600" y="5622925"/>
              <a:chExt cx="228600" cy="1270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1003300" y="5635625"/>
                <a:ext cx="203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0300" y="56991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066800" y="56356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90600" y="57245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193800" y="56229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411605" y="5483542"/>
              <a:ext cx="1574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导出字段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15415" y="5658802"/>
              <a:ext cx="4962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· 行动理由 · Traveler 发言 · NPC 回复 · 状态变化 · exploration leads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415415" y="5830252"/>
              <a:ext cx="47872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timing breakdown · arc evidence · ambient arc signals · final outcome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21970" y="6322695"/>
            <a:ext cx="45834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2.4 / 3.7 Traveler runtime 与 timeline export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5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0628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真实证据：界面、课堂 trace 与多 NPC 覆盖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62180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这页用当前仓库中的真实截图和 trace 文件证明系统不是只停留在设计文档。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504950"/>
            <a:ext cx="7334250" cy="4629150"/>
            <a:chOff x="533400" y="1504950"/>
            <a:chExt cx="7334250" cy="4629150"/>
          </a:xfrm>
        </p:grpSpPr>
        <p:sp>
          <p:nvSpPr>
            <p:cNvPr id="9" name="Rectangle 9"/>
            <p:cNvSpPr/>
            <p:nvPr/>
          </p:nvSpPr>
          <p:spPr>
            <a:xfrm>
              <a:off x="533400" y="1504950"/>
              <a:ext cx="7334250" cy="4629150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4114" y="1752600"/>
              <a:ext cx="4912822" cy="375285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819150" y="5619750"/>
              <a:ext cx="6762750" cy="323850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96315" y="5725478"/>
              <a:ext cx="40731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React/Vite 玩家端界面截图：保留交互界面和开发者 trace 面板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72450" y="1504950"/>
            <a:ext cx="3486150" cy="2762250"/>
            <a:chOff x="8172450" y="1504950"/>
            <a:chExt cx="3486150" cy="2762250"/>
          </a:xfrm>
        </p:grpSpPr>
        <p:sp>
          <p:nvSpPr>
            <p:cNvPr id="14" name="Rectangle 14"/>
            <p:cNvSpPr/>
            <p:nvPr/>
          </p:nvSpPr>
          <p:spPr>
            <a:xfrm>
              <a:off x="8172450" y="1504950"/>
              <a:ext cx="3486150" cy="2762250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520112" y="1890712"/>
              <a:ext cx="257175" cy="142875"/>
              <a:chOff x="8520112" y="1890712"/>
              <a:chExt cx="257175" cy="1428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534400" y="19050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85725" y="14288"/>
                    </a:lnTo>
                    <a:lnTo>
                      <a:pt x="157162" y="85725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677275" y="197643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605838" y="19050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520112" y="20050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48712" y="18907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930640" y="1805940"/>
              <a:ext cx="13184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Trace 证据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60105" y="2387918"/>
              <a:ext cx="1997393" cy="1493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Traveler 发言与行动理由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 回复与角色意图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关系变化和状态更新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探索线索与 arc evidence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最终 outcome 与 timing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72450" y="4514850"/>
            <a:ext cx="3486150" cy="1433512"/>
            <a:chOff x="8172450" y="4514850"/>
            <a:chExt cx="3486150" cy="1433512"/>
          </a:xfrm>
        </p:grpSpPr>
        <p:sp>
          <p:nvSpPr>
            <p:cNvPr id="24" name="Rectangle 24"/>
            <p:cNvSpPr/>
            <p:nvPr/>
          </p:nvSpPr>
          <p:spPr>
            <a:xfrm>
              <a:off x="8172450" y="4514850"/>
              <a:ext cx="3486150" cy="1428750"/>
            </a:xfrm>
            <a:prstGeom prst="roundRect">
              <a:avLst>
                <a:gd name="adj" fmla="val 533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544719" y="4822031"/>
              <a:ext cx="188912" cy="242888"/>
              <a:chOff x="8544719" y="4822031"/>
              <a:chExt cx="188912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544719" y="4849019"/>
                <a:ext cx="188912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215900">
                    <a:moveTo>
                      <a:pt x="53975" y="0"/>
                    </a:moveTo>
                    <a:lnTo>
                      <a:pt x="26987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2"/>
                    </a:lnTo>
                    <a:cubicBezTo>
                      <a:pt x="0" y="203817"/>
                      <a:pt x="12083" y="215900"/>
                      <a:pt x="26987" y="215900"/>
                    </a:cubicBezTo>
                    <a:lnTo>
                      <a:pt x="161925" y="215900"/>
                    </a:lnTo>
                    <a:cubicBezTo>
                      <a:pt x="176830" y="215900"/>
                      <a:pt x="188912" y="203817"/>
                      <a:pt x="188912" y="188912"/>
                    </a:cubicBezTo>
                    <a:lnTo>
                      <a:pt x="188912" y="26988"/>
                    </a:lnTo>
                    <a:cubicBezTo>
                      <a:pt x="188912" y="12083"/>
                      <a:pt x="176830" y="0"/>
                      <a:pt x="161925" y="0"/>
                    </a:cubicBezTo>
                    <a:lnTo>
                      <a:pt x="134937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598694" y="4822031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7"/>
                    </a:cubicBezTo>
                    <a:cubicBezTo>
                      <a:pt x="80962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98694" y="4943475"/>
                <a:ext cx="9525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7469">
                    <a:moveTo>
                      <a:pt x="0" y="6746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39175" y="4997450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1349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679656" y="4970462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4048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936355" y="484536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复用的真实运行文件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3915" y="5296852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classroom_showcase_llm_run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63915" y="5506402"/>
              <a:ext cx="17208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sable_advantage_llm_run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63915" y="5735002"/>
              <a:ext cx="28060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Markdown timeline + JSON trace 对应验证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1970" y="6265545"/>
            <a:ext cx="3995357" cy="354330"/>
            <a:chOff x="521970" y="6265545"/>
            <a:chExt cx="3995357" cy="354330"/>
          </a:xfrm>
        </p:grpSpPr>
        <p:sp>
          <p:nvSpPr>
            <p:cNvPr id="36" name="TextBox 36"/>
            <p:cNvSpPr txBox="1"/>
            <p:nvPr/>
          </p:nvSpPr>
          <p:spPr>
            <a:xfrm>
              <a:off x="521970" y="6265545"/>
              <a:ext cx="18470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Source: player_ui_desktop.png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36995"/>
              <a:ext cx="3995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Trace: classroom_showcase_trace.md · sable_advantage_trace.md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06312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Sable 路线：语言行为与状态变化分离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6779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真实 trace 显示角色可以试探和引导，但不能直接越权解锁世界事实。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1466850"/>
            <a:ext cx="6076950" cy="4476750"/>
            <a:chOff x="533400" y="1466850"/>
            <a:chExt cx="6076950" cy="4476750"/>
          </a:xfrm>
        </p:grpSpPr>
        <p:sp>
          <p:nvSpPr>
            <p:cNvPr id="9" name="Rectangle 9"/>
            <p:cNvSpPr/>
            <p:nvPr/>
          </p:nvSpPr>
          <p:spPr>
            <a:xfrm>
              <a:off x="533400" y="1466850"/>
              <a:ext cx="6076950" cy="447675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1466850"/>
              <a:ext cx="6076950" cy="457200"/>
            </a:xfrm>
            <a:prstGeom prst="roundRect">
              <a:avLst>
                <a:gd name="adj" fmla="val 16667"/>
              </a:avLst>
            </a:prstGeom>
            <a:solidFill>
              <a:srgbClr val="EEF4F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5819" y="1609725"/>
              <a:ext cx="214312" cy="190500"/>
              <a:chOff x="835819" y="1609725"/>
              <a:chExt cx="214312" cy="190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35819" y="16573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47625" y="0"/>
                    </a:moveTo>
                    <a:lnTo>
                      <a:pt x="0" y="47625"/>
                    </a:lnTo>
                    <a:lnTo>
                      <a:pt x="47625" y="952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2506" y="16573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0"/>
                    </a:moveTo>
                    <a:lnTo>
                      <a:pt x="47625" y="47625"/>
                    </a:ln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9162" y="1609725"/>
                <a:ext cx="47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90500">
                    <a:moveTo>
                      <a:pt x="47625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83005" y="1616392"/>
              <a:ext cx="37675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真实运行片段：sable_advantage · Round 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8200" y="217170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3465" y="2286952"/>
              <a:ext cx="27920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Traveler action: talk_to · target: sable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3465" y="2496502"/>
              <a:ext cx="4682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理由：Sable 是非正式信息渠道，Traveler 希望建立信任并获取遗迹传闻。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291465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3465" y="3029902"/>
              <a:ext cx="29880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NPC decision intent: redirect_ruins_inquiry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3465" y="3239452"/>
              <a:ext cx="37161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NPCMind belief：Traveler 可能知道有利可图的遗迹线索。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38200" y="365760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3465" y="3772852"/>
              <a:ext cx="33240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Validator: traveler allowed · npc accepted=true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3465" y="39824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行动可以发生，但后续状态变化仍按规则记录。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40055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3465" y="4515802"/>
              <a:ext cx="3919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State change: trust 0.05 -&gt; 0.10 · affinity 0.10 -&gt; 0.20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3465" y="472535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允许的是关系推进，不是地点解锁或物品发放。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8200" y="5143500"/>
              <a:ext cx="5467350" cy="514350"/>
            </a:xfrm>
            <a:prstGeom prst="roundRect">
              <a:avLst>
                <a:gd name="adj" fmla="val 14815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3465" y="5249228"/>
              <a:ext cx="5417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response constraints：不要声称地下遗迹入口已解锁；不要声称玩家获得物品奖励。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10400" y="1466850"/>
            <a:ext cx="4648200" cy="4476750"/>
            <a:chOff x="7010400" y="1466850"/>
            <a:chExt cx="4648200" cy="4476750"/>
          </a:xfrm>
        </p:grpSpPr>
        <p:sp>
          <p:nvSpPr>
            <p:cNvPr id="31" name="Rectangle 31"/>
            <p:cNvSpPr/>
            <p:nvPr/>
          </p:nvSpPr>
          <p:spPr>
            <a:xfrm>
              <a:off x="7010400" y="1466850"/>
              <a:ext cx="464820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60444" y="1851025"/>
              <a:ext cx="286544" cy="256381"/>
              <a:chOff x="7360444" y="1851025"/>
              <a:chExt cx="286544" cy="25638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435850" y="1926431"/>
                <a:ext cx="120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9525">
                    <a:moveTo>
                      <a:pt x="0" y="0"/>
                    </a:move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35850" y="1986756"/>
                <a:ext cx="904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525">
                    <a:moveTo>
                      <a:pt x="0" y="0"/>
                    </a:move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360444" y="1851025"/>
                <a:ext cx="271462" cy="256381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56381">
                    <a:moveTo>
                      <a:pt x="135731" y="256381"/>
                    </a:moveTo>
                    <a:lnTo>
                      <a:pt x="120650" y="241300"/>
                    </a:lnTo>
                    <a:lnTo>
                      <a:pt x="90488" y="211137"/>
                    </a:lnTo>
                    <a:lnTo>
                      <a:pt x="45244" y="211137"/>
                    </a:lnTo>
                    <a:cubicBezTo>
                      <a:pt x="20256" y="211137"/>
                      <a:pt x="0" y="190881"/>
                      <a:pt x="0" y="165894"/>
                    </a:cubicBezTo>
                    <a:lnTo>
                      <a:pt x="0" y="45244"/>
                    </a:lnTo>
                    <a:cubicBezTo>
                      <a:pt x="0" y="20256"/>
                      <a:pt x="20256" y="0"/>
                      <a:pt x="45244" y="0"/>
                    </a:cubicBezTo>
                    <a:lnTo>
                      <a:pt x="226219" y="0"/>
                    </a:lnTo>
                    <a:cubicBezTo>
                      <a:pt x="251206" y="0"/>
                      <a:pt x="271462" y="20256"/>
                      <a:pt x="271462" y="45244"/>
                    </a:cubicBezTo>
                    <a:lnTo>
                      <a:pt x="271462" y="13573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616825" y="2047081"/>
                <a:ext cx="30163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30163" h="60325">
                    <a:moveTo>
                      <a:pt x="0" y="60325"/>
                    </a:moveTo>
                    <a:lnTo>
                      <a:pt x="30163" y="30163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541419" y="2047081"/>
                <a:ext cx="30162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60325">
                    <a:moveTo>
                      <a:pt x="30162" y="0"/>
                    </a:moveTo>
                    <a:lnTo>
                      <a:pt x="0" y="30163"/>
                    </a:lnTo>
                    <a:lnTo>
                      <a:pt x="30162" y="603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825740" y="18059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语言层允许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98055" y="2368868"/>
              <a:ext cx="350615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Sable 可以试探、转移话题、引导 Traveler，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并通过自然语言表现误导型角色的社交策略。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15200" y="3009900"/>
              <a:ext cx="3676650" cy="323850"/>
            </a:xfrm>
            <a:prstGeom prst="roundRect">
              <a:avLst>
                <a:gd name="adj" fmla="val 23529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73315" y="3106102"/>
              <a:ext cx="2680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这部分体现角色表达能力和 profile 差异。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10400" y="3848100"/>
              <a:ext cx="464820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40091" y="4217194"/>
              <a:ext cx="294510" cy="271462"/>
              <a:chOff x="7340091" y="4217194"/>
              <a:chExt cx="294510" cy="27146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40091" y="4217194"/>
                <a:ext cx="294510" cy="269140"/>
              </a:xfrm>
              <a:custGeom>
                <a:avLst/>
                <a:gdLst/>
                <a:ahLst/>
                <a:cxnLst/>
                <a:rect l="l" t="t" r="r" b="b"/>
                <a:pathLst>
                  <a:path w="294510" h="269140">
                    <a:moveTo>
                      <a:pt x="147940" y="269140"/>
                    </a:moveTo>
                    <a:cubicBezTo>
                      <a:pt x="53463" y="239854"/>
                      <a:pt x="0" y="140141"/>
                      <a:pt x="27894" y="45244"/>
                    </a:cubicBezTo>
                    <a:cubicBezTo>
                      <a:pt x="74880" y="47394"/>
                      <a:pt x="120857" y="31167"/>
                      <a:pt x="156084" y="0"/>
                    </a:cubicBezTo>
                    <a:cubicBezTo>
                      <a:pt x="191311" y="31167"/>
                      <a:pt x="237289" y="47394"/>
                      <a:pt x="284275" y="45244"/>
                    </a:cubicBezTo>
                    <a:cubicBezTo>
                      <a:pt x="294510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541419" y="4428331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825740" y="41871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状态层受控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98055" y="4750118"/>
              <a:ext cx="3694747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地点、物品、任务完成和关系变化必须通过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ActionValidator、任务状态机和 SQLite 写入。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315200" y="5391150"/>
              <a:ext cx="3676650" cy="323850"/>
            </a:xfrm>
            <a:prstGeom prst="roundRect">
              <a:avLst>
                <a:gd name="adj" fmla="val 23529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73315" y="548735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这部分体现系统事实边界和可复盘性。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21970" y="6322695"/>
            <a:ext cx="47694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6.1 典型 trace 示例 · sable_advantage_trace.md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评估：已有证据与下一步指标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6779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当前不虚构大规模统计结论，而是用 trace 证明关键机制已经可复盘。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" y="1581150"/>
            <a:ext cx="3333750" cy="3352800"/>
            <a:chOff x="666750" y="1581150"/>
            <a:chExt cx="3333750" cy="3352800"/>
          </a:xfrm>
        </p:grpSpPr>
        <p:sp>
          <p:nvSpPr>
            <p:cNvPr id="9" name="Rectangle 9"/>
            <p:cNvSpPr/>
            <p:nvPr/>
          </p:nvSpPr>
          <p:spPr>
            <a:xfrm>
              <a:off x="666750" y="1581150"/>
              <a:ext cx="3333750" cy="3352800"/>
            </a:xfrm>
            <a:prstGeom prst="roundRect">
              <a:avLst>
                <a:gd name="adj" fmla="val 228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35844" y="2010569"/>
              <a:ext cx="271462" cy="150812"/>
              <a:chOff x="1035844" y="2010569"/>
              <a:chExt cx="271462" cy="15081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50925" y="2025650"/>
                <a:ext cx="24130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241300" h="120650">
                    <a:moveTo>
                      <a:pt x="0" y="120650"/>
                    </a:moveTo>
                    <a:lnTo>
                      <a:pt x="90488" y="15081"/>
                    </a:lnTo>
                    <a:lnTo>
                      <a:pt x="165894" y="90488"/>
                    </a:lnTo>
                    <a:lnTo>
                      <a:pt x="2413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01738" y="2101056"/>
                <a:ext cx="30163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30163" h="30162">
                    <a:moveTo>
                      <a:pt x="0" y="15081"/>
                    </a:moveTo>
                    <a:cubicBezTo>
                      <a:pt x="0" y="23410"/>
                      <a:pt x="6752" y="30162"/>
                      <a:pt x="15081" y="30162"/>
                    </a:cubicBezTo>
                    <a:cubicBezTo>
                      <a:pt x="23410" y="30162"/>
                      <a:pt x="30163" y="23410"/>
                      <a:pt x="30163" y="15081"/>
                    </a:cubicBezTo>
                    <a:cubicBezTo>
                      <a:pt x="30163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26331" y="2025650"/>
                <a:ext cx="30162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30163">
                    <a:moveTo>
                      <a:pt x="0" y="15081"/>
                    </a:moveTo>
                    <a:cubicBezTo>
                      <a:pt x="0" y="23410"/>
                      <a:pt x="6752" y="30163"/>
                      <a:pt x="15081" y="30163"/>
                    </a:cubicBezTo>
                    <a:cubicBezTo>
                      <a:pt x="23410" y="30163"/>
                      <a:pt x="30162" y="23410"/>
                      <a:pt x="30162" y="15081"/>
                    </a:cubicBezTo>
                    <a:cubicBezTo>
                      <a:pt x="30162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35844" y="2131219"/>
                <a:ext cx="30163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30163" h="30162">
                    <a:moveTo>
                      <a:pt x="0" y="15081"/>
                    </a:moveTo>
                    <a:cubicBezTo>
                      <a:pt x="0" y="23410"/>
                      <a:pt x="6752" y="30162"/>
                      <a:pt x="15081" y="30162"/>
                    </a:cubicBezTo>
                    <a:cubicBezTo>
                      <a:pt x="23410" y="30162"/>
                      <a:pt x="30163" y="23410"/>
                      <a:pt x="30163" y="15081"/>
                    </a:cubicBezTo>
                    <a:cubicBezTo>
                      <a:pt x="30163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77144" y="2010569"/>
                <a:ext cx="30162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30162">
                    <a:moveTo>
                      <a:pt x="0" y="15081"/>
                    </a:moveTo>
                    <a:cubicBezTo>
                      <a:pt x="0" y="23410"/>
                      <a:pt x="6752" y="30162"/>
                      <a:pt x="15081" y="30162"/>
                    </a:cubicBezTo>
                    <a:cubicBezTo>
                      <a:pt x="23410" y="30162"/>
                      <a:pt x="30162" y="23410"/>
                      <a:pt x="30162" y="15081"/>
                    </a:cubicBezTo>
                    <a:cubicBezTo>
                      <a:pt x="30162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82090" y="19392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已有证据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3455" y="2559368"/>
              <a:ext cx="2177415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demo trace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JSON / Markdown timeline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NPCMind 与 Validator 字段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Traveler route 输出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timing breakdown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90600" y="4210050"/>
              <a:ext cx="2686050" cy="400050"/>
            </a:xfrm>
            <a:prstGeom prst="roundRect">
              <a:avLst>
                <a:gd name="adj" fmla="val 19048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620202" y="43538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适合做课程级机制证明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38650" y="1581150"/>
            <a:ext cx="3333750" cy="3352800"/>
            <a:chOff x="4438650" y="1581150"/>
            <a:chExt cx="3333750" cy="3352800"/>
          </a:xfrm>
        </p:grpSpPr>
        <p:sp>
          <p:nvSpPr>
            <p:cNvPr id="21" name="Rectangle 21"/>
            <p:cNvSpPr/>
            <p:nvPr/>
          </p:nvSpPr>
          <p:spPr>
            <a:xfrm>
              <a:off x="4438650" y="1581150"/>
              <a:ext cx="3333750" cy="3352800"/>
            </a:xfrm>
            <a:prstGeom prst="roundRect">
              <a:avLst>
                <a:gd name="adj" fmla="val 2286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837906" y="1950244"/>
              <a:ext cx="211138" cy="271462"/>
              <a:chOff x="4837906" y="1950244"/>
              <a:chExt cx="211138" cy="2714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837906" y="1980406"/>
                <a:ext cx="211138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211138" h="241300">
                    <a:moveTo>
                      <a:pt x="60325" y="0"/>
                    </a:moveTo>
                    <a:lnTo>
                      <a:pt x="30162" y="0"/>
                    </a:lnTo>
                    <a:cubicBezTo>
                      <a:pt x="13504" y="0"/>
                      <a:pt x="0" y="13504"/>
                      <a:pt x="0" y="30163"/>
                    </a:cubicBezTo>
                    <a:lnTo>
                      <a:pt x="0" y="211138"/>
                    </a:lnTo>
                    <a:cubicBezTo>
                      <a:pt x="0" y="227796"/>
                      <a:pt x="13504" y="241300"/>
                      <a:pt x="30162" y="241300"/>
                    </a:cubicBezTo>
                    <a:lnTo>
                      <a:pt x="180975" y="241300"/>
                    </a:lnTo>
                    <a:cubicBezTo>
                      <a:pt x="197633" y="241300"/>
                      <a:pt x="211138" y="227796"/>
                      <a:pt x="211138" y="211138"/>
                    </a:cubicBezTo>
                    <a:lnTo>
                      <a:pt x="211138" y="30163"/>
                    </a:lnTo>
                    <a:cubicBezTo>
                      <a:pt x="211138" y="13504"/>
                      <a:pt x="197633" y="0"/>
                      <a:pt x="180975" y="0"/>
                    </a:cubicBezTo>
                    <a:lnTo>
                      <a:pt x="15081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98231" y="1950244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8" y="13504"/>
                      <a:pt x="90488" y="30162"/>
                    </a:cubicBezTo>
                    <a:cubicBezTo>
                      <a:pt x="90488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898231" y="2085975"/>
                <a:ext cx="9525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5406">
                    <a:moveTo>
                      <a:pt x="0" y="7540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943475" y="2146300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1508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988719" y="2116138"/>
                <a:ext cx="9525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244">
                    <a:moveTo>
                      <a:pt x="0" y="4524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253990" y="19392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能说明什么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45355" y="2559368"/>
              <a:ext cx="1860232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角色知识边界可复盘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状态写入与回复分离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越权行动有拦截路径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profile 会影响探索路线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耗时阶段可以定位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0" y="4210050"/>
              <a:ext cx="2686050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92102" y="43538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证明系统链路真实存在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210550" y="1581150"/>
            <a:ext cx="3333750" cy="3352800"/>
            <a:chOff x="8210550" y="1581150"/>
            <a:chExt cx="3333750" cy="3352800"/>
          </a:xfrm>
        </p:grpSpPr>
        <p:sp>
          <p:nvSpPr>
            <p:cNvPr id="33" name="Rectangle 33"/>
            <p:cNvSpPr/>
            <p:nvPr/>
          </p:nvSpPr>
          <p:spPr>
            <a:xfrm>
              <a:off x="8210550" y="1581150"/>
              <a:ext cx="3333750" cy="3352800"/>
            </a:xfrm>
            <a:prstGeom prst="roundRect">
              <a:avLst>
                <a:gd name="adj" fmla="val 228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579644" y="1965325"/>
              <a:ext cx="271463" cy="250825"/>
              <a:chOff x="8579644" y="1965325"/>
              <a:chExt cx="271463" cy="2508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579644" y="2085975"/>
                <a:ext cx="90488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8" y="6752"/>
                      <a:pt x="90488" y="15081"/>
                    </a:cubicBezTo>
                    <a:lnTo>
                      <a:pt x="90488" y="105569"/>
                    </a:lnTo>
                    <a:cubicBezTo>
                      <a:pt x="90488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60619" y="2025650"/>
                <a:ext cx="90488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8" y="6752"/>
                      <a:pt x="90488" y="15081"/>
                    </a:cubicBezTo>
                    <a:lnTo>
                      <a:pt x="90488" y="165894"/>
                    </a:lnTo>
                    <a:cubicBezTo>
                      <a:pt x="90488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4"/>
                    </a:cubicBez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670131" y="1965325"/>
                <a:ext cx="90488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24130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8" y="6752"/>
                      <a:pt x="90488" y="15081"/>
                    </a:cubicBezTo>
                    <a:lnTo>
                      <a:pt x="90488" y="226219"/>
                    </a:lnTo>
                    <a:cubicBezTo>
                      <a:pt x="90488" y="234548"/>
                      <a:pt x="83735" y="241300"/>
                      <a:pt x="75406" y="241300"/>
                    </a:cubicBezTo>
                    <a:lnTo>
                      <a:pt x="15081" y="241300"/>
                    </a:lnTo>
                    <a:cubicBezTo>
                      <a:pt x="6752" y="241300"/>
                      <a:pt x="0" y="234548"/>
                      <a:pt x="0" y="22621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94725" y="2206625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9025890" y="19392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下一步指标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17255" y="2559368"/>
              <a:ext cx="1748790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固定对话集一致性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越权拦截频次统计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同初始态多次运行对比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timeline 图形化回放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自动 trace 分析脚本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534400" y="4210050"/>
              <a:ext cx="2686050" cy="400050"/>
            </a:xfrm>
            <a:prstGeom prst="roundRect">
              <a:avLst>
                <a:gd name="adj" fmla="val 19048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93994" y="43538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从案例复盘走向量化评估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66850" y="5334000"/>
            <a:ext cx="9258300" cy="533400"/>
            <a:chOff x="1466850" y="5334000"/>
            <a:chExt cx="9258300" cy="533400"/>
          </a:xfrm>
        </p:grpSpPr>
        <p:sp>
          <p:nvSpPr>
            <p:cNvPr id="44" name="Rectangle 44"/>
            <p:cNvSpPr/>
            <p:nvPr/>
          </p:nvSpPr>
          <p:spPr>
            <a:xfrm>
              <a:off x="1466850" y="5334000"/>
              <a:ext cx="9258300" cy="533400"/>
            </a:xfrm>
            <a:prstGeom prst="roundRect">
              <a:avLst>
                <a:gd name="adj" fmla="val 14286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73555" y="5521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边界说明：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745105" y="5521642"/>
              <a:ext cx="62180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目前评估仍以案例 trace 和人工复盘为主，后续需要自动分析和可视化回放。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21970" y="6322695"/>
            <a:ext cx="3635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七、系统评估 / 八、问题与不足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  <p:bldP spid="43" grpId="0"/>
      <p:bldP spid="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5240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60960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43890" y="1034415"/>
            <a:ext cx="9572054" cy="1080135"/>
            <a:chOff x="643890" y="1034415"/>
            <a:chExt cx="9572054" cy="1080135"/>
          </a:xfrm>
        </p:grpSpPr>
        <p:sp>
          <p:nvSpPr>
            <p:cNvPr id="6" name="TextBox 6"/>
            <p:cNvSpPr txBox="1"/>
            <p:nvPr/>
          </p:nvSpPr>
          <p:spPr>
            <a:xfrm>
              <a:off x="643890" y="1034415"/>
              <a:ext cx="768467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1040" y="1748790"/>
              <a:ext cx="95149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项目的关键不是让 LLM 自由写出更像角色的台词，而是把它放入受规则约束的运行流程。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57250" y="2686050"/>
            <a:ext cx="9601200" cy="781050"/>
            <a:chOff x="857250" y="2686050"/>
            <a:chExt cx="9601200" cy="781050"/>
          </a:xfrm>
        </p:grpSpPr>
        <p:sp>
          <p:nvSpPr>
            <p:cNvPr id="9" name="Rectangle 9"/>
            <p:cNvSpPr/>
            <p:nvPr/>
          </p:nvSpPr>
          <p:spPr>
            <a:xfrm>
              <a:off x="85725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40619" y="2938371"/>
              <a:ext cx="223837" cy="173923"/>
              <a:chOff x="1140619" y="2938371"/>
              <a:chExt cx="223837" cy="17392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40619" y="3093152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40619" y="2938371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0619" y="2957512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47775" y="2957512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354931" y="2957512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4310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读取状态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5750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140869" y="2921794"/>
              <a:ext cx="214312" cy="214312"/>
              <a:chOff x="3140869" y="2921794"/>
              <a:chExt cx="214312" cy="21431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248025" y="3040856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18657" y="0"/>
                      <a:pt x="0" y="18657"/>
                      <a:pt x="0" y="41672"/>
                    </a:cubicBezTo>
                    <a:lnTo>
                      <a:pt x="0" y="53578"/>
                    </a:lnTo>
                    <a:cubicBezTo>
                      <a:pt x="0" y="76593"/>
                      <a:pt x="18657" y="95250"/>
                      <a:pt x="41672" y="95250"/>
                    </a:cubicBezTo>
                    <a:cubicBezTo>
                      <a:pt x="64687" y="95250"/>
                      <a:pt x="83344" y="76593"/>
                      <a:pt x="83344" y="53578"/>
                    </a:cubicBezTo>
                    <a:lnTo>
                      <a:pt x="83344" y="3214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164681" y="3040856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53578"/>
                    </a:lnTo>
                    <a:cubicBezTo>
                      <a:pt x="83344" y="76593"/>
                      <a:pt x="64687" y="95250"/>
                      <a:pt x="41672" y="95250"/>
                    </a:cubicBezTo>
                    <a:cubicBezTo>
                      <a:pt x="18657" y="95250"/>
                      <a:pt x="0" y="76593"/>
                      <a:pt x="0" y="53578"/>
                    </a:cubicBezTo>
                    <a:lnTo>
                      <a:pt x="0" y="3214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307556" y="2993231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5953" y="83344"/>
                    </a:moveTo>
                    <a:cubicBezTo>
                      <a:pt x="28968" y="83344"/>
                      <a:pt x="47625" y="64687"/>
                      <a:pt x="47625" y="41672"/>
                    </a:cubicBezTo>
                    <a:cubicBezTo>
                      <a:pt x="47625" y="18657"/>
                      <a:pt x="28968" y="0"/>
                      <a:pt x="595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248025" y="2921794"/>
                <a:ext cx="83344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75009">
                    <a:moveTo>
                      <a:pt x="83344" y="75009"/>
                    </a:moveTo>
                    <a:lnTo>
                      <a:pt x="83344" y="41672"/>
                    </a:lnTo>
                    <a:cubicBezTo>
                      <a:pt x="83344" y="18657"/>
                      <a:pt x="64687" y="0"/>
                      <a:pt x="41672" y="0"/>
                    </a:cubicBezTo>
                    <a:cubicBezTo>
                      <a:pt x="18657" y="0"/>
                      <a:pt x="0" y="18657"/>
                      <a:pt x="0" y="4167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140869" y="2993231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41672" y="83344"/>
                    </a:move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164681" y="2921794"/>
                <a:ext cx="83344" cy="16073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60734">
                    <a:moveTo>
                      <a:pt x="0" y="75009"/>
                    </a:move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16073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26240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形成心智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5775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164931" y="2909888"/>
              <a:ext cx="166688" cy="226218"/>
              <a:chOff x="5164931" y="2909888"/>
              <a:chExt cx="166688" cy="22621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176838" y="29337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71438"/>
                    </a:lnTo>
                    <a:cubicBezTo>
                      <a:pt x="142875" y="84589"/>
                      <a:pt x="132214" y="95250"/>
                      <a:pt x="119062" y="95250"/>
                    </a:cubicBezTo>
                    <a:lnTo>
                      <a:pt x="23812" y="95250"/>
                    </a:lnTo>
                    <a:cubicBezTo>
                      <a:pt x="10661" y="95250"/>
                      <a:pt x="0" y="84589"/>
                      <a:pt x="0" y="71438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248275" y="2909888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212556" y="3028950"/>
                <a:ext cx="9525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156">
                    <a:moveTo>
                      <a:pt x="0" y="0"/>
                    </a:moveTo>
                    <a:lnTo>
                      <a:pt x="0" y="107156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83994" y="3028950"/>
                <a:ext cx="9525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156">
                    <a:moveTo>
                      <a:pt x="0" y="0"/>
                    </a:moveTo>
                    <a:lnTo>
                      <a:pt x="0" y="107156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164931" y="3052762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0" y="23812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283994" y="3052762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0" y="0"/>
                    </a:moveTo>
                    <a:lnTo>
                      <a:pt x="47625" y="2381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12556" y="3100388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224462" y="2981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272088" y="2981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526265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提出意图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5800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125301" y="2921794"/>
              <a:ext cx="232508" cy="214312"/>
              <a:chOff x="7125301" y="2921794"/>
              <a:chExt cx="232508" cy="21431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125301" y="2921794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84244" y="3088481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26290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校验执行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5825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141619" y="2969419"/>
              <a:ext cx="214312" cy="119062"/>
              <a:chOff x="9141619" y="2969419"/>
              <a:chExt cx="214312" cy="119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153525" y="29813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71438" y="11906"/>
                    </a:lnTo>
                    <a:lnTo>
                      <a:pt x="130969" y="71438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272588" y="3040856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213056" y="2981325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141619" y="30646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332119" y="29694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26315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导出证据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245745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276225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445770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476250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645795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676275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845820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876300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796290" y="4072890"/>
            <a:ext cx="10709910" cy="1203960"/>
            <a:chOff x="796290" y="4072890"/>
            <a:chExt cx="10709910" cy="1203960"/>
          </a:xfrm>
        </p:grpSpPr>
        <p:sp>
          <p:nvSpPr>
            <p:cNvPr id="60" name="TextBox 60"/>
            <p:cNvSpPr txBox="1"/>
            <p:nvPr/>
          </p:nvSpPr>
          <p:spPr>
            <a:xfrm>
              <a:off x="796290" y="40728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后续工作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91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49655" y="4692968"/>
              <a:ext cx="12345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多 Agent 调度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3465" y="49825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更稳定的事件顺序与冲突解决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5623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792855" y="46929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长期记忆质量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796665" y="49825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筛选、压缩、检索相关性评估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3055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36055" y="46929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自动评估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39865" y="4982528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状态一致性、越权率、任务推进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0487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79255" y="469296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可视化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83065" y="498252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降低课堂展示和复盘成本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23900" y="5600700"/>
            <a:ext cx="10782300" cy="357188"/>
            <a:chOff x="723900" y="5600700"/>
            <a:chExt cx="10782300" cy="357188"/>
          </a:xfrm>
        </p:grpSpPr>
        <p:sp>
          <p:nvSpPr>
            <p:cNvPr id="74" name="Rectangle 74"/>
            <p:cNvSpPr/>
            <p:nvPr/>
          </p:nvSpPr>
          <p:spPr>
            <a:xfrm>
              <a:off x="723900" y="5600700"/>
              <a:ext cx="10782300" cy="342900"/>
            </a:xfrm>
            <a:prstGeom prst="roundRect">
              <a:avLst>
                <a:gd name="adj" fmla="val 22222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695480" y="5683568"/>
              <a:ext cx="68391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从课堂项目角度，它已经形成一个可运行、可观察、可验证的 LLM 角色 Agent 原型。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12470" y="6322695"/>
            <a:ext cx="10767060" cy="182880"/>
            <a:chOff x="712470" y="6322695"/>
            <a:chExt cx="10767060" cy="182880"/>
          </a:xfrm>
        </p:grpSpPr>
        <p:sp>
          <p:nvSpPr>
            <p:cNvPr id="77" name="TextBox 77"/>
            <p:cNvSpPr txBox="1"/>
            <p:nvPr/>
          </p:nvSpPr>
          <p:spPr>
            <a:xfrm>
              <a:off x="712470" y="6322695"/>
              <a:ext cx="24171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Source: course_report_zh.md · 十、总结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5462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9" grpId="0"/>
      <p:bldP spid="73" grpId="0"/>
      <p:bldP spid="7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2026-06-08T06:03:45Z</dcterms:created>
  <dcterms:modified xsi:type="dcterms:W3CDTF">2026-06-08T06:03:45Z</dcterms:modified>
  <cp:category/>
  <cp:contentStatus/>
</cp:coreProperties>
</file>