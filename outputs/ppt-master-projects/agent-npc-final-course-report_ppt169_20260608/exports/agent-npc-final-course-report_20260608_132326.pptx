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这次汇报的核心结论是：我的项目不是一个普通聊天界面，而是一个可运行、可复盘的 LLM 角色 Agent 系统。LLM 在这里主要负责理解上下文、形成意图和生成自然语言表达；真正改变任务、关系、物品和地点状态的部分，由系统流程控制。封面上的链路概括了整套设计：理解、decision、校验、状态写入和 timeline 证据。接下来我会先说明为什么普通角色聊天不够，再展示这个项目如何一步步扩展成 living-world runtime。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项目的起点是一个很具体的问题：角色说了什么，并不等于世界里真的发生了什么。普通 LLM 对话可能生成“入口已经解锁”这样的文本，但数据库、任务状态和物品并没有对应变化；如果只保存最终回复，也很难回头解释一次行为为什么发生。这里列出的三个风险分别是语言幻觉、上下文断裂和不可复盘。我的设计目标，就是把角色语言能力保留下来，同时把世界事实交给可验证的程序流程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基于这个问题，项目目标可以概括为四个支柱：状态、记忆、校验和 trace。状态层用 SQLite 保存任务、地点、物品和关系；记忆层把近期上下文、长期记忆和 lore 带入角色决策；校验层阻止 LLM 直接越权改写世界事实；trace 则记录每一步中间过程。这样，一个 NPC 不只是会回复一句话，而是能在受控流程里读取状态、形成计划、提出行动，并留下证据。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这页讲的是项目能力的演进历史，而不是版本号清单。第一阶段先做单 NPC 记忆对话原型，验证能否读取状态、调用 LLM、回复玩家并留下 trace。第二阶段发现角色只看当前输入不稳定，所以加入分层上下文、lore 检索、长期记忆和玩家端界面。第三阶段把 NPCMind、NarrativeEnvironment 和 ActionValidator 拆出来，解决 LLM 语言意图和世界事实执行权混在一起的问题。最后加入 autonomous runtime、Traveler profile 和 timeline export，让项目变成可以自动探索、多 NPC 互动、并能在课堂上复盘展示的 living world。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总体架构的关键，是把 LLM 放在“提出意图”的位置，而不是让它直接拥有执行权。玩家或 Traveler 的输入先变成 observation，再经过记忆与 lore 检索，进入 NPCMind 形成 belief、goal 和 plan；LLM 基于这些上下文输出结构化 decision。这个 decision 必须经过 ActionValidator 和 NarrativeEnvironment，才能写入 SQLite 世界状态。最后，系统会把过程导出为 trace 和 timeline，这也是后面报告和演示的主要证据来源。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这页进一步拆开模块职责。NarrativeEnvironment 负责组织 observation 和执行 action，Memory 系统负责补充上下文，NPCMind 负责形成角色内部判断，LLM Decision 负责提出结构化意图。真正守住事实边界的是 ActionValidator 和 SQLite World State，前者决定行动是否允许，后者保存任务、地点、物品和关系的真实变化。这样的分工让项目更容易解释，也让后续测试和定位问题更清楚。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角色要表现得稳定，不能只看当前一句输入。项目把近期上下文、稳定 lore、长期记忆和任务状态作为不同来源，再通过检索合成当前 Agent 的上下文。这样，NPC 在回复前能知道当前地点、之前互动、自己应该知道或不知道的设定，以及当前任务条件。后台 memory jobs 的作用，是把运行过程中产生的交互和反思整理成后续可检索内容，避免所有历史都挤在单轮 prompt 里。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NPCMind 和 ActionValidator 是项目里最重要的一组边界。NPCMind 让角色在回复前先形成 belief、emotion、goal、plan 和 social strategy，所以角色不是只在模板里说话，而是有可记录的主观状态。ActionValidator 则从相反方向工作：它检查 LLM 提出的 action 是否符合当前世界状态，如果越界就阻止或修复。这样既保留了角色语言的灵活性，又避免一句自然语言直接改变数据库事实。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 autonomous NPC runtime 中，NPC 可以响应世界事件，而不是永远等待玩家输入。流程从 world event 开始，事件进入 NPC inbox，系统根据 NPC 状态和 ActionCatalog 构造可行动作集合，然后让 LLM 在这个集合内做 constrained decision。即使是自主 tick，结果仍然必须经过 Validator，最后写入 mailbox、runtime state 和 trace。这个设计的重点不是让 NPC 随机行动，而是让世界事件以可约束、可复盘的方式影响角色。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Traveler runtime 是项目后期最适合课堂展示的部分。Traveler 不是手工输入的玩家，而是由 YAML profile 配置的角色 Agent，它有公开身份、私人目标、隐藏信息、行动边界和探索风格。每一轮它会观察世界、检索线索、决定移动或询问，再执行行动并反思。timeline 导出会记录行动理由、Traveler 发言、NPC 回复、状态变化、timing breakdown 和 arc evidence，因此不同 profile 的路线差异也可以被实际复盘。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为了避免汇报停留在架构图上，这页放的是当前仓库里的真实界面和 trace 证据。左侧是 React/Vite 玩家端界面截图，右侧列出 timeline 中用于复盘的关键字段，包括 Traveler 发言、NPC 回复、关系变化、探索线索、arc evidence、最终 outcome 和 timing。项目还保留了课堂展示 trace 和 Sable 路线 trace，所以报告中的结果不是虚构描述，而是从当前项目运行输出中整理出来的。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Sable 路线可以很好地说明语言层和状态层的分离。这个真实 trace 中，Traveler 选择和 Sable 对话，理由是希望通过非正式信息渠道建立信任并获取遗迹传闻；Sable 的决策意图是转移遗迹询问，关系值也确实发生了变化。但是 trace 同时明确记录了 response constraints：不能声称遗迹入口已经解锁，也不能声称玩家获得了物品奖励。所以这里允许的是角色关系和对话策略推进，不是绕过规则完成任务。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当前评估主要依赖 demo trace、JSON 和 Markdown timeline，以及人工复盘。它已经能说明一些关键问题，例如角色知识边界能不能复盘，状态变化是否经过 Validator，Traveler profile 是否会影响路线，以及 timing breakdown 能不能帮助定位开销。局限也很明确：目前还不是大规模自动统计，文本 timeline 阅读成本也偏高。后续更合理的方向，是在已有 trace 基础上构建自动分析脚本和图形化回放界面。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总结来说，这个项目的关键设计是把 LLM 放入受规则约束的运行链路中，而不是让它自由决定世界事实。角色先读取状态、检索记忆、形成心智，再由 LLM 提出意图，最后经过校验、执行和 timeline 导出。这样既保留了 LLM 在交互叙事中的表达优势，也降低了幻觉和越权行动对系统状态的破坏。后续如果继续发展，我会重点加强多 Agent 调度、长期记忆质量、自动评估和 timeline 可视化。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825dc1ad8da2edc6.png"/>
  <Relationship Id="rId3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5240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60960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636270" y="969645"/>
            <a:ext cx="9819075" cy="1259205"/>
            <a:chOff x="636270" y="969645"/>
            <a:chExt cx="9819075" cy="1259205"/>
          </a:xfrm>
        </p:grpSpPr>
        <p:sp>
          <p:nvSpPr>
            <p:cNvPr id="6" name="TextBox 6"/>
            <p:cNvSpPr txBox="1"/>
            <p:nvPr/>
          </p:nvSpPr>
          <p:spPr>
            <a:xfrm>
              <a:off x="636270" y="969645"/>
              <a:ext cx="9819075" cy="7924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9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记忆驱动的可验证 LLM 角色 Agent 系统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1040" y="1691640"/>
              <a:ext cx="705459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从单 NPC 对话到 Traveler living-world runtime 的课程项目汇报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23900" y="2190750"/>
              <a:ext cx="6858000" cy="381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723900" y="2724150"/>
            <a:ext cx="6096000" cy="1600200"/>
            <a:chOff x="723900" y="2724150"/>
            <a:chExt cx="6096000" cy="1600200"/>
          </a:xfrm>
        </p:grpSpPr>
        <p:sp>
          <p:nvSpPr>
            <p:cNvPr id="10" name="Rectangle 10"/>
            <p:cNvSpPr/>
            <p:nvPr/>
          </p:nvSpPr>
          <p:spPr>
            <a:xfrm>
              <a:off x="723900" y="2724150"/>
              <a:ext cx="6096000" cy="1600200"/>
            </a:xfrm>
            <a:prstGeom prst="roundRect">
              <a:avLst>
                <a:gd name="adj" fmla="val 476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43940" y="29870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核心论点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9655" y="3416618"/>
              <a:ext cx="50063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负责理解、意图和表达；系统负责状态、校验和 trace。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真正要展示的不是一次好看的回复，而是一条可复盘的执行链路。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467600" y="2724150"/>
            <a:ext cx="4076700" cy="2000250"/>
            <a:chOff x="7467600" y="2724150"/>
            <a:chExt cx="4076700" cy="2000250"/>
          </a:xfrm>
        </p:grpSpPr>
        <p:sp>
          <p:nvSpPr>
            <p:cNvPr id="14" name="Rectangle 14"/>
            <p:cNvSpPr/>
            <p:nvPr/>
          </p:nvSpPr>
          <p:spPr>
            <a:xfrm>
              <a:off x="7467600" y="2724150"/>
              <a:ext cx="1104900" cy="723900"/>
            </a:xfrm>
            <a:prstGeom prst="roundRect">
              <a:avLst>
                <a:gd name="adj" fmla="val 1052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870031" y="2917031"/>
              <a:ext cx="242888" cy="242888"/>
              <a:chOff x="7870031" y="2917031"/>
              <a:chExt cx="242888" cy="2428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7991475" y="30519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7897019" y="305196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058944" y="29979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7991475" y="291703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870031" y="299799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897019" y="291703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866698" y="3220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理解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953500" y="2724150"/>
              <a:ext cx="1104900" cy="723900"/>
            </a:xfrm>
            <a:prstGeom prst="roundRect">
              <a:avLst>
                <a:gd name="adj" fmla="val 10526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9" name="Group 29"/>
            <p:cNvGrpSpPr/>
            <p:nvPr/>
          </p:nvGrpSpPr>
          <p:grpSpPr>
            <a:xfrm>
              <a:off x="9355931" y="2930525"/>
              <a:ext cx="256381" cy="229394"/>
              <a:chOff x="9355931" y="2930525"/>
              <a:chExt cx="256381" cy="229394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9423400" y="299799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423400" y="3051969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355931" y="293052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121444" y="229394"/>
                    </a:moveTo>
                    <a:lnTo>
                      <a:pt x="107950" y="215900"/>
                    </a:lnTo>
                    <a:lnTo>
                      <a:pt x="80962" y="188912"/>
                    </a:lnTo>
                    <a:lnTo>
                      <a:pt x="40481" y="188912"/>
                    </a:lnTo>
                    <a:cubicBezTo>
                      <a:pt x="18124" y="188912"/>
                      <a:pt x="0" y="170788"/>
                      <a:pt x="0" y="148431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585325" y="3105944"/>
                <a:ext cx="26987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53975">
                    <a:moveTo>
                      <a:pt x="0" y="53975"/>
                    </a:moveTo>
                    <a:lnTo>
                      <a:pt x="26987" y="2698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9517856" y="3105944"/>
                <a:ext cx="26988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53975">
                    <a:moveTo>
                      <a:pt x="26988" y="0"/>
                    </a:moveTo>
                    <a:lnTo>
                      <a:pt x="0" y="26988"/>
                    </a:lnTo>
                    <a:lnTo>
                      <a:pt x="26988" y="5397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0" name="TextBox 30"/>
            <p:cNvSpPr txBox="1"/>
            <p:nvPr/>
          </p:nvSpPr>
          <p:spPr>
            <a:xfrm>
              <a:off x="9219581" y="3220402"/>
              <a:ext cx="572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Decision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439400" y="2724150"/>
              <a:ext cx="1104900" cy="723900"/>
            </a:xfrm>
            <a:prstGeom prst="roundRect">
              <a:avLst>
                <a:gd name="adj" fmla="val 1052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0823621" y="2917031"/>
              <a:ext cx="263509" cy="242888"/>
              <a:chOff x="10823621" y="2917031"/>
              <a:chExt cx="263509" cy="242888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0823621" y="291703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1003756" y="31059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8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838497" y="32204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36" name="Line 36"/>
            <p:cNvSpPr/>
            <p:nvPr/>
          </p:nvSpPr>
          <p:spPr>
            <a:xfrm>
              <a:off x="8572500" y="30861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8858250" y="3028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8" name="Line 38"/>
            <p:cNvSpPr/>
            <p:nvPr/>
          </p:nvSpPr>
          <p:spPr>
            <a:xfrm>
              <a:off x="10058400" y="30861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9" name="Polygon 39"/>
            <p:cNvSpPr/>
            <p:nvPr/>
          </p:nvSpPr>
          <p:spPr>
            <a:xfrm>
              <a:off x="10344150" y="30289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91500" y="4038600"/>
              <a:ext cx="2857500" cy="68580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6" name="Group 46"/>
            <p:cNvGrpSpPr/>
            <p:nvPr/>
          </p:nvGrpSpPr>
          <p:grpSpPr>
            <a:xfrm>
              <a:off x="8512969" y="4302919"/>
              <a:ext cx="214312" cy="119062"/>
              <a:chOff x="8512969" y="4302919"/>
              <a:chExt cx="214312" cy="119062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8524875" y="43148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71438" y="11906"/>
                    </a:lnTo>
                    <a:lnTo>
                      <a:pt x="130969" y="71438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8643938" y="4374356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8584406" y="4314825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8512969" y="43981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8703469" y="43029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8879205" y="4178618"/>
              <a:ext cx="176385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状态写入与 timeline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883015" y="4477702"/>
              <a:ext cx="202892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SQLite / trace / 课程报告证据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23900" y="5143500"/>
            <a:ext cx="7372350" cy="438150"/>
            <a:chOff x="723900" y="5143500"/>
            <a:chExt cx="7372350" cy="438150"/>
          </a:xfrm>
        </p:grpSpPr>
        <p:sp>
          <p:nvSpPr>
            <p:cNvPr id="50" name="Rectangle 50"/>
            <p:cNvSpPr/>
            <p:nvPr/>
          </p:nvSpPr>
          <p:spPr>
            <a:xfrm>
              <a:off x="723900" y="5143500"/>
              <a:ext cx="2133600" cy="438150"/>
            </a:xfrm>
            <a:prstGeom prst="roundRect">
              <a:avLst>
                <a:gd name="adj" fmla="val 17391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9165" y="5306378"/>
              <a:ext cx="1237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课程报告 + README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086100" y="5143500"/>
              <a:ext cx="2381250" cy="438150"/>
            </a:xfrm>
            <a:prstGeom prst="roundRect">
              <a:avLst>
                <a:gd name="adj" fmla="val 17391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301365" y="5306378"/>
              <a:ext cx="13568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真实 UI 截图与 trace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5695950" y="5143500"/>
              <a:ext cx="2400300" cy="438150"/>
            </a:xfrm>
            <a:prstGeom prst="roundRect">
              <a:avLst>
                <a:gd name="adj" fmla="val 17391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911215" y="5306378"/>
              <a:ext cx="13358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GitHub 提交演进证据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12470" y="6322695"/>
            <a:ext cx="10767060" cy="182880"/>
            <a:chOff x="712470" y="6322695"/>
            <a:chExt cx="10767060" cy="182880"/>
          </a:xfrm>
        </p:grpSpPr>
        <p:sp>
          <p:nvSpPr>
            <p:cNvPr id="57" name="TextBox 57"/>
            <p:cNvSpPr txBox="1"/>
            <p:nvPr/>
          </p:nvSpPr>
          <p:spPr>
            <a:xfrm>
              <a:off x="712470" y="6322695"/>
              <a:ext cx="305323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Final course presentation · agent_npc · 2026-06-08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10546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01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3" grpId="0"/>
      <p:bldP spid="49" grpId="0"/>
      <p:bldP spid="5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问题定义：角色聊天不等于世界状态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1919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普通 LLM 对话容易把“说出来的内容”误当成“已经发生的事实”。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02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600200"/>
            <a:ext cx="3276600" cy="2571750"/>
            <a:chOff x="685800" y="1600200"/>
            <a:chExt cx="3276600" cy="2571750"/>
          </a:xfrm>
        </p:grpSpPr>
        <p:sp>
          <p:nvSpPr>
            <p:cNvPr id="9" name="Rectangle 9"/>
            <p:cNvSpPr/>
            <p:nvPr/>
          </p:nvSpPr>
          <p:spPr>
            <a:xfrm>
              <a:off x="6858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600200"/>
              <a:ext cx="3276600" cy="76200"/>
            </a:xfrm>
            <a:prstGeom prst="rect">
              <a:avLst/>
            </a:prstGeom>
            <a:solidFill>
              <a:srgbClr val="B91C1C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040606" y="2009775"/>
              <a:ext cx="316707" cy="283369"/>
              <a:chOff x="1040606" y="2009775"/>
              <a:chExt cx="316707" cy="283369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23950" y="2093119"/>
                <a:ext cx="1333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33350" h="9525">
                    <a:moveTo>
                      <a:pt x="0" y="0"/>
                    </a:moveTo>
                    <a:lnTo>
                      <a:pt x="133350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23950" y="2159794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40606" y="2009775"/>
                <a:ext cx="300038" cy="283369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83369">
                    <a:moveTo>
                      <a:pt x="150019" y="283369"/>
                    </a:moveTo>
                    <a:lnTo>
                      <a:pt x="133350" y="266700"/>
                    </a:lnTo>
                    <a:lnTo>
                      <a:pt x="100012" y="233362"/>
                    </a:lnTo>
                    <a:lnTo>
                      <a:pt x="50006" y="233362"/>
                    </a:lnTo>
                    <a:cubicBezTo>
                      <a:pt x="22389" y="233362"/>
                      <a:pt x="0" y="210974"/>
                      <a:pt x="0" y="183356"/>
                    </a:cubicBezTo>
                    <a:lnTo>
                      <a:pt x="0" y="50006"/>
                    </a:lnTo>
                    <a:cubicBezTo>
                      <a:pt x="0" y="22389"/>
                      <a:pt x="22389" y="0"/>
                      <a:pt x="50006" y="0"/>
                    </a:cubicBezTo>
                    <a:lnTo>
                      <a:pt x="250031" y="0"/>
                    </a:lnTo>
                    <a:cubicBezTo>
                      <a:pt x="277649" y="0"/>
                      <a:pt x="300038" y="22389"/>
                      <a:pt x="300038" y="50006"/>
                    </a:cubicBezTo>
                    <a:lnTo>
                      <a:pt x="300038" y="150019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23975" y="2226469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0" y="66675"/>
                    </a:moveTo>
                    <a:lnTo>
                      <a:pt x="33338" y="33338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240631" y="2226469"/>
                <a:ext cx="33338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66675">
                    <a:moveTo>
                      <a:pt x="33338" y="0"/>
                    </a:moveTo>
                    <a:lnTo>
                      <a:pt x="0" y="33338"/>
                    </a:lnTo>
                    <a:lnTo>
                      <a:pt x="33338" y="66675"/>
                    </a:lnTo>
                  </a:path>
                </a:pathLst>
              </a:custGeom>
              <a:noFill/>
              <a:ln w="19050">
                <a:solidFill>
                  <a:srgbClr val="B91C1C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5392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语言幻觉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73455" y="2521268"/>
              <a:ext cx="2108835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可能说“入口已解锁”、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“物品已交付”，但数据库和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任务状态并没有对应变化。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77265" y="3620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风险：回复可信，状态不可信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4457700" y="1600200"/>
            <a:ext cx="3276600" cy="2571750"/>
            <a:chOff x="4457700" y="1600200"/>
            <a:chExt cx="3276600" cy="2571750"/>
          </a:xfrm>
        </p:grpSpPr>
        <p:sp>
          <p:nvSpPr>
            <p:cNvPr id="21" name="Rectangle 21"/>
            <p:cNvSpPr/>
            <p:nvPr/>
          </p:nvSpPr>
          <p:spPr>
            <a:xfrm>
              <a:off x="44577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2" name="Rectangle 22"/>
            <p:cNvSpPr/>
            <p:nvPr/>
          </p:nvSpPr>
          <p:spPr>
            <a:xfrm>
              <a:off x="4457700" y="1600200"/>
              <a:ext cx="3276600" cy="76200"/>
            </a:xfrm>
            <a:prstGeom prst="rect">
              <a:avLst/>
            </a:prstGeom>
            <a:solidFill>
              <a:srgbClr val="B7791F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812506" y="2016314"/>
              <a:ext cx="309563" cy="243492"/>
              <a:chOff x="4812506" y="2016314"/>
              <a:chExt cx="309563" cy="243492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4812506" y="2233008"/>
                <a:ext cx="300038" cy="2679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798">
                    <a:moveTo>
                      <a:pt x="0" y="26798"/>
                    </a:moveTo>
                    <a:cubicBezTo>
                      <a:pt x="46416" y="0"/>
                      <a:pt x="103603" y="0"/>
                      <a:pt x="150019" y="26798"/>
                    </a:cubicBezTo>
                    <a:cubicBezTo>
                      <a:pt x="196435" y="0"/>
                      <a:pt x="253622" y="0"/>
                      <a:pt x="300038" y="2679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812506" y="2016314"/>
                <a:ext cx="300038" cy="26798"/>
              </a:xfrm>
              <a:custGeom>
                <a:avLst/>
                <a:gdLst/>
                <a:ahLst/>
                <a:cxnLst/>
                <a:rect l="l" t="t" r="r" b="b"/>
                <a:pathLst>
                  <a:path w="300038" h="26798">
                    <a:moveTo>
                      <a:pt x="0" y="26798"/>
                    </a:moveTo>
                    <a:cubicBezTo>
                      <a:pt x="46416" y="0"/>
                      <a:pt x="103603" y="0"/>
                      <a:pt x="150019" y="26798"/>
                    </a:cubicBezTo>
                    <a:cubicBezTo>
                      <a:pt x="196435" y="0"/>
                      <a:pt x="253622" y="0"/>
                      <a:pt x="300038" y="2679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12506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962525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5112544" y="2043112"/>
                <a:ext cx="95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16694">
                    <a:moveTo>
                      <a:pt x="0" y="0"/>
                    </a:moveTo>
                    <a:lnTo>
                      <a:pt x="0" y="216694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311140" y="19392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上下文断裂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45355" y="2521268"/>
              <a:ext cx="209169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只依赖当前输入时，角色会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忘记近期互动、长期记忆、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稳定世界设定和任务条件。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49165" y="36204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风险：角色可聊，角色不稳定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229600" y="1600200"/>
            <a:ext cx="3276600" cy="2571750"/>
            <a:chOff x="8229600" y="1600200"/>
            <a:chExt cx="3276600" cy="2571750"/>
          </a:xfrm>
        </p:grpSpPr>
        <p:sp>
          <p:nvSpPr>
            <p:cNvPr id="33" name="Rectangle 33"/>
            <p:cNvSpPr/>
            <p:nvPr/>
          </p:nvSpPr>
          <p:spPr>
            <a:xfrm>
              <a:off x="8229600" y="1600200"/>
              <a:ext cx="3276600" cy="2571750"/>
            </a:xfrm>
            <a:prstGeom prst="roundRect">
              <a:avLst>
                <a:gd name="adj" fmla="val 29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8229600" y="1600200"/>
              <a:ext cx="3276600" cy="76200"/>
            </a:xfrm>
            <a:prstGeom prst="rect">
              <a:avLst/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8584406" y="2059781"/>
              <a:ext cx="300038" cy="166688"/>
              <a:chOff x="8584406" y="2059781"/>
              <a:chExt cx="300038" cy="1666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8601075" y="2076450"/>
                <a:ext cx="2667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33350">
                    <a:moveTo>
                      <a:pt x="0" y="133350"/>
                    </a:moveTo>
                    <a:lnTo>
                      <a:pt x="100012" y="16669"/>
                    </a:lnTo>
                    <a:lnTo>
                      <a:pt x="183356" y="100012"/>
                    </a:lnTo>
                    <a:lnTo>
                      <a:pt x="2667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8767762" y="2159794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684419" y="2076450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8584406" y="219313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8851106" y="2059781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16669"/>
                    </a:moveTo>
                    <a:cubicBezTo>
                      <a:pt x="0" y="25875"/>
                      <a:pt x="7463" y="33338"/>
                      <a:pt x="16669" y="33338"/>
                    </a:cubicBezTo>
                    <a:cubicBezTo>
                      <a:pt x="25875" y="33338"/>
                      <a:pt x="33338" y="25875"/>
                      <a:pt x="33338" y="16669"/>
                    </a:cubicBezTo>
                    <a:cubicBezTo>
                      <a:pt x="33338" y="7463"/>
                      <a:pt x="25875" y="0"/>
                      <a:pt x="16669" y="0"/>
                    </a:cubicBezTo>
                    <a:cubicBezTo>
                      <a:pt x="7463" y="0"/>
                      <a:pt x="0" y="7463"/>
                      <a:pt x="0" y="16669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9083040" y="19392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不可复盘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517255" y="2521268"/>
              <a:ext cx="2434590" cy="807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1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如果只保存最终回复，就无法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解释一次行为如何检索、决策、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校验并写入状态。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521065" y="362045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风险：演示成功，证据不足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85800" y="4743450"/>
            <a:ext cx="10820400" cy="933450"/>
            <a:chOff x="685800" y="4743450"/>
            <a:chExt cx="10820400" cy="933450"/>
          </a:xfrm>
        </p:grpSpPr>
        <p:sp>
          <p:nvSpPr>
            <p:cNvPr id="45" name="Rectangle 45"/>
            <p:cNvSpPr/>
            <p:nvPr/>
          </p:nvSpPr>
          <p:spPr>
            <a:xfrm>
              <a:off x="685800" y="4743450"/>
              <a:ext cx="10820400" cy="933450"/>
            </a:xfrm>
            <a:prstGeom prst="roundRect">
              <a:avLst>
                <a:gd name="adj" fmla="val 816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018111" y="5060156"/>
              <a:ext cx="325511" cy="300038"/>
              <a:chOff x="1018111" y="5060156"/>
              <a:chExt cx="325511" cy="300038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018111" y="5060156"/>
                <a:ext cx="325511" cy="297471"/>
              </a:xfrm>
              <a:custGeom>
                <a:avLst/>
                <a:gdLst/>
                <a:ahLst/>
                <a:cxnLst/>
                <a:rect l="l" t="t" r="r" b="b"/>
                <a:pathLst>
                  <a:path w="325511" h="297471">
                    <a:moveTo>
                      <a:pt x="163513" y="297471"/>
                    </a:moveTo>
                    <a:cubicBezTo>
                      <a:pt x="59091" y="265102"/>
                      <a:pt x="0" y="154893"/>
                      <a:pt x="30830" y="50006"/>
                    </a:cubicBezTo>
                    <a:cubicBezTo>
                      <a:pt x="82762" y="52383"/>
                      <a:pt x="133579" y="34447"/>
                      <a:pt x="172514" y="0"/>
                    </a:cubicBezTo>
                    <a:cubicBezTo>
                      <a:pt x="211449" y="34447"/>
                      <a:pt x="262267" y="52383"/>
                      <a:pt x="314198" y="50006"/>
                    </a:cubicBezTo>
                    <a:cubicBezTo>
                      <a:pt x="325511" y="88496"/>
                      <a:pt x="324988" y="129499"/>
                      <a:pt x="312698" y="167688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240631" y="5293519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1577340" y="4911090"/>
              <a:ext cx="485952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因此，项目要解决的不是“让角色更会说话”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583055" y="5283518"/>
              <a:ext cx="78382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而是把语言生成放入受规则约束的运行流程中，让世界事实由状态机、校验器和 trace 共同维护。</a:t>
              </a:r>
            </a:p>
          </p:txBody>
        </p:sp>
      </p:grpSp>
      <p:sp>
        <p:nvSpPr>
          <p:cNvPr id="52" name="TextBox 52"/>
          <p:cNvSpPr txBox="1"/>
          <p:nvPr/>
        </p:nvSpPr>
        <p:spPr>
          <a:xfrm>
            <a:off x="521970" y="6322695"/>
            <a:ext cx="327526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一、引言 / 五、项目特色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2" grpId="0"/>
      <p:bldP spid="44" grpId="0"/>
      <p:bldP spid="5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2059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项目目标：状态 + 记忆 + 校验 + Trace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4790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让 LLM 角色 Agent 的每次行动都有上下文、有边界、有状态结果、有复盘证据。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03 / 14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3238500" y="2095500"/>
            <a:ext cx="5715000" cy="1428750"/>
            <a:chOff x="3238500" y="2095500"/>
            <a:chExt cx="5715000" cy="1428750"/>
          </a:xfrm>
        </p:grpSpPr>
        <p:sp>
          <p:nvSpPr>
            <p:cNvPr id="9" name="Rectangle 9"/>
            <p:cNvSpPr/>
            <p:nvPr/>
          </p:nvSpPr>
          <p:spPr>
            <a:xfrm>
              <a:off x="3238500" y="2095500"/>
              <a:ext cx="5715000" cy="1428750"/>
            </a:xfrm>
            <a:prstGeom prst="roundRect">
              <a:avLst>
                <a:gd name="adj" fmla="val 5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3672540" y="2320290"/>
              <a:ext cx="484692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构建可运行、可观察、可验证的角色 Agent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55027" y="2787968"/>
              <a:ext cx="528194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读取世界设定和记忆，形成主观计划，输出结构化 decision，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38675" y="3054668"/>
              <a:ext cx="29146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再经过校验和任务状态机改变世界。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23900" y="1600200"/>
            <a:ext cx="2264092" cy="1524000"/>
            <a:chOff x="723900" y="1600200"/>
            <a:chExt cx="2264092" cy="1524000"/>
          </a:xfrm>
        </p:grpSpPr>
        <p:sp>
          <p:nvSpPr>
            <p:cNvPr id="14" name="Rectangle 14"/>
            <p:cNvSpPr/>
            <p:nvPr/>
          </p:nvSpPr>
          <p:spPr>
            <a:xfrm>
              <a:off x="723900" y="16002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047750" y="1909762"/>
              <a:ext cx="228600" cy="257176"/>
              <a:chOff x="1047750" y="1909762"/>
              <a:chExt cx="228600" cy="25717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047750" y="1909762"/>
                <a:ext cx="228600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85725">
                    <a:moveTo>
                      <a:pt x="0" y="42862"/>
                    </a:moveTo>
                    <a:cubicBezTo>
                      <a:pt x="0" y="66535"/>
                      <a:pt x="51174" y="85725"/>
                      <a:pt x="114300" y="85725"/>
                    </a:cubicBezTo>
                    <a:cubicBezTo>
                      <a:pt x="177426" y="85725"/>
                      <a:pt x="228600" y="66535"/>
                      <a:pt x="228600" y="42862"/>
                    </a:cubicBezTo>
                    <a:cubicBezTo>
                      <a:pt x="228600" y="19190"/>
                      <a:pt x="177426" y="0"/>
                      <a:pt x="114300" y="0"/>
                    </a:cubicBezTo>
                    <a:cubicBezTo>
                      <a:pt x="51174" y="0"/>
                      <a:pt x="0" y="19190"/>
                      <a:pt x="0" y="4286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47750" y="1952625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047750" y="2038350"/>
                <a:ext cx="2286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28588">
                    <a:moveTo>
                      <a:pt x="0" y="0"/>
                    </a:moveTo>
                    <a:lnTo>
                      <a:pt x="0" y="85725"/>
                    </a:lnTo>
                    <a:cubicBezTo>
                      <a:pt x="0" y="109397"/>
                      <a:pt x="51174" y="128588"/>
                      <a:pt x="114300" y="128588"/>
                    </a:cubicBezTo>
                    <a:cubicBezTo>
                      <a:pt x="177426" y="128588"/>
                      <a:pt x="228600" y="109397"/>
                      <a:pt x="228600" y="85725"/>
                    </a:cubicBez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630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73455" y="2349818"/>
              <a:ext cx="2014537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SQLite 保存任务、地点、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物品、关系和事件。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220200" y="1600200"/>
            <a:ext cx="2264093" cy="1524000"/>
            <a:chOff x="9220200" y="1600200"/>
            <a:chExt cx="2264093" cy="1524000"/>
          </a:xfrm>
        </p:grpSpPr>
        <p:sp>
          <p:nvSpPr>
            <p:cNvPr id="22" name="Rectangle 22"/>
            <p:cNvSpPr/>
            <p:nvPr/>
          </p:nvSpPr>
          <p:spPr>
            <a:xfrm>
              <a:off x="9220200" y="16002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9529762" y="1929655"/>
              <a:ext cx="266701" cy="208708"/>
              <a:chOff x="9529762" y="1929655"/>
              <a:chExt cx="266701" cy="208708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9529762" y="2115393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9529762" y="1929655"/>
                <a:ext cx="257175" cy="22970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2970">
                    <a:moveTo>
                      <a:pt x="0" y="22970"/>
                    </a:moveTo>
                    <a:cubicBezTo>
                      <a:pt x="39785" y="0"/>
                      <a:pt x="88802" y="0"/>
                      <a:pt x="128588" y="22970"/>
                    </a:cubicBezTo>
                    <a:cubicBezTo>
                      <a:pt x="168373" y="0"/>
                      <a:pt x="217390" y="0"/>
                      <a:pt x="257175" y="2297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9529762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9658350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9786938" y="1952625"/>
                <a:ext cx="952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85738">
                    <a:moveTo>
                      <a:pt x="0" y="0"/>
                    </a:moveTo>
                    <a:lnTo>
                      <a:pt x="0" y="1857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9959340" y="18630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9755" y="2349818"/>
              <a:ext cx="2014538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近期上下文、长期记忆、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稳定 lore 共同进入决策。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23900" y="4038600"/>
            <a:ext cx="2247900" cy="1524000"/>
            <a:chOff x="723900" y="4038600"/>
            <a:chExt cx="2247900" cy="1524000"/>
          </a:xfrm>
        </p:grpSpPr>
        <p:sp>
          <p:nvSpPr>
            <p:cNvPr id="32" name="Rectangle 32"/>
            <p:cNvSpPr/>
            <p:nvPr/>
          </p:nvSpPr>
          <p:spPr>
            <a:xfrm>
              <a:off x="723900" y="40386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1014181" y="4348162"/>
              <a:ext cx="279010" cy="257176"/>
              <a:chOff x="1014181" y="4348162"/>
              <a:chExt cx="279010" cy="25717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14181" y="4348162"/>
                <a:ext cx="279010" cy="254975"/>
              </a:xfrm>
              <a:custGeom>
                <a:avLst/>
                <a:gdLst/>
                <a:ahLst/>
                <a:cxnLst/>
                <a:rect l="l" t="t" r="r" b="b"/>
                <a:pathLst>
                  <a:path w="279010" h="254975">
                    <a:moveTo>
                      <a:pt x="140154" y="254975"/>
                    </a:moveTo>
                    <a:cubicBezTo>
                      <a:pt x="50649" y="227230"/>
                      <a:pt x="0" y="132765"/>
                      <a:pt x="26425" y="42862"/>
                    </a:cubicBezTo>
                    <a:cubicBezTo>
                      <a:pt x="70939" y="44899"/>
                      <a:pt x="114496" y="29526"/>
                      <a:pt x="147869" y="0"/>
                    </a:cubicBezTo>
                    <a:cubicBezTo>
                      <a:pt x="181242" y="29526"/>
                      <a:pt x="224800" y="44899"/>
                      <a:pt x="269313" y="42862"/>
                    </a:cubicBezTo>
                    <a:cubicBezTo>
                      <a:pt x="279010" y="75854"/>
                      <a:pt x="278561" y="110999"/>
                      <a:pt x="268027" y="14373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204912" y="4548188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0" y="28575"/>
                    </a:moveTo>
                    <a:lnTo>
                      <a:pt x="28575" y="57150"/>
                    </a:lnTo>
                    <a:lnTo>
                      <a:pt x="8572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6" name="TextBox 36"/>
            <p:cNvSpPr txBox="1"/>
            <p:nvPr/>
          </p:nvSpPr>
          <p:spPr>
            <a:xfrm>
              <a:off x="1463040" y="4301490"/>
              <a:ext cx="54978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73455" y="4788218"/>
              <a:ext cx="1748790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ActionValidator 拦截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越界行动并安全降级。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220200" y="4038600"/>
            <a:ext cx="2247900" cy="1524000"/>
            <a:chOff x="9220200" y="4038600"/>
            <a:chExt cx="2247900" cy="1524000"/>
          </a:xfrm>
        </p:grpSpPr>
        <p:sp>
          <p:nvSpPr>
            <p:cNvPr id="39" name="Rectangle 39"/>
            <p:cNvSpPr/>
            <p:nvPr/>
          </p:nvSpPr>
          <p:spPr>
            <a:xfrm>
              <a:off x="9220200" y="4038600"/>
              <a:ext cx="2247900" cy="1524000"/>
            </a:xfrm>
            <a:prstGeom prst="roundRect">
              <a:avLst>
                <a:gd name="adj" fmla="val 5000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9529762" y="4405312"/>
              <a:ext cx="257175" cy="142875"/>
              <a:chOff x="9529762" y="4405312"/>
              <a:chExt cx="257175" cy="14287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9544050" y="44196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9686925" y="44910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9615488" y="44196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9529762" y="45196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9758362" y="44053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9959340" y="4301490"/>
              <a:ext cx="73880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469755" y="4788218"/>
              <a:ext cx="1774508" cy="5219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记录检索、decision、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状态变化和 timeline。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2971800" y="2305050"/>
            <a:ext cx="6248400" cy="2552700"/>
            <a:chOff x="2971800" y="2305050"/>
            <a:chExt cx="6248400" cy="2552700"/>
          </a:xfrm>
        </p:grpSpPr>
        <p:sp>
          <p:nvSpPr>
            <p:cNvPr id="49" name="Line 49"/>
            <p:cNvSpPr/>
            <p:nvPr/>
          </p:nvSpPr>
          <p:spPr>
            <a:xfrm>
              <a:off x="2971800" y="23622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0" name="Polygon 50"/>
            <p:cNvSpPr/>
            <p:nvPr/>
          </p:nvSpPr>
          <p:spPr>
            <a:xfrm>
              <a:off x="3143250" y="23050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8953500" y="23622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2667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8953500" y="23050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2971800" y="48006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0" y="0"/>
                  </a:moveTo>
                  <a:lnTo>
                    <a:pt x="266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3143250" y="47434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8953500" y="4800600"/>
              <a:ext cx="266700" cy="9525"/>
            </a:xfrm>
            <a:custGeom>
              <a:avLst/>
              <a:gdLst/>
              <a:ahLst/>
              <a:cxnLst/>
              <a:rect l="l" t="t" r="r" b="b"/>
              <a:pathLst>
                <a:path w="266700" h="9525">
                  <a:moveTo>
                    <a:pt x="2667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8953500" y="47434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61" name="Group 61"/>
          <p:cNvGrpSpPr/>
          <p:nvPr/>
        </p:nvGrpSpPr>
        <p:grpSpPr>
          <a:xfrm>
            <a:off x="3238500" y="4229100"/>
            <a:ext cx="5715000" cy="914400"/>
            <a:chOff x="3238500" y="4229100"/>
            <a:chExt cx="5715000" cy="914400"/>
          </a:xfrm>
        </p:grpSpPr>
        <p:sp>
          <p:nvSpPr>
            <p:cNvPr id="58" name="Rectangle 58"/>
            <p:cNvSpPr/>
            <p:nvPr/>
          </p:nvSpPr>
          <p:spPr>
            <a:xfrm>
              <a:off x="3238500" y="4229100"/>
              <a:ext cx="5715000" cy="9144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64255" y="4426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设计约束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564255" y="4750118"/>
              <a:ext cx="507492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自然语言可以影响关系和事件，但不能绕过规则直接改写事实。</a:t>
              </a:r>
            </a:p>
          </p:txBody>
        </p:sp>
      </p:grpSp>
      <p:sp>
        <p:nvSpPr>
          <p:cNvPr id="62" name="TextBox 62"/>
          <p:cNvSpPr txBox="1"/>
          <p:nvPr/>
        </p:nvSpPr>
        <p:spPr>
          <a:xfrm>
            <a:off x="521970" y="6322695"/>
            <a:ext cx="265118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1.3 项目目标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/>
      <p:bldP spid="31" grpId="0"/>
      <p:bldP spid="38" grpId="0"/>
      <p:bldP spid="48" grpId="0"/>
      <p:bldP spid="57" grpId="0"/>
      <p:bldP spid="6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18781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项目演进：从“会聊天”到可验证 living world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61498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这页按能力阶段说明项目为什么不断增加模块，而不是罗列版本证据。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04 / 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1466850"/>
            <a:ext cx="2724150" cy="4248150"/>
            <a:chOff x="685800" y="1466850"/>
            <a:chExt cx="2724150" cy="4248150"/>
          </a:xfrm>
        </p:grpSpPr>
        <p:sp>
          <p:nvSpPr>
            <p:cNvPr id="9" name="Rectangle 9"/>
            <p:cNvSpPr/>
            <p:nvPr/>
          </p:nvSpPr>
          <p:spPr>
            <a:xfrm>
              <a:off x="685800" y="1466850"/>
              <a:ext cx="2724150" cy="4248150"/>
            </a:xfrm>
            <a:prstGeom prst="roundRect">
              <a:avLst>
                <a:gd name="adj" fmla="val 279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33462" y="1795462"/>
              <a:ext cx="257176" cy="257176"/>
              <a:chOff x="1033462" y="1795462"/>
              <a:chExt cx="257176" cy="257176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33462" y="1995488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0" y="28575"/>
                    </a:moveTo>
                    <a:cubicBezTo>
                      <a:pt x="0" y="44357"/>
                      <a:pt x="12793" y="57150"/>
                      <a:pt x="28575" y="57150"/>
                    </a:cubicBez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233488" y="1795462"/>
                <a:ext cx="571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57150" h="57150">
                    <a:moveTo>
                      <a:pt x="28575" y="57150"/>
                    </a:moveTo>
                    <a:cubicBezTo>
                      <a:pt x="44357" y="57150"/>
                      <a:pt x="57150" y="44357"/>
                      <a:pt x="57150" y="28575"/>
                    </a:cubicBezTo>
                    <a:cubicBezTo>
                      <a:pt x="57150" y="12793"/>
                      <a:pt x="44357" y="0"/>
                      <a:pt x="28575" y="0"/>
                    </a:cubicBezTo>
                    <a:cubicBezTo>
                      <a:pt x="12793" y="0"/>
                      <a:pt x="0" y="12793"/>
                      <a:pt x="0" y="28575"/>
                    </a:cubicBezTo>
                    <a:cubicBezTo>
                      <a:pt x="0" y="44357"/>
                      <a:pt x="12793" y="57150"/>
                      <a:pt x="28575" y="5715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62038" y="1824038"/>
                <a:ext cx="214312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00025">
                    <a:moveTo>
                      <a:pt x="85725" y="200025"/>
                    </a:moveTo>
                    <a:lnTo>
                      <a:pt x="164306" y="200025"/>
                    </a:lnTo>
                    <a:cubicBezTo>
                      <a:pt x="191924" y="200025"/>
                      <a:pt x="214312" y="177636"/>
                      <a:pt x="214312" y="150019"/>
                    </a:cubicBezTo>
                    <a:cubicBezTo>
                      <a:pt x="214312" y="122401"/>
                      <a:pt x="191924" y="100012"/>
                      <a:pt x="164306" y="100012"/>
                    </a:cubicBezTo>
                    <a:lnTo>
                      <a:pt x="50006" y="100012"/>
                    </a:lnTo>
                    <a:cubicBezTo>
                      <a:pt x="22389" y="100012"/>
                      <a:pt x="0" y="77624"/>
                      <a:pt x="0" y="50006"/>
                    </a:cubicBezTo>
                    <a:cubicBezTo>
                      <a:pt x="0" y="22389"/>
                      <a:pt x="22389" y="0"/>
                      <a:pt x="50006" y="0"/>
                    </a:cubicBezTo>
                    <a:lnTo>
                      <a:pt x="1143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463040" y="1786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演进主线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3455" y="2406968"/>
              <a:ext cx="1431608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每一阶段都在补上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“可控角色 Agent”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缺失的一块：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3455" y="3492818"/>
              <a:ext cx="1405890" cy="11315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上下文是否稳定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状态边界是否清楚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角色能否主动行动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结果能否复盘展示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5029200"/>
              <a:ext cx="2114550" cy="400050"/>
            </a:xfrm>
            <a:prstGeom prst="roundRect">
              <a:avLst>
                <a:gd name="adj" fmla="val 19048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404461" y="51730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从 demo 到运行链路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3790950" y="1905000"/>
            <a:ext cx="9525" cy="3314700"/>
            <a:chOff x="3790950" y="1905000"/>
            <a:chExt cx="9525" cy="3314700"/>
          </a:xfrm>
        </p:grpSpPr>
        <p:sp>
          <p:nvSpPr>
            <p:cNvPr id="20" name="Line 20"/>
            <p:cNvSpPr/>
            <p:nvPr/>
          </p:nvSpPr>
          <p:spPr>
            <a:xfrm>
              <a:off x="3790950" y="1905000"/>
              <a:ext cx="9525" cy="3314700"/>
            </a:xfrm>
            <a:custGeom>
              <a:avLst/>
              <a:gdLst/>
              <a:ahLst/>
              <a:cxnLst/>
              <a:rect l="l" t="t" r="r" b="b"/>
              <a:pathLst>
                <a:path w="9525" h="3314700">
                  <a:moveTo>
                    <a:pt x="0" y="0"/>
                  </a:moveTo>
                  <a:lnTo>
                    <a:pt x="0" y="3314700"/>
                  </a:lnTo>
                </a:path>
              </a:pathLst>
            </a:custGeom>
            <a:noFill/>
            <a:ln w="28575">
              <a:solidFill>
                <a:srgbClr val="94A3B8"/>
              </a:solidFill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3705225" y="1466850"/>
            <a:ext cx="7629525" cy="876300"/>
            <a:chOff x="3705225" y="1466850"/>
            <a:chExt cx="7629525" cy="876300"/>
          </a:xfrm>
        </p:grpSpPr>
        <p:sp>
          <p:nvSpPr>
            <p:cNvPr id="22" name="Rectangle 22"/>
            <p:cNvSpPr/>
            <p:nvPr/>
          </p:nvSpPr>
          <p:spPr>
            <a:xfrm>
              <a:off x="4095750" y="14668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3705225" y="1819275"/>
              <a:ext cx="171450" cy="171450"/>
            </a:xfrm>
            <a:prstGeom prst="ellipse">
              <a:avLst/>
            </a:prstGeom>
            <a:solidFill>
              <a:srgbClr val="1D4E89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397375" y="1764506"/>
              <a:ext cx="215900" cy="242888"/>
              <a:chOff x="4397375" y="1764506"/>
              <a:chExt cx="215900" cy="24288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4397375" y="1764506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397375" y="1804988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397375" y="1885950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838700" y="1647825"/>
              <a:ext cx="227488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1. 单 NPC 记忆对话原型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842510" y="1956435"/>
              <a:ext cx="55031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先验证最小闭环：读取状态、调用 LLM、回复玩家，并把过程保存为 trace。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83015" y="16964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883015" y="1972628"/>
              <a:ext cx="22179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SQLite / workflow / reply trace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3705225" y="2571750"/>
            <a:ext cx="7629525" cy="876300"/>
            <a:chOff x="3705225" y="2571750"/>
            <a:chExt cx="7629525" cy="876300"/>
          </a:xfrm>
        </p:grpSpPr>
        <p:sp>
          <p:nvSpPr>
            <p:cNvPr id="33" name="Rectangle 33"/>
            <p:cNvSpPr/>
            <p:nvPr/>
          </p:nvSpPr>
          <p:spPr>
            <a:xfrm>
              <a:off x="4095750" y="25717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3705225" y="2924175"/>
              <a:ext cx="171450" cy="171450"/>
            </a:xfrm>
            <a:prstGeom prst="ellipse">
              <a:avLst/>
            </a:prstGeom>
            <a:solidFill>
              <a:srgbClr val="1D4E89"/>
            </a:solidFill>
            <a:ln>
              <a:noFill/>
            </a:ln>
          </p:spPr>
        </p:sp>
        <p:grpSp>
          <p:nvGrpSpPr>
            <p:cNvPr id="40" name="Group 40"/>
            <p:cNvGrpSpPr/>
            <p:nvPr/>
          </p:nvGrpSpPr>
          <p:grpSpPr>
            <a:xfrm>
              <a:off x="4383881" y="2888194"/>
              <a:ext cx="252413" cy="197113"/>
              <a:chOff x="4383881" y="2888194"/>
              <a:chExt cx="252413" cy="197113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4383881" y="3063612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4383881" y="2888194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4383881" y="2909888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4505325" y="2909888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4626769" y="2909888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41" name="TextBox 41"/>
            <p:cNvSpPr txBox="1"/>
            <p:nvPr/>
          </p:nvSpPr>
          <p:spPr>
            <a:xfrm>
              <a:off x="4838700" y="275272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2. 分层上下文与玩家端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42510" y="3061335"/>
              <a:ext cx="56711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原型回复容易断裂，因此把 lore、近期上下文、长期记忆和交互入口拆开管理。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883015" y="28013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883015" y="3077528"/>
              <a:ext cx="2350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retrieval / memory jobs / React UI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3705225" y="3676650"/>
            <a:ext cx="7629525" cy="876300"/>
            <a:chOff x="3705225" y="3676650"/>
            <a:chExt cx="7629525" cy="876300"/>
          </a:xfrm>
        </p:grpSpPr>
        <p:sp>
          <p:nvSpPr>
            <p:cNvPr id="46" name="Rectangle 46"/>
            <p:cNvSpPr/>
            <p:nvPr/>
          </p:nvSpPr>
          <p:spPr>
            <a:xfrm>
              <a:off x="4095750" y="36766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Ellipse 47"/>
            <p:cNvSpPr/>
            <p:nvPr/>
          </p:nvSpPr>
          <p:spPr>
            <a:xfrm>
              <a:off x="3705225" y="4029075"/>
              <a:ext cx="171450" cy="171450"/>
            </a:xfrm>
            <a:prstGeom prst="ellipse">
              <a:avLst/>
            </a:prstGeom>
            <a:solidFill>
              <a:srgbClr val="0E7490"/>
            </a:solidFill>
            <a:ln>
              <a:noFill/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4383881" y="3974306"/>
              <a:ext cx="242888" cy="242888"/>
              <a:chOff x="4383881" y="3974306"/>
              <a:chExt cx="242888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4505325" y="4109244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4410869" y="4109244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4572794" y="4055269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505325" y="3974306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4383881" y="4055269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4410869" y="3974306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4838700" y="3857625"/>
              <a:ext cx="22223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3. 心智建模与规则边界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4842510" y="4166235"/>
              <a:ext cx="54951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可以表达意图，但不能直接改世界事实，所以拆出主观判断和执行校验。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883015" y="39062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883015" y="4182428"/>
              <a:ext cx="23439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NPCMind / environment / validator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3705225" y="4781550"/>
            <a:ext cx="8032813" cy="876300"/>
            <a:chOff x="3705225" y="4781550"/>
            <a:chExt cx="8032813" cy="876300"/>
          </a:xfrm>
        </p:grpSpPr>
        <p:sp>
          <p:nvSpPr>
            <p:cNvPr id="60" name="Rectangle 60"/>
            <p:cNvSpPr/>
            <p:nvPr/>
          </p:nvSpPr>
          <p:spPr>
            <a:xfrm>
              <a:off x="4095750" y="4781550"/>
              <a:ext cx="7239000" cy="876300"/>
            </a:xfrm>
            <a:prstGeom prst="roundRect">
              <a:avLst>
                <a:gd name="adj" fmla="val 8696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61" name="Ellipse 61"/>
            <p:cNvSpPr/>
            <p:nvPr/>
          </p:nvSpPr>
          <p:spPr>
            <a:xfrm>
              <a:off x="3705225" y="5133975"/>
              <a:ext cx="171450" cy="171450"/>
            </a:xfrm>
            <a:prstGeom prst="ellipse">
              <a:avLst/>
            </a:prstGeom>
            <a:solidFill>
              <a:srgbClr val="B7791F"/>
            </a:solidFill>
            <a:ln>
              <a:noFill/>
            </a:ln>
          </p:spPr>
        </p:sp>
        <p:grpSp>
          <p:nvGrpSpPr>
            <p:cNvPr id="66" name="Group 66"/>
            <p:cNvGrpSpPr/>
            <p:nvPr/>
          </p:nvGrpSpPr>
          <p:grpSpPr>
            <a:xfrm>
              <a:off x="4383881" y="5079206"/>
              <a:ext cx="242888" cy="242887"/>
              <a:chOff x="4383881" y="5079206"/>
              <a:chExt cx="242888" cy="242887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4410869" y="5079206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4383881" y="5241131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4559300" y="5080960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4586288" y="5243155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67" name="TextBox 67"/>
            <p:cNvSpPr txBox="1"/>
            <p:nvPr/>
          </p:nvSpPr>
          <p:spPr>
            <a:xfrm>
              <a:off x="4838700" y="4962525"/>
              <a:ext cx="339852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4. 多角色 living world 与 Traveler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842510" y="5271135"/>
              <a:ext cx="60792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课程展示需要自动探索、多 NPC 覆盖和可复盘证据，于是加入 runtime 与 timeline。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8883015" y="501110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得到能力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83015" y="5287328"/>
              <a:ext cx="28550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world events / Traveler / timeline export</a:t>
              </a:r>
            </a:p>
          </p:txBody>
        </p:sp>
      </p:grpSp>
      <p:sp>
        <p:nvSpPr>
          <p:cNvPr id="72" name="TextBox 72"/>
          <p:cNvSpPr txBox="1"/>
          <p:nvPr/>
        </p:nvSpPr>
        <p:spPr>
          <a:xfrm>
            <a:off x="521970" y="6322695"/>
            <a:ext cx="41513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git_history_oneline.md · course_report_zh.md · 项目主体文件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1" grpId="0"/>
      <p:bldP spid="32" grpId="0"/>
      <p:bldP spid="45" grpId="0"/>
      <p:bldP spid="59" grpId="0"/>
      <p:bldP spid="7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295199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总体架构：输入到 timeline 的受控链路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2540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系统把 LLM 放在“提出意图”的位置，把事实改变交给校验、执行和状态写入。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05 / 14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552450" y="1790700"/>
            <a:ext cx="9925050" cy="995362"/>
            <a:chOff x="552450" y="1790700"/>
            <a:chExt cx="9925050" cy="995362"/>
          </a:xfrm>
        </p:grpSpPr>
        <p:sp>
          <p:nvSpPr>
            <p:cNvPr id="9" name="Rectangle 9"/>
            <p:cNvSpPr/>
            <p:nvPr/>
          </p:nvSpPr>
          <p:spPr>
            <a:xfrm>
              <a:off x="552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50131" y="2021681"/>
              <a:ext cx="242888" cy="242887"/>
              <a:chOff x="1050131" y="2021681"/>
              <a:chExt cx="242888" cy="24288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7119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50131" y="218360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25550" y="202343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52538" y="218563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0225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输入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04326" y="2572702"/>
              <a:ext cx="10487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玩家 / Traveler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266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2805112" y="2021681"/>
              <a:ext cx="215901" cy="256382"/>
              <a:chOff x="2805112" y="2021681"/>
              <a:chExt cx="215901" cy="25638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2832100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2805112" y="2183606"/>
                <a:ext cx="74216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74216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74216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926556" y="21836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0" y="40481"/>
                    </a:moveTo>
                    <a:cubicBezTo>
                      <a:pt x="0" y="62838"/>
                      <a:pt x="18124" y="80962"/>
                      <a:pt x="40481" y="80962"/>
                    </a:cubicBezTo>
                    <a:cubicBezTo>
                      <a:pt x="62838" y="80962"/>
                      <a:pt x="80962" y="62838"/>
                      <a:pt x="80962" y="40481"/>
                    </a:cubicBezTo>
                    <a:cubicBezTo>
                      <a:pt x="80962" y="18124"/>
                      <a:pt x="62838" y="0"/>
                      <a:pt x="40481" y="0"/>
                    </a:cubicBezTo>
                    <a:cubicBezTo>
                      <a:pt x="18124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996724" y="2253774"/>
                <a:ext cx="24289" cy="24289"/>
              </a:xfrm>
              <a:custGeom>
                <a:avLst/>
                <a:gdLst/>
                <a:ahLst/>
                <a:cxnLst/>
                <a:rect l="l" t="t" r="r" b="b"/>
                <a:pathLst>
                  <a:path w="24289" h="24289">
                    <a:moveTo>
                      <a:pt x="0" y="0"/>
                    </a:moveTo>
                    <a:lnTo>
                      <a:pt x="24289" y="2428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2359009" y="234981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Observation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4985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状态切片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981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4479131" y="2040469"/>
              <a:ext cx="252413" cy="197112"/>
              <a:chOff x="4479131" y="2040469"/>
              <a:chExt cx="252413" cy="197112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4479131" y="2215887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479131" y="204046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4479131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4600575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4722019" y="206216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4515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检索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168330" y="2572702"/>
              <a:ext cx="9787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memory / lore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5695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6193631" y="2021681"/>
              <a:ext cx="242888" cy="242888"/>
              <a:chOff x="6193631" y="2021681"/>
              <a:chExt cx="242888" cy="242888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315075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21145" y="0"/>
                      <a:pt x="0" y="21145"/>
                      <a:pt x="0" y="47228"/>
                    </a:cubicBezTo>
                    <a:lnTo>
                      <a:pt x="0" y="60722"/>
                    </a:lnTo>
                    <a:cubicBezTo>
                      <a:pt x="0" y="86805"/>
                      <a:pt x="21145" y="107950"/>
                      <a:pt x="47228" y="107950"/>
                    </a:cubicBezTo>
                    <a:cubicBezTo>
                      <a:pt x="73311" y="107950"/>
                      <a:pt x="94456" y="86805"/>
                      <a:pt x="94456" y="60722"/>
                    </a:cubicBezTo>
                    <a:lnTo>
                      <a:pt x="94456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220619" y="2156619"/>
                <a:ext cx="9445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07950">
                    <a:moveTo>
                      <a:pt x="47228" y="0"/>
                    </a:move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60722"/>
                    </a:lnTo>
                    <a:cubicBezTo>
                      <a:pt x="94456" y="86805"/>
                      <a:pt x="73311" y="107950"/>
                      <a:pt x="47228" y="107950"/>
                    </a:cubicBezTo>
                    <a:cubicBezTo>
                      <a:pt x="21145" y="107950"/>
                      <a:pt x="0" y="86805"/>
                      <a:pt x="0" y="60722"/>
                    </a:cubicBezTo>
                    <a:lnTo>
                      <a:pt x="0" y="36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382544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6747" y="94456"/>
                    </a:moveTo>
                    <a:cubicBezTo>
                      <a:pt x="32830" y="94456"/>
                      <a:pt x="53975" y="73311"/>
                      <a:pt x="53975" y="47228"/>
                    </a:cubicBezTo>
                    <a:cubicBezTo>
                      <a:pt x="53975" y="21145"/>
                      <a:pt x="32830" y="0"/>
                      <a:pt x="6747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6315075" y="2021681"/>
                <a:ext cx="94456" cy="85011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85011">
                    <a:moveTo>
                      <a:pt x="94456" y="85011"/>
                    </a:moveTo>
                    <a:lnTo>
                      <a:pt x="94456" y="47228"/>
                    </a:lnTo>
                    <a:cubicBezTo>
                      <a:pt x="94456" y="21145"/>
                      <a:pt x="73311" y="0"/>
                      <a:pt x="47228" y="0"/>
                    </a:cubicBezTo>
                    <a:cubicBezTo>
                      <a:pt x="21145" y="0"/>
                      <a:pt x="0" y="21145"/>
                      <a:pt x="0" y="4722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6193631" y="2102644"/>
                <a:ext cx="53975" cy="94456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4456">
                    <a:moveTo>
                      <a:pt x="47228" y="94456"/>
                    </a:move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6220619" y="2021681"/>
                <a:ext cx="94456" cy="182166"/>
              </a:xfrm>
              <a:custGeom>
                <a:avLst/>
                <a:gdLst/>
                <a:ahLst/>
                <a:cxnLst/>
                <a:rect l="l" t="t" r="r" b="b"/>
                <a:pathLst>
                  <a:path w="94456" h="182166">
                    <a:moveTo>
                      <a:pt x="0" y="85011"/>
                    </a:moveTo>
                    <a:lnTo>
                      <a:pt x="0" y="47228"/>
                    </a:lnTo>
                    <a:cubicBezTo>
                      <a:pt x="0" y="21145"/>
                      <a:pt x="21145" y="0"/>
                      <a:pt x="47228" y="0"/>
                    </a:cubicBezTo>
                    <a:cubicBezTo>
                      <a:pt x="73311" y="0"/>
                      <a:pt x="94456" y="21145"/>
                      <a:pt x="94456" y="47228"/>
                    </a:cubicBezTo>
                    <a:lnTo>
                      <a:pt x="94456" y="182166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5995935" y="2349818"/>
              <a:ext cx="752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45838" y="2572702"/>
              <a:ext cx="8527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belief / plan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4104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4" name="Group 54"/>
            <p:cNvGrpSpPr/>
            <p:nvPr/>
          </p:nvGrpSpPr>
          <p:grpSpPr>
            <a:xfrm>
              <a:off x="7935119" y="2008188"/>
              <a:ext cx="188912" cy="256381"/>
              <a:chOff x="7935119" y="2008188"/>
              <a:chExt cx="188912" cy="256381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7948612" y="2035175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80962"/>
                    </a:lnTo>
                    <a:cubicBezTo>
                      <a:pt x="161925" y="95867"/>
                      <a:pt x="149842" y="107950"/>
                      <a:pt x="134937" y="107950"/>
                    </a:cubicBezTo>
                    <a:lnTo>
                      <a:pt x="26988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029575" y="2008188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7989094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8070056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935119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26987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8070056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0"/>
                    </a:moveTo>
                    <a:lnTo>
                      <a:pt x="53975" y="2698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989094" y="2224088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002588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8056562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7497784" y="2349818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723346" y="25727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结构化意图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9124950" y="1790700"/>
              <a:ext cx="1352550" cy="952500"/>
            </a:xfrm>
            <a:prstGeom prst="roundRect">
              <a:avLst>
                <a:gd name="adj" fmla="val 8000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9604421" y="2021681"/>
              <a:ext cx="263509" cy="242888"/>
              <a:chOff x="9604421" y="2021681"/>
              <a:chExt cx="263509" cy="242888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9604421" y="20216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784556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9595056" y="23498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9168313" y="25727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allowed / repaired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1905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4" name="Polygon 64"/>
            <p:cNvSpPr/>
            <p:nvPr/>
          </p:nvSpPr>
          <p:spPr>
            <a:xfrm>
              <a:off x="2171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5" name="Line 65"/>
            <p:cNvSpPr/>
            <p:nvPr/>
          </p:nvSpPr>
          <p:spPr>
            <a:xfrm>
              <a:off x="36195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6" name="Polygon 66"/>
            <p:cNvSpPr/>
            <p:nvPr/>
          </p:nvSpPr>
          <p:spPr>
            <a:xfrm>
              <a:off x="38862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7" name="Line 67"/>
            <p:cNvSpPr/>
            <p:nvPr/>
          </p:nvSpPr>
          <p:spPr>
            <a:xfrm>
              <a:off x="5334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8" name="Polygon 68"/>
            <p:cNvSpPr/>
            <p:nvPr/>
          </p:nvSpPr>
          <p:spPr>
            <a:xfrm>
              <a:off x="5600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9" name="Line 69"/>
            <p:cNvSpPr/>
            <p:nvPr/>
          </p:nvSpPr>
          <p:spPr>
            <a:xfrm>
              <a:off x="70485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0" name="Polygon 70"/>
            <p:cNvSpPr/>
            <p:nvPr/>
          </p:nvSpPr>
          <p:spPr>
            <a:xfrm>
              <a:off x="73152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71" name="Line 71"/>
            <p:cNvSpPr/>
            <p:nvPr/>
          </p:nvSpPr>
          <p:spPr>
            <a:xfrm>
              <a:off x="8763000" y="226695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2" name="Polygon 72"/>
            <p:cNvSpPr/>
            <p:nvPr/>
          </p:nvSpPr>
          <p:spPr>
            <a:xfrm>
              <a:off x="9029700" y="22098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16" name="Group 116"/>
          <p:cNvGrpSpPr/>
          <p:nvPr/>
        </p:nvGrpSpPr>
        <p:grpSpPr>
          <a:xfrm>
            <a:off x="1485900" y="2743200"/>
            <a:ext cx="9520952" cy="2114550"/>
            <a:chOff x="1485900" y="2743200"/>
            <a:chExt cx="9520952" cy="2114550"/>
          </a:xfrm>
        </p:grpSpPr>
        <p:sp>
          <p:nvSpPr>
            <p:cNvPr id="74" name="Rectangle 74"/>
            <p:cNvSpPr/>
            <p:nvPr/>
          </p:nvSpPr>
          <p:spPr>
            <a:xfrm>
              <a:off x="148590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86" name="Group 86"/>
            <p:cNvGrpSpPr/>
            <p:nvPr/>
          </p:nvGrpSpPr>
          <p:grpSpPr>
            <a:xfrm>
              <a:off x="1831181" y="4073525"/>
              <a:ext cx="243333" cy="236141"/>
              <a:chOff x="1831181" y="4073525"/>
              <a:chExt cx="243333" cy="236141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1831181" y="4073525"/>
                <a:ext cx="242888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107950">
                    <a:moveTo>
                      <a:pt x="0" y="40481"/>
                    </a:move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67469"/>
                    </a:lnTo>
                    <a:cubicBezTo>
                      <a:pt x="242888" y="89826"/>
                      <a:pt x="224763" y="107950"/>
                      <a:pt x="202406" y="107950"/>
                    </a:cubicBez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1831181" y="4181475"/>
                <a:ext cx="182166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82166" h="107950">
                    <a:moveTo>
                      <a:pt x="121444" y="107950"/>
                    </a:moveTo>
                    <a:lnTo>
                      <a:pt x="40481" y="107950"/>
                    </a:lnTo>
                    <a:cubicBezTo>
                      <a:pt x="18124" y="107950"/>
                      <a:pt x="0" y="89826"/>
                      <a:pt x="0" y="67469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182166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2006600" y="4235450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8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8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2033588" y="4215209"/>
                <a:ext cx="9525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1">
                    <a:moveTo>
                      <a:pt x="0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2033588" y="4289425"/>
                <a:ext cx="9525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0241">
                    <a:moveTo>
                      <a:pt x="0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2056972" y="4238823"/>
                <a:ext cx="17528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28" h="10120">
                    <a:moveTo>
                      <a:pt x="17528" y="0"/>
                    </a:moveTo>
                    <a:lnTo>
                      <a:pt x="0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1" name="Freeform 81"/>
              <p:cNvSpPr/>
              <p:nvPr/>
            </p:nvSpPr>
            <p:spPr>
              <a:xfrm>
                <a:off x="1992701" y="4275931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17542" y="0"/>
                    </a:moveTo>
                    <a:lnTo>
                      <a:pt x="0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2" name="Freeform 82"/>
              <p:cNvSpPr/>
              <p:nvPr/>
            </p:nvSpPr>
            <p:spPr>
              <a:xfrm>
                <a:off x="1992701" y="4238823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0" y="0"/>
                    </a:moveTo>
                    <a:lnTo>
                      <a:pt x="17542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3" name="Freeform 83"/>
              <p:cNvSpPr/>
              <p:nvPr/>
            </p:nvSpPr>
            <p:spPr>
              <a:xfrm>
                <a:off x="2056972" y="4275931"/>
                <a:ext cx="17542" cy="10120"/>
              </a:xfrm>
              <a:custGeom>
                <a:avLst/>
                <a:gdLst/>
                <a:ahLst/>
                <a:cxnLst/>
                <a:rect l="l" t="t" r="r" b="b"/>
                <a:pathLst>
                  <a:path w="17542" h="10120">
                    <a:moveTo>
                      <a:pt x="0" y="0"/>
                    </a:moveTo>
                    <a:lnTo>
                      <a:pt x="17542" y="1012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4" name="Freeform 84"/>
              <p:cNvSpPr/>
              <p:nvPr/>
            </p:nvSpPr>
            <p:spPr>
              <a:xfrm>
                <a:off x="1885156" y="4127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5" name="Freeform 85"/>
              <p:cNvSpPr/>
              <p:nvPr/>
            </p:nvSpPr>
            <p:spPr>
              <a:xfrm>
                <a:off x="1885156" y="4235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87" name="TextBox 87"/>
            <p:cNvSpPr txBox="1"/>
            <p:nvPr/>
          </p:nvSpPr>
          <p:spPr>
            <a:xfrm>
              <a:off x="2249805" y="3969068"/>
              <a:ext cx="205684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NarrativeEnvironment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2253615" y="4287202"/>
              <a:ext cx="196591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 decision 转为可执行 action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2253615" y="4515802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构造 observation / 写 trace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478155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5140325" y="4060031"/>
              <a:ext cx="215900" cy="242888"/>
              <a:chOff x="5140325" y="4060031"/>
              <a:chExt cx="215900" cy="242888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5140325" y="40600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5140325" y="41005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5140325" y="41814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5545455" y="3969068"/>
              <a:ext cx="179221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SQLite World State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5549265" y="42872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任务、关系、物品、地点、事件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5549265" y="451580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只有校验后的结果能写入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077200" y="3733800"/>
              <a:ext cx="2647950" cy="1123950"/>
            </a:xfrm>
            <a:prstGeom prst="roundRect">
              <a:avLst>
                <a:gd name="adj" fmla="val 6780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04" name="Group 104"/>
            <p:cNvGrpSpPr/>
            <p:nvPr/>
          </p:nvGrpSpPr>
          <p:grpSpPr>
            <a:xfrm>
              <a:off x="8422481" y="4114006"/>
              <a:ext cx="242888" cy="134937"/>
              <a:chOff x="8422481" y="4114006"/>
              <a:chExt cx="242888" cy="134937"/>
            </a:xfrm>
          </p:grpSpPr>
          <p:sp>
            <p:nvSpPr>
              <p:cNvPr id="99" name="Freeform 99"/>
              <p:cNvSpPr/>
              <p:nvPr/>
            </p:nvSpPr>
            <p:spPr>
              <a:xfrm>
                <a:off x="8435975" y="4127500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0" y="107950"/>
                    </a:moveTo>
                    <a:lnTo>
                      <a:pt x="80962" y="13494"/>
                    </a:lnTo>
                    <a:lnTo>
                      <a:pt x="148431" y="80962"/>
                    </a:ln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570912" y="4194969"/>
                <a:ext cx="26987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503444" y="4127500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2" name="Freeform 102"/>
              <p:cNvSpPr/>
              <p:nvPr/>
            </p:nvSpPr>
            <p:spPr>
              <a:xfrm>
                <a:off x="8422481" y="422195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638381" y="4114006"/>
                <a:ext cx="26988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105" name="TextBox 105"/>
            <p:cNvSpPr txBox="1"/>
            <p:nvPr/>
          </p:nvSpPr>
          <p:spPr>
            <a:xfrm>
              <a:off x="8841105" y="3969068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844915" y="4287202"/>
              <a:ext cx="21619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/ reason / state changes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44915" y="4515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课堂展示与报告证据</a:t>
              </a:r>
            </a:p>
          </p:txBody>
        </p:sp>
        <p:sp>
          <p:nvSpPr>
            <p:cNvPr id="108" name="Line 108"/>
            <p:cNvSpPr/>
            <p:nvPr/>
          </p:nvSpPr>
          <p:spPr>
            <a:xfrm>
              <a:off x="9801225" y="2743200"/>
              <a:ext cx="9525" cy="590550"/>
            </a:xfrm>
            <a:custGeom>
              <a:avLst/>
              <a:gdLst/>
              <a:ahLst/>
              <a:cxnLst/>
              <a:rect l="l" t="t" r="r" b="b"/>
              <a:pathLst>
                <a:path w="9525" h="590550">
                  <a:moveTo>
                    <a:pt x="0" y="0"/>
                  </a:moveTo>
                  <a:lnTo>
                    <a:pt x="0" y="5905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09" name="Line 109"/>
            <p:cNvSpPr/>
            <p:nvPr/>
          </p:nvSpPr>
          <p:spPr>
            <a:xfrm>
              <a:off x="2809875" y="3333750"/>
              <a:ext cx="6991350" cy="9525"/>
            </a:xfrm>
            <a:custGeom>
              <a:avLst/>
              <a:gdLst/>
              <a:ahLst/>
              <a:cxnLst/>
              <a:rect l="l" t="t" r="r" b="b"/>
              <a:pathLst>
                <a:path w="6991350" h="9525">
                  <a:moveTo>
                    <a:pt x="69913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2809875" y="3333750"/>
              <a:ext cx="9525" cy="400050"/>
            </a:xfrm>
            <a:custGeom>
              <a:avLst/>
              <a:gdLst/>
              <a:ahLst/>
              <a:cxnLst/>
              <a:rect l="l" t="t" r="r" b="b"/>
              <a:pathLst>
                <a:path w="9525" h="400050">
                  <a:moveTo>
                    <a:pt x="0" y="0"/>
                  </a:moveTo>
                  <a:lnTo>
                    <a:pt x="0" y="4000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1" name="Polygon 111"/>
            <p:cNvSpPr/>
            <p:nvPr/>
          </p:nvSpPr>
          <p:spPr>
            <a:xfrm>
              <a:off x="2752725" y="363855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12" name="Line 112"/>
            <p:cNvSpPr/>
            <p:nvPr/>
          </p:nvSpPr>
          <p:spPr>
            <a:xfrm>
              <a:off x="4133850" y="42957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3" name="Polygon 113"/>
            <p:cNvSpPr/>
            <p:nvPr/>
          </p:nvSpPr>
          <p:spPr>
            <a:xfrm>
              <a:off x="4686300" y="4238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114" name="Line 114"/>
            <p:cNvSpPr/>
            <p:nvPr/>
          </p:nvSpPr>
          <p:spPr>
            <a:xfrm>
              <a:off x="7429500" y="429577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115" name="Polygon 115"/>
            <p:cNvSpPr/>
            <p:nvPr/>
          </p:nvSpPr>
          <p:spPr>
            <a:xfrm>
              <a:off x="7981950" y="42386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120" name="Group 120"/>
          <p:cNvGrpSpPr/>
          <p:nvPr/>
        </p:nvGrpSpPr>
        <p:grpSpPr>
          <a:xfrm>
            <a:off x="1485900" y="5391150"/>
            <a:ext cx="9239250" cy="476250"/>
            <a:chOff x="1485900" y="5391150"/>
            <a:chExt cx="9239250" cy="476250"/>
          </a:xfrm>
        </p:grpSpPr>
        <p:sp>
          <p:nvSpPr>
            <p:cNvPr id="117" name="Rectangle 117"/>
            <p:cNvSpPr/>
            <p:nvPr/>
          </p:nvSpPr>
          <p:spPr>
            <a:xfrm>
              <a:off x="1485900" y="5391150"/>
              <a:ext cx="9239250" cy="476250"/>
            </a:xfrm>
            <a:prstGeom prst="roundRect">
              <a:avLst>
                <a:gd name="adj" fmla="val 16000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1754505" y="555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关键边界：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2668905" y="5550218"/>
              <a:ext cx="564199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提出意图，系统决定事实是否发生，并把每一步留下可复盘证据。</a:t>
              </a:r>
            </a:p>
          </p:txBody>
        </p:sp>
      </p:grpSp>
      <p:sp>
        <p:nvSpPr>
          <p:cNvPr id="121" name="TextBox 121"/>
          <p:cNvSpPr txBox="1"/>
          <p:nvPr/>
        </p:nvSpPr>
        <p:spPr>
          <a:xfrm>
            <a:off x="521970" y="6322695"/>
            <a:ext cx="2777204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四、系统架构图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116" grpId="0"/>
      <p:bldP spid="12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90217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模块职责：LLM 参与认知，系统掌握执行权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435483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把角色智能拆成可理解、可测试、可追踪的责任边界。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06 / 14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33400" y="1485900"/>
            <a:ext cx="7766780" cy="4457700"/>
            <a:chOff x="533400" y="1485900"/>
            <a:chExt cx="7766780" cy="4457700"/>
          </a:xfrm>
        </p:grpSpPr>
        <p:sp>
          <p:nvSpPr>
            <p:cNvPr id="9" name="Rectangle 9"/>
            <p:cNvSpPr/>
            <p:nvPr/>
          </p:nvSpPr>
          <p:spPr>
            <a:xfrm>
              <a:off x="533400" y="1485900"/>
              <a:ext cx="7734300" cy="4457700"/>
            </a:xfrm>
            <a:prstGeom prst="roundRect">
              <a:avLst>
                <a:gd name="adj" fmla="val 170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85900"/>
              <a:ext cx="7734300" cy="457200"/>
            </a:xfrm>
            <a:prstGeom prst="roundRect">
              <a:avLst>
                <a:gd name="adj" fmla="val 16667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21055" y="16354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模块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707005" y="1635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主要输入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78705" y="1635442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责任边界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07555" y="1635442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输出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419350" y="19431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91050" y="19431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819900" y="1943100"/>
              <a:ext cx="9525" cy="4000500"/>
            </a:xfrm>
            <a:custGeom>
              <a:avLst/>
              <a:gdLst/>
              <a:ahLst/>
              <a:cxnLst/>
              <a:rect l="l" t="t" r="r" b="b"/>
              <a:pathLst>
                <a:path w="9525" h="4000500">
                  <a:moveTo>
                    <a:pt x="0" y="0"/>
                  </a:moveTo>
                  <a:lnTo>
                    <a:pt x="0" y="40005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194310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21055" y="2111692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NarrativeEnv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710815" y="2144078"/>
              <a:ext cx="13708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玩家 / Traveler 输入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82515" y="2144078"/>
              <a:ext cx="204992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构造 observation，执行 action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1365" y="2144078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ActionResult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533400" y="243840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1055" y="2626042"/>
              <a:ext cx="7336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Memory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2710815" y="26584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上下文 / lore / query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882515" y="265842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补足角色与世界背景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111365" y="2658428"/>
              <a:ext cx="6077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snippets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533400" y="29527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33400" y="295275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21055" y="3140392"/>
              <a:ext cx="75258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710815" y="3172778"/>
              <a:ext cx="15178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observation + memory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882515" y="3172778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形成 belief / goal / plan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111365" y="3172778"/>
              <a:ext cx="789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mind_state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533400" y="34480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1055" y="3635692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710815" y="3668078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mind + action surface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882515" y="366807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提出结构化意图和回复草稿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111365" y="3668078"/>
              <a:ext cx="5727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decision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533400" y="396240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533400" y="396240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1055" y="4150042"/>
              <a:ext cx="145196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ActionValidator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710815" y="4182428"/>
              <a:ext cx="153885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decision + world state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882515" y="41824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允许、阻止或修复行动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111365" y="4182428"/>
              <a:ext cx="1188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allowed / blocked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533400" y="445770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21055" y="4645342"/>
              <a:ext cx="122513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SQLite State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710815" y="4677728"/>
              <a:ext cx="111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validated result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82515" y="4677728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维护任务、物品、地点、关系事实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111365" y="4677728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state_after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49720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533400" y="4972050"/>
              <a:ext cx="7734300" cy="4953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821055" y="5159692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710815" y="5192078"/>
              <a:ext cx="838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trace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82515" y="5192078"/>
              <a:ext cx="2119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整理可读 JSON / Markdown 输出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111365" y="5192078"/>
              <a:ext cx="5657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timeline</a:t>
              </a:r>
            </a:p>
          </p:txBody>
        </p:sp>
        <p:sp>
          <p:nvSpPr>
            <p:cNvPr id="56" name="Line 56"/>
            <p:cNvSpPr/>
            <p:nvPr/>
          </p:nvSpPr>
          <p:spPr>
            <a:xfrm>
              <a:off x="533400" y="5467350"/>
              <a:ext cx="7734300" cy="9525"/>
            </a:xfrm>
            <a:custGeom>
              <a:avLst/>
              <a:gdLst/>
              <a:ahLst/>
              <a:cxnLst/>
              <a:rect l="l" t="t" r="r" b="b"/>
              <a:pathLst>
                <a:path w="7734300" h="9525">
                  <a:moveTo>
                    <a:pt x="0" y="0"/>
                  </a:moveTo>
                  <a:lnTo>
                    <a:pt x="77343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21055" y="5654992"/>
              <a:ext cx="15937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Runtime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710815" y="5687378"/>
              <a:ext cx="141284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YAML profile + world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882515" y="568737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自动观察、决策、行动和反思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11365" y="5687378"/>
              <a:ext cx="8807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result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8686800" y="1485900"/>
            <a:ext cx="2971800" cy="2038350"/>
            <a:chOff x="8686800" y="1485900"/>
            <a:chExt cx="2971800" cy="2038350"/>
          </a:xfrm>
        </p:grpSpPr>
        <p:sp>
          <p:nvSpPr>
            <p:cNvPr id="62" name="Rectangle 62"/>
            <p:cNvSpPr/>
            <p:nvPr/>
          </p:nvSpPr>
          <p:spPr>
            <a:xfrm>
              <a:off x="8686800" y="1485900"/>
              <a:ext cx="2971800" cy="2038350"/>
            </a:xfrm>
            <a:prstGeom prst="roundRect">
              <a:avLst>
                <a:gd name="adj" fmla="val 3738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019111" y="1840706"/>
              <a:ext cx="325511" cy="300038"/>
              <a:chOff x="9019111" y="1840706"/>
              <a:chExt cx="325511" cy="300038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019111" y="1840706"/>
                <a:ext cx="325511" cy="297471"/>
              </a:xfrm>
              <a:custGeom>
                <a:avLst/>
                <a:gdLst/>
                <a:ahLst/>
                <a:cxnLst/>
                <a:rect l="l" t="t" r="r" b="b"/>
                <a:pathLst>
                  <a:path w="325511" h="297471">
                    <a:moveTo>
                      <a:pt x="163513" y="297471"/>
                    </a:moveTo>
                    <a:cubicBezTo>
                      <a:pt x="59091" y="265102"/>
                      <a:pt x="0" y="154893"/>
                      <a:pt x="30830" y="50006"/>
                    </a:cubicBezTo>
                    <a:cubicBezTo>
                      <a:pt x="82762" y="52383"/>
                      <a:pt x="133579" y="34447"/>
                      <a:pt x="172514" y="0"/>
                    </a:cubicBezTo>
                    <a:cubicBezTo>
                      <a:pt x="211449" y="34447"/>
                      <a:pt x="262267" y="52383"/>
                      <a:pt x="314198" y="50006"/>
                    </a:cubicBezTo>
                    <a:cubicBezTo>
                      <a:pt x="325511" y="88496"/>
                      <a:pt x="324988" y="129499"/>
                      <a:pt x="312698" y="16768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241631" y="2074069"/>
                <a:ext cx="100012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66675">
                    <a:moveTo>
                      <a:pt x="0" y="33338"/>
                    </a:moveTo>
                    <a:lnTo>
                      <a:pt x="33338" y="66675"/>
                    </a:ln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9502140" y="1805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执行权边界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974455" y="2387918"/>
              <a:ext cx="1705928" cy="8458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LLM 只提出意图；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事实写入必须经过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Validator 与状态机。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8686800" y="3810000"/>
            <a:ext cx="2971800" cy="2133600"/>
            <a:chOff x="8686800" y="3810000"/>
            <a:chExt cx="2971800" cy="2133600"/>
          </a:xfrm>
        </p:grpSpPr>
        <p:sp>
          <p:nvSpPr>
            <p:cNvPr id="69" name="Rectangle 69"/>
            <p:cNvSpPr/>
            <p:nvPr/>
          </p:nvSpPr>
          <p:spPr>
            <a:xfrm>
              <a:off x="8686800" y="3810000"/>
              <a:ext cx="2971800" cy="2133600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8974455" y="3988118"/>
              <a:ext cx="21135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为什么这对课程汇报重要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8974455" y="4388168"/>
              <a:ext cx="1988820" cy="1188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1. 能解释项目不是聊天壳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2. 能定位每个行为原因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3. 能用 trace 证明结果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4. 能继续扩展评估脚本</a:t>
              </a:r>
            </a:p>
          </p:txBody>
        </p:sp>
      </p:grpSp>
      <p:sp>
        <p:nvSpPr>
          <p:cNvPr id="73" name="TextBox 73"/>
          <p:cNvSpPr txBox="1"/>
          <p:nvPr/>
        </p:nvSpPr>
        <p:spPr>
          <a:xfrm>
            <a:off x="521970" y="6322695"/>
            <a:ext cx="277120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3.8 模块职责表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" grpId="0"/>
      <p:bldP spid="68" grpId="0"/>
      <p:bldP spid="7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577748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记忆与检索：让角色带着上下文行动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91027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角色回复和 decision 不只依赖当前一句输入，而是综合近期上下文、长期记忆、lore 和任务状态。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07 / 14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800" y="1504950"/>
            <a:ext cx="3524250" cy="4057650"/>
            <a:chOff x="685800" y="1504950"/>
            <a:chExt cx="3524250" cy="4057650"/>
          </a:xfrm>
        </p:grpSpPr>
        <p:sp>
          <p:nvSpPr>
            <p:cNvPr id="9" name="Rectangle 9"/>
            <p:cNvSpPr/>
            <p:nvPr/>
          </p:nvSpPr>
          <p:spPr>
            <a:xfrm>
              <a:off x="685800" y="15049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012031" y="1825625"/>
              <a:ext cx="256381" cy="229394"/>
              <a:chOff x="1012031" y="1825625"/>
              <a:chExt cx="256381" cy="229394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079500" y="1893094"/>
                <a:ext cx="1079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9525">
                    <a:moveTo>
                      <a:pt x="0" y="0"/>
                    </a:move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079500" y="1947069"/>
                <a:ext cx="80963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3" h="9525">
                    <a:moveTo>
                      <a:pt x="0" y="0"/>
                    </a:moveTo>
                    <a:lnTo>
                      <a:pt x="80963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2031" y="1825625"/>
                <a:ext cx="242888" cy="2293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29394">
                    <a:moveTo>
                      <a:pt x="121444" y="229394"/>
                    </a:moveTo>
                    <a:lnTo>
                      <a:pt x="107950" y="215900"/>
                    </a:lnTo>
                    <a:lnTo>
                      <a:pt x="80962" y="188913"/>
                    </a:lnTo>
                    <a:lnTo>
                      <a:pt x="40481" y="188913"/>
                    </a:lnTo>
                    <a:cubicBezTo>
                      <a:pt x="18124" y="188913"/>
                      <a:pt x="0" y="170788"/>
                      <a:pt x="0" y="148431"/>
                    </a:cubicBezTo>
                    <a:lnTo>
                      <a:pt x="0" y="40481"/>
                    </a:lnTo>
                    <a:cubicBezTo>
                      <a:pt x="0" y="18124"/>
                      <a:pt x="18124" y="0"/>
                      <a:pt x="40481" y="0"/>
                    </a:cubicBezTo>
                    <a:lnTo>
                      <a:pt x="202406" y="0"/>
                    </a:lnTo>
                    <a:cubicBezTo>
                      <a:pt x="224763" y="0"/>
                      <a:pt x="242888" y="18124"/>
                      <a:pt x="242888" y="40481"/>
                    </a:cubicBezTo>
                    <a:lnTo>
                      <a:pt x="242888" y="12144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1425" y="2001044"/>
                <a:ext cx="26987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53975">
                    <a:moveTo>
                      <a:pt x="0" y="53975"/>
                    </a:moveTo>
                    <a:lnTo>
                      <a:pt x="26987" y="26987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73956" y="2001044"/>
                <a:ext cx="26988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53975">
                    <a:moveTo>
                      <a:pt x="26988" y="0"/>
                    </a:moveTo>
                    <a:lnTo>
                      <a:pt x="0" y="26987"/>
                    </a:lnTo>
                    <a:lnTo>
                      <a:pt x="26988" y="5397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449705" y="1740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近期上下文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53515" y="203930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最近交互、当前输入、局部状态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85800" y="25717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012031" y="2897719"/>
              <a:ext cx="252413" cy="197112"/>
              <a:chOff x="1012031" y="2897719"/>
              <a:chExt cx="252413" cy="19711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1012031" y="3073137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012031" y="2897719"/>
                <a:ext cx="242888" cy="21694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694">
                    <a:moveTo>
                      <a:pt x="0" y="21694"/>
                    </a:moveTo>
                    <a:cubicBezTo>
                      <a:pt x="37575" y="0"/>
                      <a:pt x="83869" y="0"/>
                      <a:pt x="121444" y="21694"/>
                    </a:cubicBezTo>
                    <a:cubicBezTo>
                      <a:pt x="159019" y="0"/>
                      <a:pt x="205313" y="0"/>
                      <a:pt x="242888" y="21694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1012031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33475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54919" y="2919412"/>
                <a:ext cx="9525" cy="1754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75419">
                    <a:moveTo>
                      <a:pt x="0" y="0"/>
                    </a:moveTo>
                    <a:lnTo>
                      <a:pt x="0" y="1754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49705" y="2807018"/>
              <a:ext cx="8376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稳定 lore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53515" y="3106102"/>
              <a:ext cx="239996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地点、NPC 设定、世界规则、秘密边界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685800" y="36385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1025525" y="3945731"/>
              <a:ext cx="215900" cy="242888"/>
              <a:chOff x="1025525" y="3945731"/>
              <a:chExt cx="215900" cy="242888"/>
            </a:xfrm>
          </p:grpSpPr>
          <p:sp>
            <p:nvSpPr>
              <p:cNvPr id="28" name="Freeform 28"/>
              <p:cNvSpPr/>
              <p:nvPr/>
            </p:nvSpPr>
            <p:spPr>
              <a:xfrm>
                <a:off x="1025525" y="39457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025525" y="39862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1025525" y="40671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1449705" y="38738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长期记忆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53515" y="41729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历史互动、关系变化、重要事件摘要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85800" y="4705350"/>
              <a:ext cx="3524250" cy="857250"/>
            </a:xfrm>
            <a:prstGeom prst="roundRect">
              <a:avLst>
                <a:gd name="adj" fmla="val 8889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1039019" y="5026025"/>
              <a:ext cx="202405" cy="229394"/>
              <a:chOff x="1039019" y="5026025"/>
              <a:chExt cx="202405" cy="229394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1039019" y="502602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8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8" y="0"/>
                    </a:cubicBezTo>
                    <a:lnTo>
                      <a:pt x="134938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1160462" y="520144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1092994" y="508000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1092994" y="5133975"/>
                <a:ext cx="2698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9525">
                    <a:moveTo>
                      <a:pt x="0" y="0"/>
                    </a:moveTo>
                    <a:lnTo>
                      <a:pt x="26987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1449705" y="49406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任务与状态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453515" y="5239702"/>
              <a:ext cx="242096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quest、inventory、location、trust</a:t>
              </a:r>
            </a:p>
          </p:txBody>
        </p:sp>
      </p:grpSp>
      <p:grpSp>
        <p:nvGrpSpPr>
          <p:cNvPr id="52" name="Group 52"/>
          <p:cNvGrpSpPr/>
          <p:nvPr/>
        </p:nvGrpSpPr>
        <p:grpSpPr>
          <a:xfrm>
            <a:off x="4876800" y="2247900"/>
            <a:ext cx="2209800" cy="2095500"/>
            <a:chOff x="4876800" y="2247900"/>
            <a:chExt cx="2209800" cy="2095500"/>
          </a:xfrm>
        </p:grpSpPr>
        <p:sp>
          <p:nvSpPr>
            <p:cNvPr id="43" name="Rectangle 43"/>
            <p:cNvSpPr/>
            <p:nvPr/>
          </p:nvSpPr>
          <p:spPr>
            <a:xfrm>
              <a:off x="4876800" y="2247900"/>
              <a:ext cx="2209800" cy="2095500"/>
            </a:xfrm>
            <a:prstGeom prst="roundRect">
              <a:avLst>
                <a:gd name="adj" fmla="val 363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5857875" y="2605088"/>
              <a:ext cx="279400" cy="331787"/>
              <a:chOff x="5857875" y="2605088"/>
              <a:chExt cx="279400" cy="331787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5892800" y="2605088"/>
                <a:ext cx="139700" cy="139700"/>
              </a:xfrm>
              <a:custGeom>
                <a:avLst/>
                <a:gdLst/>
                <a:ahLst/>
                <a:cxnLst/>
                <a:rect l="l" t="t" r="r" b="b"/>
                <a:pathLst>
                  <a:path w="139700" h="139700">
                    <a:moveTo>
                      <a:pt x="0" y="69850"/>
                    </a:moveTo>
                    <a:cubicBezTo>
                      <a:pt x="0" y="108427"/>
                      <a:pt x="31273" y="139700"/>
                      <a:pt x="69850" y="139700"/>
                    </a:cubicBezTo>
                    <a:cubicBezTo>
                      <a:pt x="108427" y="139700"/>
                      <a:pt x="139700" y="108427"/>
                      <a:pt x="139700" y="69850"/>
                    </a:cubicBezTo>
                    <a:cubicBezTo>
                      <a:pt x="139700" y="31273"/>
                      <a:pt x="108427" y="0"/>
                      <a:pt x="69850" y="0"/>
                    </a:cubicBezTo>
                    <a:cubicBezTo>
                      <a:pt x="31273" y="0"/>
                      <a:pt x="0" y="31273"/>
                      <a:pt x="0" y="6985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5857875" y="2814638"/>
                <a:ext cx="96044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96044" h="104775">
                    <a:moveTo>
                      <a:pt x="0" y="104775"/>
                    </a:moveTo>
                    <a:lnTo>
                      <a:pt x="0" y="69850"/>
                    </a:lnTo>
                    <a:cubicBezTo>
                      <a:pt x="0" y="31273"/>
                      <a:pt x="31273" y="0"/>
                      <a:pt x="69850" y="0"/>
                    </a:cubicBezTo>
                    <a:lnTo>
                      <a:pt x="96044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6015038" y="2814638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8"/>
                    </a:moveTo>
                    <a:cubicBezTo>
                      <a:pt x="0" y="81320"/>
                      <a:pt x="23455" y="104775"/>
                      <a:pt x="52388" y="104775"/>
                    </a:cubicBezTo>
                    <a:cubicBezTo>
                      <a:pt x="81320" y="104775"/>
                      <a:pt x="104775" y="81320"/>
                      <a:pt x="104775" y="52388"/>
                    </a:cubicBezTo>
                    <a:cubicBezTo>
                      <a:pt x="104775" y="23455"/>
                      <a:pt x="81320" y="0"/>
                      <a:pt x="52388" y="0"/>
                    </a:cubicBezTo>
                    <a:cubicBezTo>
                      <a:pt x="23455" y="0"/>
                      <a:pt x="0" y="23455"/>
                      <a:pt x="0" y="52388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6105842" y="2905442"/>
                <a:ext cx="31433" cy="31433"/>
              </a:xfrm>
              <a:custGeom>
                <a:avLst/>
                <a:gdLst/>
                <a:ahLst/>
                <a:cxnLst/>
                <a:rect l="l" t="t" r="r" b="b"/>
                <a:pathLst>
                  <a:path w="31433" h="31433">
                    <a:moveTo>
                      <a:pt x="0" y="0"/>
                    </a:moveTo>
                    <a:lnTo>
                      <a:pt x="31433" y="31433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5398070" y="3044190"/>
              <a:ext cx="11672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Retrieval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221962" y="3416618"/>
              <a:ext cx="15194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typed + semantic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236774" y="3753802"/>
              <a:ext cx="14898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返回 memory snippets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0" y="1752600"/>
            <a:ext cx="3429000" cy="3086100"/>
            <a:chOff x="7810500" y="1752600"/>
            <a:chExt cx="3429000" cy="3086100"/>
          </a:xfrm>
        </p:grpSpPr>
        <p:sp>
          <p:nvSpPr>
            <p:cNvPr id="53" name="Rectangle 53"/>
            <p:cNvSpPr/>
            <p:nvPr/>
          </p:nvSpPr>
          <p:spPr>
            <a:xfrm>
              <a:off x="7810500" y="1752600"/>
              <a:ext cx="3429000" cy="308610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092440" y="1958340"/>
              <a:ext cx="26542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合成后的 Agent 上下文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098155" y="2502218"/>
              <a:ext cx="2254568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Observation：当前局面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Memory：历史互动与关系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Lore：稳定世界设定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Quest：任务条件与可行动作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Trace hooks：后续复盘字段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15300" y="4191000"/>
              <a:ext cx="2819400" cy="400050"/>
            </a:xfrm>
            <a:prstGeom prst="roundRect">
              <a:avLst>
                <a:gd name="adj" fmla="val 19048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580549" y="4325302"/>
              <a:ext cx="1888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进入 NPCMind / LLM decision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4210050" y="1933575"/>
            <a:ext cx="3600450" cy="3209925"/>
            <a:chOff x="4210050" y="1933575"/>
            <a:chExt cx="3600450" cy="3209925"/>
          </a:xfrm>
        </p:grpSpPr>
        <p:sp>
          <p:nvSpPr>
            <p:cNvPr id="59" name="Line 59"/>
            <p:cNvSpPr/>
            <p:nvPr/>
          </p:nvSpPr>
          <p:spPr>
            <a:xfrm>
              <a:off x="4210050" y="19335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4210050" y="30003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4210050" y="40671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4210050" y="5133975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4495800" y="1933575"/>
              <a:ext cx="9525" cy="3200400"/>
            </a:xfrm>
            <a:custGeom>
              <a:avLst/>
              <a:gdLst/>
              <a:ahLst/>
              <a:cxnLst/>
              <a:rect l="l" t="t" r="r" b="b"/>
              <a:pathLst>
                <a:path w="9525" h="3200400">
                  <a:moveTo>
                    <a:pt x="0" y="0"/>
                  </a:moveTo>
                  <a:lnTo>
                    <a:pt x="0" y="320040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4495800" y="329565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4781550" y="3238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7086600" y="3295650"/>
              <a:ext cx="723900" cy="9525"/>
            </a:xfrm>
            <a:custGeom>
              <a:avLst/>
              <a:gdLst/>
              <a:ahLst/>
              <a:cxnLst/>
              <a:rect l="l" t="t" r="r" b="b"/>
              <a:pathLst>
                <a:path w="723900" h="9525">
                  <a:moveTo>
                    <a:pt x="0" y="0"/>
                  </a:moveTo>
                  <a:lnTo>
                    <a:pt x="7239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7715250" y="323850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4876800" y="5105400"/>
            <a:ext cx="6362700" cy="666750"/>
            <a:chOff x="4876800" y="5105400"/>
            <a:chExt cx="6362700" cy="666750"/>
          </a:xfrm>
        </p:grpSpPr>
        <p:sp>
          <p:nvSpPr>
            <p:cNvPr id="69" name="Rectangle 69"/>
            <p:cNvSpPr/>
            <p:nvPr/>
          </p:nvSpPr>
          <p:spPr>
            <a:xfrm>
              <a:off x="4876800" y="5105400"/>
              <a:ext cx="6362700" cy="666750"/>
            </a:xfrm>
            <a:prstGeom prst="roundRect">
              <a:avLst>
                <a:gd name="adj" fmla="val 114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5181600" y="5327650"/>
              <a:ext cx="229019" cy="222250"/>
              <a:chOff x="5181600" y="5327650"/>
              <a:chExt cx="229019" cy="222250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5181600" y="5327650"/>
                <a:ext cx="2286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01600">
                    <a:moveTo>
                      <a:pt x="0" y="38100"/>
                    </a:moveTo>
                    <a:cubicBezTo>
                      <a:pt x="0" y="17058"/>
                      <a:pt x="17058" y="0"/>
                      <a:pt x="38100" y="0"/>
                    </a:cubicBezTo>
                    <a:lnTo>
                      <a:pt x="190500" y="0"/>
                    </a:lnTo>
                    <a:cubicBezTo>
                      <a:pt x="211542" y="0"/>
                      <a:pt x="228600" y="17058"/>
                      <a:pt x="228600" y="38100"/>
                    </a:cubicBezTo>
                    <a:lnTo>
                      <a:pt x="228600" y="63500"/>
                    </a:lnTo>
                    <a:cubicBezTo>
                      <a:pt x="228600" y="84542"/>
                      <a:pt x="211542" y="101600"/>
                      <a:pt x="190500" y="101600"/>
                    </a:cubicBez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5181600" y="5429250"/>
                <a:ext cx="17145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01600">
                    <a:moveTo>
                      <a:pt x="114300" y="101600"/>
                    </a:moveTo>
                    <a:lnTo>
                      <a:pt x="38100" y="101600"/>
                    </a:lnTo>
                    <a:cubicBezTo>
                      <a:pt x="17058" y="101600"/>
                      <a:pt x="0" y="84542"/>
                      <a:pt x="0" y="635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lnTo>
                      <a:pt x="1714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2" name="Freeform 72"/>
              <p:cNvSpPr/>
              <p:nvPr/>
            </p:nvSpPr>
            <p:spPr>
              <a:xfrm>
                <a:off x="5346700" y="5480050"/>
                <a:ext cx="508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50800">
                    <a:moveTo>
                      <a:pt x="0" y="25400"/>
                    </a:moveTo>
                    <a:cubicBezTo>
                      <a:pt x="0" y="39428"/>
                      <a:pt x="11372" y="50800"/>
                      <a:pt x="25400" y="50800"/>
                    </a:cubicBezTo>
                    <a:cubicBezTo>
                      <a:pt x="39428" y="50800"/>
                      <a:pt x="50800" y="39428"/>
                      <a:pt x="50800" y="25400"/>
                    </a:cubicBezTo>
                    <a:cubicBezTo>
                      <a:pt x="50800" y="11372"/>
                      <a:pt x="39428" y="0"/>
                      <a:pt x="25400" y="0"/>
                    </a:cubicBezTo>
                    <a:cubicBezTo>
                      <a:pt x="11372" y="0"/>
                      <a:pt x="0" y="11372"/>
                      <a:pt x="0" y="254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5372100" y="546100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5372100" y="5530850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0" y="0"/>
                    </a:moveTo>
                    <a:lnTo>
                      <a:pt x="0" y="190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5" name="Freeform 75"/>
              <p:cNvSpPr/>
              <p:nvPr/>
            </p:nvSpPr>
            <p:spPr>
              <a:xfrm>
                <a:off x="5394109" y="5483225"/>
                <a:ext cx="16497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497" h="9525">
                    <a:moveTo>
                      <a:pt x="16497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5333619" y="5518150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16510" y="0"/>
                    </a:moveTo>
                    <a:lnTo>
                      <a:pt x="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5333619" y="5483225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5394109" y="5518150"/>
                <a:ext cx="1651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510" h="9525">
                    <a:moveTo>
                      <a:pt x="0" y="0"/>
                    </a:moveTo>
                    <a:lnTo>
                      <a:pt x="16510" y="95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79" name="Freeform 79"/>
              <p:cNvSpPr/>
              <p:nvPr/>
            </p:nvSpPr>
            <p:spPr>
              <a:xfrm>
                <a:off x="5232400" y="53784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80" name="Freeform 80"/>
              <p:cNvSpPr/>
              <p:nvPr/>
            </p:nvSpPr>
            <p:spPr>
              <a:xfrm>
                <a:off x="5232400" y="54800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82" name="TextBox 82"/>
            <p:cNvSpPr txBox="1"/>
            <p:nvPr/>
          </p:nvSpPr>
          <p:spPr>
            <a:xfrm>
              <a:off x="5583555" y="5226368"/>
              <a:ext cx="15937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后台 memory jobs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5587365" y="5525452"/>
              <a:ext cx="53613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把运行产生的交互、反思和候选记忆整理为后续可检索内容，降低单轮 prompt 负担。</a:t>
              </a:r>
            </a:p>
          </p:txBody>
        </p:sp>
      </p:grpSp>
      <p:sp>
        <p:nvSpPr>
          <p:cNvPr id="85" name="TextBox 85"/>
          <p:cNvSpPr txBox="1"/>
          <p:nvPr/>
        </p:nvSpPr>
        <p:spPr>
          <a:xfrm>
            <a:off x="521970" y="6322695"/>
            <a:ext cx="434340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3.2 记忆与检索系统 / 5.4 后台长期记忆流程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52" grpId="0"/>
      <p:bldP spid="58" grpId="0"/>
      <p:bldP spid="68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808042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 + ActionValidator：自由表达，受控执行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2549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角色可以有主观判断和语言策略，但事实变化必须经过规则边界。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08 / 14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685800" y="1581150"/>
            <a:ext cx="4191000" cy="2667000"/>
            <a:chOff x="685800" y="1581150"/>
            <a:chExt cx="4191000" cy="2667000"/>
          </a:xfrm>
        </p:grpSpPr>
        <p:sp>
          <p:nvSpPr>
            <p:cNvPr id="9" name="Rectangle 9"/>
            <p:cNvSpPr/>
            <p:nvPr/>
          </p:nvSpPr>
          <p:spPr>
            <a:xfrm>
              <a:off x="685800" y="158115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81150"/>
              <a:ext cx="4191000" cy="495300"/>
            </a:xfrm>
            <a:prstGeom prst="roundRect">
              <a:avLst>
                <a:gd name="adj" fmla="val 15385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028700" y="1733550"/>
              <a:ext cx="228600" cy="228600"/>
              <a:chOff x="1028700" y="1733550"/>
              <a:chExt cx="228600" cy="2286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143000" y="1860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19901" y="0"/>
                      <a:pt x="0" y="19901"/>
                      <a:pt x="0" y="44450"/>
                    </a:cubicBezTo>
                    <a:lnTo>
                      <a:pt x="0" y="57150"/>
                    </a:lnTo>
                    <a:cubicBezTo>
                      <a:pt x="0" y="81699"/>
                      <a:pt x="19901" y="101600"/>
                      <a:pt x="44450" y="101600"/>
                    </a:cubicBezTo>
                    <a:cubicBezTo>
                      <a:pt x="68999" y="101600"/>
                      <a:pt x="88900" y="81699"/>
                      <a:pt x="88900" y="57150"/>
                    </a:cubicBezTo>
                    <a:lnTo>
                      <a:pt x="88900" y="342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54100" y="1860550"/>
                <a:ext cx="889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01600">
                    <a:moveTo>
                      <a:pt x="44450" y="0"/>
                    </a:move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57150"/>
                    </a:lnTo>
                    <a:cubicBezTo>
                      <a:pt x="88900" y="81699"/>
                      <a:pt x="68999" y="101600"/>
                      <a:pt x="44450" y="101600"/>
                    </a:cubicBezTo>
                    <a:cubicBezTo>
                      <a:pt x="19901" y="101600"/>
                      <a:pt x="0" y="81699"/>
                      <a:pt x="0" y="57150"/>
                    </a:cubicBezTo>
                    <a:lnTo>
                      <a:pt x="0" y="3429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06500" y="1809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6350" y="88900"/>
                    </a:moveTo>
                    <a:cubicBezTo>
                      <a:pt x="30899" y="88900"/>
                      <a:pt x="50800" y="68999"/>
                      <a:pt x="50800" y="44450"/>
                    </a:cubicBezTo>
                    <a:cubicBezTo>
                      <a:pt x="50800" y="19901"/>
                      <a:pt x="30899" y="0"/>
                      <a:pt x="6350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43000" y="1733550"/>
                <a:ext cx="88900" cy="8001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80010">
                    <a:moveTo>
                      <a:pt x="88900" y="80010"/>
                    </a:moveTo>
                    <a:lnTo>
                      <a:pt x="88900" y="44450"/>
                    </a:lnTo>
                    <a:cubicBezTo>
                      <a:pt x="88900" y="19901"/>
                      <a:pt x="68999" y="0"/>
                      <a:pt x="44450" y="0"/>
                    </a:cubicBezTo>
                    <a:cubicBezTo>
                      <a:pt x="19901" y="0"/>
                      <a:pt x="0" y="19901"/>
                      <a:pt x="0" y="44450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028700" y="1809750"/>
                <a:ext cx="50800" cy="889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88900">
                    <a:moveTo>
                      <a:pt x="44450" y="88900"/>
                    </a:moveTo>
                    <a:cubicBezTo>
                      <a:pt x="19901" y="88900"/>
                      <a:pt x="0" y="68999"/>
                      <a:pt x="0" y="44450"/>
                    </a:cubicBezTo>
                    <a:cubicBezTo>
                      <a:pt x="0" y="19901"/>
                      <a:pt x="19901" y="0"/>
                      <a:pt x="44450" y="0"/>
                    </a:cubicBez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054100" y="1733550"/>
                <a:ext cx="889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88900" h="171450">
                    <a:moveTo>
                      <a:pt x="0" y="80010"/>
                    </a:moveTo>
                    <a:lnTo>
                      <a:pt x="0" y="44450"/>
                    </a:lnTo>
                    <a:cubicBezTo>
                      <a:pt x="0" y="19901"/>
                      <a:pt x="19901" y="0"/>
                      <a:pt x="44450" y="0"/>
                    </a:cubicBezTo>
                    <a:cubicBezTo>
                      <a:pt x="68999" y="0"/>
                      <a:pt x="88900" y="19901"/>
                      <a:pt x="88900" y="44450"/>
                    </a:cubicBezTo>
                    <a:lnTo>
                      <a:pt x="88900" y="17145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405890" y="1701165"/>
              <a:ext cx="2767660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NPCMind：形成主观状态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9655" y="2330768"/>
              <a:ext cx="3549015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belief：我相信当前局面是什么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emotion：我对玩家或事件的态度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active goal：当前要推进的目标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active plan：下一步行动计划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social strategy：透露、要求凭证或转移话题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876800" y="2476500"/>
            <a:ext cx="2438400" cy="938212"/>
            <a:chOff x="4876800" y="2476500"/>
            <a:chExt cx="2438400" cy="938212"/>
          </a:xfrm>
        </p:grpSpPr>
        <p:sp>
          <p:nvSpPr>
            <p:cNvPr id="21" name="Rectangle 21"/>
            <p:cNvSpPr/>
            <p:nvPr/>
          </p:nvSpPr>
          <p:spPr>
            <a:xfrm>
              <a:off x="5238750" y="2476500"/>
              <a:ext cx="1714500" cy="914400"/>
            </a:xfrm>
            <a:prstGeom prst="roundRect">
              <a:avLst>
                <a:gd name="adj" fmla="val 833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007100" y="2654300"/>
              <a:ext cx="177800" cy="241300"/>
              <a:chOff x="6007100" y="2654300"/>
              <a:chExt cx="177800" cy="2413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19800" y="2679700"/>
                <a:ext cx="1524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101600">
                    <a:moveTo>
                      <a:pt x="0" y="25400"/>
                    </a:moveTo>
                    <a:cubicBezTo>
                      <a:pt x="0" y="11372"/>
                      <a:pt x="11372" y="0"/>
                      <a:pt x="25400" y="0"/>
                    </a:cubicBezTo>
                    <a:lnTo>
                      <a:pt x="127000" y="0"/>
                    </a:lnTo>
                    <a:cubicBezTo>
                      <a:pt x="141028" y="0"/>
                      <a:pt x="152400" y="11372"/>
                      <a:pt x="152400" y="25400"/>
                    </a:cubicBezTo>
                    <a:lnTo>
                      <a:pt x="152400" y="76200"/>
                    </a:lnTo>
                    <a:cubicBezTo>
                      <a:pt x="152400" y="90228"/>
                      <a:pt x="141028" y="101600"/>
                      <a:pt x="127000" y="101600"/>
                    </a:cubicBezTo>
                    <a:lnTo>
                      <a:pt x="25400" y="101600"/>
                    </a:lnTo>
                    <a:cubicBezTo>
                      <a:pt x="11372" y="101600"/>
                      <a:pt x="0" y="90228"/>
                      <a:pt x="0" y="76200"/>
                    </a:cubicBez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096000" y="2654300"/>
                <a:ext cx="952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5400">
                    <a:moveTo>
                      <a:pt x="0" y="0"/>
                    </a:moveTo>
                    <a:lnTo>
                      <a:pt x="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057900" y="2781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134100" y="2781300"/>
                <a:ext cx="9525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007100" y="28067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25400"/>
                    </a:moveTo>
                    <a:lnTo>
                      <a:pt x="508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134100" y="2806700"/>
                <a:ext cx="508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0800" h="25400">
                    <a:moveTo>
                      <a:pt x="0" y="0"/>
                    </a:moveTo>
                    <a:lnTo>
                      <a:pt x="50800" y="254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057900" y="2857500"/>
                <a:ext cx="76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9525">
                    <a:moveTo>
                      <a:pt x="0" y="0"/>
                    </a:move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070600" y="2730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121400" y="27305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2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5507059" y="2959418"/>
              <a:ext cx="117788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decision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82102" y="3201352"/>
              <a:ext cx="10277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意图 + 回复草稿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4876800" y="2933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5" name="Polygon 35"/>
            <p:cNvSpPr/>
            <p:nvPr/>
          </p:nvSpPr>
          <p:spPr>
            <a:xfrm>
              <a:off x="5143500" y="2876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36" name="Line 36"/>
            <p:cNvSpPr/>
            <p:nvPr/>
          </p:nvSpPr>
          <p:spPr>
            <a:xfrm>
              <a:off x="6953250" y="29337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37" name="Polygon 37"/>
            <p:cNvSpPr/>
            <p:nvPr/>
          </p:nvSpPr>
          <p:spPr>
            <a:xfrm>
              <a:off x="7219950" y="2876550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46" name="Group 46"/>
          <p:cNvGrpSpPr/>
          <p:nvPr/>
        </p:nvGrpSpPr>
        <p:grpSpPr>
          <a:xfrm>
            <a:off x="7315200" y="1581150"/>
            <a:ext cx="4420267" cy="2667000"/>
            <a:chOff x="7315200" y="1581150"/>
            <a:chExt cx="4420267" cy="2667000"/>
          </a:xfrm>
        </p:grpSpPr>
        <p:sp>
          <p:nvSpPr>
            <p:cNvPr id="39" name="Rectangle 39"/>
            <p:cNvSpPr/>
            <p:nvPr/>
          </p:nvSpPr>
          <p:spPr>
            <a:xfrm>
              <a:off x="7315200" y="1581150"/>
              <a:ext cx="4191000" cy="2667000"/>
            </a:xfrm>
            <a:prstGeom prst="roundRect">
              <a:avLst>
                <a:gd name="adj" fmla="val 2857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0" name="Rectangle 40"/>
            <p:cNvSpPr/>
            <p:nvPr/>
          </p:nvSpPr>
          <p:spPr>
            <a:xfrm>
              <a:off x="7315200" y="1581150"/>
              <a:ext cx="4191000" cy="495300"/>
            </a:xfrm>
            <a:prstGeom prst="roundRect">
              <a:avLst>
                <a:gd name="adj" fmla="val 15385"/>
              </a:avLst>
            </a:prstGeom>
            <a:solidFill>
              <a:srgbClr val="D8F3F7"/>
            </a:solidFill>
            <a:ln>
              <a:noFill/>
            </a:ln>
          </p:spPr>
        </p:sp>
        <p:grpSp>
          <p:nvGrpSpPr>
            <p:cNvPr id="43" name="Group 43"/>
            <p:cNvGrpSpPr/>
            <p:nvPr/>
          </p:nvGrpSpPr>
          <p:grpSpPr>
            <a:xfrm>
              <a:off x="7640961" y="1733550"/>
              <a:ext cx="248008" cy="228600"/>
              <a:chOff x="7640961" y="1733550"/>
              <a:chExt cx="248008" cy="228600"/>
            </a:xfrm>
          </p:grpSpPr>
          <p:sp>
            <p:nvSpPr>
              <p:cNvPr id="41" name="Freeform 41"/>
              <p:cNvSpPr/>
              <p:nvPr/>
            </p:nvSpPr>
            <p:spPr>
              <a:xfrm>
                <a:off x="7640961" y="1733550"/>
                <a:ext cx="248008" cy="226644"/>
              </a:xfrm>
              <a:custGeom>
                <a:avLst/>
                <a:gdLst/>
                <a:ahLst/>
                <a:cxnLst/>
                <a:rect l="l" t="t" r="r" b="b"/>
                <a:pathLst>
                  <a:path w="248008" h="226644">
                    <a:moveTo>
                      <a:pt x="124581" y="226644"/>
                    </a:moveTo>
                    <a:cubicBezTo>
                      <a:pt x="45022" y="201982"/>
                      <a:pt x="0" y="118014"/>
                      <a:pt x="23489" y="38100"/>
                    </a:cubicBezTo>
                    <a:cubicBezTo>
                      <a:pt x="63057" y="39911"/>
                      <a:pt x="101774" y="26246"/>
                      <a:pt x="131439" y="0"/>
                    </a:cubicBezTo>
                    <a:cubicBezTo>
                      <a:pt x="161104" y="26246"/>
                      <a:pt x="199822" y="39911"/>
                      <a:pt x="239389" y="38100"/>
                    </a:cubicBezTo>
                    <a:cubicBezTo>
                      <a:pt x="248008" y="67426"/>
                      <a:pt x="247610" y="98666"/>
                      <a:pt x="238246" y="127762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810500" y="1911350"/>
                <a:ext cx="762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50800">
                    <a:moveTo>
                      <a:pt x="0" y="25400"/>
                    </a:moveTo>
                    <a:lnTo>
                      <a:pt x="25400" y="50800"/>
                    </a:lnTo>
                    <a:lnTo>
                      <a:pt x="76200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4" name="TextBox 44"/>
            <p:cNvSpPr txBox="1"/>
            <p:nvPr/>
          </p:nvSpPr>
          <p:spPr>
            <a:xfrm>
              <a:off x="8035290" y="1701165"/>
              <a:ext cx="370017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ActionValidator：守住事实边界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679055" y="2330768"/>
              <a:ext cx="277749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检查行动是否在当前状态下允许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阻止“语言上直接解锁地点”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阻止“缺少条件就发放物品”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将非法或不完整行动降级为安全结果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把校验原因写入 trace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543050" y="4876800"/>
            <a:ext cx="9105900" cy="876300"/>
            <a:chOff x="1543050" y="4876800"/>
            <a:chExt cx="9105900" cy="876300"/>
          </a:xfrm>
        </p:grpSpPr>
        <p:sp>
          <p:nvSpPr>
            <p:cNvPr id="47" name="Rectangle 47"/>
            <p:cNvSpPr/>
            <p:nvPr/>
          </p:nvSpPr>
          <p:spPr>
            <a:xfrm>
              <a:off x="1543050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824990" y="5025390"/>
              <a:ext cx="94043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5803D"/>
                  </a:solidFill>
                  <a:latin typeface="Arial"/>
                  <a:ea typeface="Microsoft YaHei"/>
                  <a:cs typeface="Arial"/>
                </a:rPr>
                <a:t>allowed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834515" y="54111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满足当前任务和世界条件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4905375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5187315" y="5025390"/>
              <a:ext cx="9530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91C1C"/>
                  </a:solidFill>
                  <a:latin typeface="Arial"/>
                  <a:ea typeface="Microsoft YaHei"/>
                  <a:cs typeface="Arial"/>
                </a:rPr>
                <a:t>blocked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196840" y="54111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越界行动不会写入状态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8267700" y="4876800"/>
              <a:ext cx="2381250" cy="876300"/>
            </a:xfrm>
            <a:prstGeom prst="roundRect">
              <a:avLst>
                <a:gd name="adj" fmla="val 869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549640" y="502539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repaired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559165" y="5411152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保留有效意图，移除不合规部分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1543050" y="4400550"/>
            <a:ext cx="9105900" cy="323850"/>
            <a:chOff x="1543050" y="4400550"/>
            <a:chExt cx="9105900" cy="323850"/>
          </a:xfrm>
        </p:grpSpPr>
        <p:sp>
          <p:nvSpPr>
            <p:cNvPr id="57" name="Rectangle 57"/>
            <p:cNvSpPr/>
            <p:nvPr/>
          </p:nvSpPr>
          <p:spPr>
            <a:xfrm>
              <a:off x="1543050" y="4400550"/>
              <a:ext cx="9105900" cy="323850"/>
            </a:xfrm>
            <a:prstGeom prst="roundRect">
              <a:avLst>
                <a:gd name="adj" fmla="val 235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052411" y="4506278"/>
              <a:ext cx="40871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语言层可以灵活扮演角色；状态层必须可验证、可追踪、可测试。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521970" y="6322695"/>
            <a:ext cx="2807208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2.3 / 3.3 / 3.4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38" grpId="0"/>
      <p:bldP spid="46" grpId="0"/>
      <p:bldP spid="56" grpId="0"/>
      <p:bldP spid="5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455594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Autonomous NPC Runtime：NPC 响应世界事件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96603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 不只等待玩家输入，也可以在世界事件触发后生成受约束的主动行为。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09 / 14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685800" y="1809750"/>
            <a:ext cx="10960633" cy="976312"/>
            <a:chOff x="685800" y="1809750"/>
            <a:chExt cx="10960633" cy="976312"/>
          </a:xfrm>
        </p:grpSpPr>
        <p:sp>
          <p:nvSpPr>
            <p:cNvPr id="9" name="Rectangle 9"/>
            <p:cNvSpPr/>
            <p:nvPr/>
          </p:nvSpPr>
          <p:spPr>
            <a:xfrm>
              <a:off x="68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278731" y="2035175"/>
              <a:ext cx="242888" cy="215900"/>
              <a:chOff x="1278731" y="2035175"/>
              <a:chExt cx="242888" cy="2159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278731" y="2035175"/>
                <a:ext cx="242888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242888" h="215900">
                    <a:moveTo>
                      <a:pt x="0" y="40481"/>
                    </a:moveTo>
                    <a:lnTo>
                      <a:pt x="80962" y="0"/>
                    </a:lnTo>
                    <a:lnTo>
                      <a:pt x="161925" y="40481"/>
                    </a:lnTo>
                    <a:lnTo>
                      <a:pt x="242888" y="0"/>
                    </a:lnTo>
                    <a:lnTo>
                      <a:pt x="242888" y="175419"/>
                    </a:lnTo>
                    <a:lnTo>
                      <a:pt x="161925" y="215900"/>
                    </a:lnTo>
                    <a:lnTo>
                      <a:pt x="80962" y="175419"/>
                    </a:lnTo>
                    <a:lnTo>
                      <a:pt x="0" y="215900"/>
                    </a:lnTo>
                    <a:lnTo>
                      <a:pt x="0" y="404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59694" y="21431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319212" y="2156619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413669" y="2129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53975" y="53975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13669" y="212963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53975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839587" y="2349818"/>
              <a:ext cx="112117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world event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06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事件写入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59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3183731" y="2021681"/>
              <a:ext cx="242888" cy="242887"/>
              <a:chOff x="3183731" y="2021681"/>
              <a:chExt cx="242888" cy="242887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3210719" y="2021681"/>
                <a:ext cx="10795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07950" h="107950">
                    <a:moveTo>
                      <a:pt x="0" y="53975"/>
                    </a:moveTo>
                    <a:cubicBezTo>
                      <a:pt x="0" y="83785"/>
                      <a:pt x="24165" y="107950"/>
                      <a:pt x="53975" y="107950"/>
                    </a:cubicBezTo>
                    <a:cubicBezTo>
                      <a:pt x="83785" y="107950"/>
                      <a:pt x="107950" y="83785"/>
                      <a:pt x="107950" y="53975"/>
                    </a:cubicBezTo>
                    <a:cubicBezTo>
                      <a:pt x="107950" y="24165"/>
                      <a:pt x="83785" y="0"/>
                      <a:pt x="53975" y="0"/>
                    </a:cubicBezTo>
                    <a:cubicBezTo>
                      <a:pt x="24165" y="0"/>
                      <a:pt x="0" y="24165"/>
                      <a:pt x="0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183731" y="2183606"/>
                <a:ext cx="161925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80962">
                    <a:moveTo>
                      <a:pt x="0" y="80962"/>
                    </a:moveTo>
                    <a:lnTo>
                      <a:pt x="0" y="53975"/>
                    </a:lnTo>
                    <a:cubicBezTo>
                      <a:pt x="0" y="24165"/>
                      <a:pt x="24165" y="0"/>
                      <a:pt x="53975" y="0"/>
                    </a:cubicBezTo>
                    <a:lnTo>
                      <a:pt x="107950" y="0"/>
                    </a:lnTo>
                    <a:cubicBezTo>
                      <a:pt x="137760" y="0"/>
                      <a:pt x="161925" y="24165"/>
                      <a:pt x="161925" y="53975"/>
                    </a:cubicBezTo>
                    <a:lnTo>
                      <a:pt x="161925" y="8096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359150" y="2023435"/>
                <a:ext cx="40587" cy="104577"/>
              </a:xfrm>
              <a:custGeom>
                <a:avLst/>
                <a:gdLst/>
                <a:ahLst/>
                <a:cxnLst/>
                <a:rect l="l" t="t" r="r" b="b"/>
                <a:pathLst>
                  <a:path w="40587" h="104577">
                    <a:moveTo>
                      <a:pt x="0" y="0"/>
                    </a:moveTo>
                    <a:cubicBezTo>
                      <a:pt x="23883" y="6115"/>
                      <a:pt x="40587" y="27635"/>
                      <a:pt x="40587" y="52288"/>
                    </a:cubicBezTo>
                    <a:cubicBezTo>
                      <a:pt x="40587" y="76941"/>
                      <a:pt x="23883" y="98462"/>
                      <a:pt x="0" y="10457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386138" y="2185630"/>
                <a:ext cx="40481" cy="78938"/>
              </a:xfrm>
              <a:custGeom>
                <a:avLst/>
                <a:gdLst/>
                <a:ahLst/>
                <a:cxnLst/>
                <a:rect l="l" t="t" r="r" b="b"/>
                <a:pathLst>
                  <a:path w="40481" h="78938">
                    <a:moveTo>
                      <a:pt x="40481" y="78938"/>
                    </a:moveTo>
                    <a:lnTo>
                      <a:pt x="40481" y="51951"/>
                    </a:lnTo>
                    <a:cubicBezTo>
                      <a:pt x="40340" y="27454"/>
                      <a:pt x="23720" y="6124"/>
                      <a:pt x="0" y="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2867452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NPC inbox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11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事件投递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49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5115719" y="2035175"/>
              <a:ext cx="202405" cy="229394"/>
              <a:chOff x="5115719" y="2035175"/>
              <a:chExt cx="202405" cy="229394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15719" y="2035175"/>
                <a:ext cx="161925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215900">
                    <a:moveTo>
                      <a:pt x="62274" y="215900"/>
                    </a:moveTo>
                    <a:lnTo>
                      <a:pt x="26987" y="215900"/>
                    </a:lnTo>
                    <a:cubicBezTo>
                      <a:pt x="12083" y="215900"/>
                      <a:pt x="0" y="203817"/>
                      <a:pt x="0" y="188913"/>
                    </a:cubicBezTo>
                    <a:lnTo>
                      <a:pt x="0" y="26988"/>
                    </a:lnTo>
                    <a:cubicBezTo>
                      <a:pt x="0" y="12083"/>
                      <a:pt x="12083" y="0"/>
                      <a:pt x="26987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134938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237162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7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169694" y="2089150"/>
                <a:ext cx="53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9525">
                    <a:moveTo>
                      <a:pt x="0" y="0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169694" y="2143125"/>
                <a:ext cx="269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9525">
                    <a:moveTo>
                      <a:pt x="0" y="0"/>
                    </a:moveTo>
                    <a:lnTo>
                      <a:pt x="2698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4564526" y="2349818"/>
              <a:ext cx="129129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ActionCatalog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76788" y="25727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可行动作集合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0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7020719" y="2008188"/>
              <a:ext cx="188912" cy="256381"/>
              <a:chOff x="7020719" y="2008188"/>
              <a:chExt cx="188912" cy="256381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7034212" y="2035175"/>
                <a:ext cx="161925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107950">
                    <a:moveTo>
                      <a:pt x="0" y="26988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134937" y="0"/>
                    </a:lnTo>
                    <a:cubicBezTo>
                      <a:pt x="149842" y="0"/>
                      <a:pt x="161925" y="12083"/>
                      <a:pt x="161925" y="26988"/>
                    </a:cubicBezTo>
                    <a:lnTo>
                      <a:pt x="161925" y="80962"/>
                    </a:lnTo>
                    <a:cubicBezTo>
                      <a:pt x="161925" y="95867"/>
                      <a:pt x="149842" y="107950"/>
                      <a:pt x="134937" y="107950"/>
                    </a:cubicBezTo>
                    <a:lnTo>
                      <a:pt x="26988" y="107950"/>
                    </a:lnTo>
                    <a:cubicBezTo>
                      <a:pt x="12083" y="107950"/>
                      <a:pt x="0" y="95867"/>
                      <a:pt x="0" y="80962"/>
                    </a:cubicBezTo>
                    <a:lnTo>
                      <a:pt x="0" y="2698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115175" y="2008188"/>
                <a:ext cx="952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6987">
                    <a:moveTo>
                      <a:pt x="0" y="0"/>
                    </a:moveTo>
                    <a:lnTo>
                      <a:pt x="0" y="2698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7074694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7155656" y="2143125"/>
                <a:ext cx="9525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21444">
                    <a:moveTo>
                      <a:pt x="0" y="0"/>
                    </a:moveTo>
                    <a:lnTo>
                      <a:pt x="0" y="121444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9" name="Freeform 39"/>
              <p:cNvSpPr/>
              <p:nvPr/>
            </p:nvSpPr>
            <p:spPr>
              <a:xfrm>
                <a:off x="7020719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26987"/>
                    </a:moveTo>
                    <a:lnTo>
                      <a:pt x="539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155656" y="2170112"/>
                <a:ext cx="53975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26987">
                    <a:moveTo>
                      <a:pt x="0" y="0"/>
                    </a:moveTo>
                    <a:lnTo>
                      <a:pt x="53975" y="2698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074694" y="2224088"/>
                <a:ext cx="8096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9525">
                    <a:moveTo>
                      <a:pt x="0" y="0"/>
                    </a:move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7088188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7142162" y="20891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35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6710532" y="2349818"/>
              <a:ext cx="80928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LLM tick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401752" y="25727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constrained decision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305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0" name="Group 50"/>
            <p:cNvGrpSpPr/>
            <p:nvPr/>
          </p:nvGrpSpPr>
          <p:grpSpPr>
            <a:xfrm>
              <a:off x="8880521" y="2021681"/>
              <a:ext cx="263509" cy="242888"/>
              <a:chOff x="8880521" y="2021681"/>
              <a:chExt cx="263509" cy="24288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8880521" y="2021681"/>
                <a:ext cx="263509" cy="240809"/>
              </a:xfrm>
              <a:custGeom>
                <a:avLst/>
                <a:gdLst/>
                <a:ahLst/>
                <a:cxnLst/>
                <a:rect l="l" t="t" r="r" b="b"/>
                <a:pathLst>
                  <a:path w="263509" h="240809">
                    <a:moveTo>
                      <a:pt x="132368" y="240809"/>
                    </a:moveTo>
                    <a:cubicBezTo>
                      <a:pt x="47835" y="214606"/>
                      <a:pt x="0" y="125390"/>
                      <a:pt x="24957" y="40481"/>
                    </a:cubicBezTo>
                    <a:cubicBezTo>
                      <a:pt x="66998" y="42405"/>
                      <a:pt x="108135" y="27886"/>
                      <a:pt x="139654" y="0"/>
                    </a:cubicBezTo>
                    <a:cubicBezTo>
                      <a:pt x="171173" y="27886"/>
                      <a:pt x="212311" y="42405"/>
                      <a:pt x="254351" y="40481"/>
                    </a:cubicBezTo>
                    <a:cubicBezTo>
                      <a:pt x="263509" y="71640"/>
                      <a:pt x="263086" y="104832"/>
                      <a:pt x="253137" y="13574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9060656" y="2210594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lnTo>
                      <a:pt x="26988" y="53975"/>
                    </a:lnTo>
                    <a:lnTo>
                      <a:pt x="8096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634434" y="2349818"/>
              <a:ext cx="771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validate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646295" y="2572702"/>
              <a:ext cx="7477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拦截 / 修复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210800" y="1809750"/>
              <a:ext cx="1428750" cy="933450"/>
            </a:xfrm>
            <a:prstGeom prst="roundRect">
              <a:avLst>
                <a:gd name="adj" fmla="val 8163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10803731" y="2075656"/>
              <a:ext cx="242887" cy="134938"/>
              <a:chOff x="10803731" y="2075656"/>
              <a:chExt cx="242887" cy="134938"/>
            </a:xfrm>
          </p:grpSpPr>
          <p:sp>
            <p:nvSpPr>
              <p:cNvPr id="54" name="Freeform 54"/>
              <p:cNvSpPr/>
              <p:nvPr/>
            </p:nvSpPr>
            <p:spPr>
              <a:xfrm>
                <a:off x="10817225" y="2089150"/>
                <a:ext cx="2159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07950">
                    <a:moveTo>
                      <a:pt x="0" y="107950"/>
                    </a:moveTo>
                    <a:lnTo>
                      <a:pt x="80962" y="13494"/>
                    </a:lnTo>
                    <a:lnTo>
                      <a:pt x="148431" y="80962"/>
                    </a:ln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5" name="Freeform 55"/>
              <p:cNvSpPr/>
              <p:nvPr/>
            </p:nvSpPr>
            <p:spPr>
              <a:xfrm>
                <a:off x="10952162" y="2156619"/>
                <a:ext cx="26988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8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8" y="20946"/>
                      <a:pt x="26988" y="13494"/>
                    </a:cubicBezTo>
                    <a:cubicBezTo>
                      <a:pt x="26988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0884694" y="2089150"/>
                <a:ext cx="26987" cy="26987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7">
                    <a:moveTo>
                      <a:pt x="0" y="13494"/>
                    </a:moveTo>
                    <a:cubicBezTo>
                      <a:pt x="0" y="20946"/>
                      <a:pt x="6041" y="26987"/>
                      <a:pt x="13494" y="26987"/>
                    </a:cubicBezTo>
                    <a:cubicBezTo>
                      <a:pt x="20946" y="26987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803731" y="2183606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019631" y="2075656"/>
                <a:ext cx="26987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26987" h="26988">
                    <a:moveTo>
                      <a:pt x="0" y="13494"/>
                    </a:moveTo>
                    <a:cubicBezTo>
                      <a:pt x="0" y="20946"/>
                      <a:pt x="6041" y="26988"/>
                      <a:pt x="13494" y="26988"/>
                    </a:cubicBezTo>
                    <a:cubicBezTo>
                      <a:pt x="20946" y="26988"/>
                      <a:pt x="26987" y="20946"/>
                      <a:pt x="26987" y="13494"/>
                    </a:cubicBezTo>
                    <a:cubicBezTo>
                      <a:pt x="26987" y="6041"/>
                      <a:pt x="20946" y="0"/>
                      <a:pt x="13494" y="0"/>
                    </a:cubicBezTo>
                    <a:cubicBezTo>
                      <a:pt x="6041" y="0"/>
                      <a:pt x="0" y="6041"/>
                      <a:pt x="0" y="13494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10203917" y="2349818"/>
              <a:ext cx="14425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mailbox / trace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631805" y="25727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结果记录</a:t>
              </a:r>
            </a:p>
          </p:txBody>
        </p:sp>
        <p:sp>
          <p:nvSpPr>
            <p:cNvPr id="62" name="Line 62"/>
            <p:cNvSpPr/>
            <p:nvPr/>
          </p:nvSpPr>
          <p:spPr>
            <a:xfrm>
              <a:off x="211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3" name="Polygon 63"/>
            <p:cNvSpPr/>
            <p:nvPr/>
          </p:nvSpPr>
          <p:spPr>
            <a:xfrm>
              <a:off x="249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4" name="Line 64"/>
            <p:cNvSpPr/>
            <p:nvPr/>
          </p:nvSpPr>
          <p:spPr>
            <a:xfrm>
              <a:off x="4019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5" name="Polygon 65"/>
            <p:cNvSpPr/>
            <p:nvPr/>
          </p:nvSpPr>
          <p:spPr>
            <a:xfrm>
              <a:off x="4400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6" name="Line 66"/>
            <p:cNvSpPr/>
            <p:nvPr/>
          </p:nvSpPr>
          <p:spPr>
            <a:xfrm>
              <a:off x="592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630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7829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8210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70" name="Line 70"/>
            <p:cNvSpPr/>
            <p:nvPr/>
          </p:nvSpPr>
          <p:spPr>
            <a:xfrm>
              <a:off x="9734550" y="227647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71" name="Polygon 71"/>
            <p:cNvSpPr/>
            <p:nvPr/>
          </p:nvSpPr>
          <p:spPr>
            <a:xfrm>
              <a:off x="10115550" y="2219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85" name="Group 85"/>
          <p:cNvGrpSpPr/>
          <p:nvPr/>
        </p:nvGrpSpPr>
        <p:grpSpPr>
          <a:xfrm>
            <a:off x="1009650" y="3657600"/>
            <a:ext cx="10191750" cy="1390650"/>
            <a:chOff x="1009650" y="3657600"/>
            <a:chExt cx="10191750" cy="1390650"/>
          </a:xfrm>
        </p:grpSpPr>
        <p:sp>
          <p:nvSpPr>
            <p:cNvPr id="73" name="Rectangle 73"/>
            <p:cNvSpPr/>
            <p:nvPr/>
          </p:nvSpPr>
          <p:spPr>
            <a:xfrm>
              <a:off x="10096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2725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控制点 1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278255" y="4254818"/>
              <a:ext cx="23655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可行动作来自 ActionCatalog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282065" y="4572952"/>
              <a:ext cx="24279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LLM 不能凭空发明系统未支持的工具。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5910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8539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控制点 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4859655" y="4254818"/>
              <a:ext cx="214955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所有行动仍经过 Validator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4863465" y="4572952"/>
              <a:ext cx="19239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自主 tick 也不能绕过状态机。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172450" y="3657600"/>
              <a:ext cx="3028950" cy="1390650"/>
            </a:xfrm>
            <a:prstGeom prst="roundRect">
              <a:avLst>
                <a:gd name="adj" fmla="val 547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435340" y="3844290"/>
              <a:ext cx="10160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控制点 3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441055" y="4254818"/>
              <a:ext cx="223056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结果写入 mailbox 与 trace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444865" y="4572952"/>
              <a:ext cx="229495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便于区分直接对话和独立 NPC tick。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1009650" y="5410200"/>
            <a:ext cx="10191750" cy="419100"/>
            <a:chOff x="1009650" y="5410200"/>
            <a:chExt cx="10191750" cy="419100"/>
          </a:xfrm>
        </p:grpSpPr>
        <p:sp>
          <p:nvSpPr>
            <p:cNvPr id="86" name="Rectangle 86"/>
            <p:cNvSpPr/>
            <p:nvPr/>
          </p:nvSpPr>
          <p:spPr>
            <a:xfrm>
              <a:off x="1009650" y="5410200"/>
              <a:ext cx="10191750" cy="419100"/>
            </a:xfrm>
            <a:prstGeom prst="roundRect">
              <a:avLst>
                <a:gd name="adj" fmla="val 1818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2456426" y="5531168"/>
              <a:ext cx="729819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自主运行时的价值不是“让 NPC 随机行动”，而是让世界事件通过可约束流程影响角色行为。</a:t>
              </a:r>
            </a:p>
          </p:txBody>
        </p:sp>
      </p:grpSp>
      <p:sp>
        <p:nvSpPr>
          <p:cNvPr id="89" name="TextBox 89"/>
          <p:cNvSpPr txBox="1"/>
          <p:nvPr/>
        </p:nvSpPr>
        <p:spPr>
          <a:xfrm>
            <a:off x="521970" y="6322695"/>
            <a:ext cx="358130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3.6 autonomous NPC runtime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" grpId="0"/>
      <p:bldP spid="85" grpId="0"/>
      <p:bldP spid="8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277071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Runtime：用 profile 驱动自动探索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0731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Traveler 是 living-world simulation 中可配置的自动探索角色，而不是普通玩家输入。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10 / 14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85800" y="1562100"/>
            <a:ext cx="3314700" cy="3486150"/>
            <a:chOff x="685800" y="1562100"/>
            <a:chExt cx="3314700" cy="3486150"/>
          </a:xfrm>
        </p:grpSpPr>
        <p:sp>
          <p:nvSpPr>
            <p:cNvPr id="9" name="Rectangle 9"/>
            <p:cNvSpPr/>
            <p:nvPr/>
          </p:nvSpPr>
          <p:spPr>
            <a:xfrm>
              <a:off x="685800" y="1562100"/>
              <a:ext cx="3314700" cy="3486150"/>
            </a:xfrm>
            <a:prstGeom prst="roundRect">
              <a:avLst>
                <a:gd name="adj" fmla="val 229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685800" y="1562100"/>
              <a:ext cx="3314700" cy="514350"/>
            </a:xfrm>
            <a:prstGeom prst="roundRect">
              <a:avLst>
                <a:gd name="adj" fmla="val 14815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031081" y="1716881"/>
              <a:ext cx="242888" cy="242888"/>
              <a:chOff x="1031081" y="1716881"/>
              <a:chExt cx="242888" cy="242888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31081" y="1905794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26987"/>
                    </a:moveTo>
                    <a:cubicBezTo>
                      <a:pt x="0" y="41892"/>
                      <a:pt x="12083" y="53975"/>
                      <a:pt x="26987" y="53975"/>
                    </a:cubicBezTo>
                    <a:cubicBezTo>
                      <a:pt x="41892" y="53975"/>
                      <a:pt x="53975" y="41892"/>
                      <a:pt x="53975" y="26987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219994" y="1716881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26987" y="53975"/>
                    </a:moveTo>
                    <a:cubicBezTo>
                      <a:pt x="41892" y="53975"/>
                      <a:pt x="53975" y="41892"/>
                      <a:pt x="53975" y="26988"/>
                    </a:cubicBezTo>
                    <a:cubicBezTo>
                      <a:pt x="53975" y="12083"/>
                      <a:pt x="41892" y="0"/>
                      <a:pt x="26987" y="0"/>
                    </a:cubicBezTo>
                    <a:cubicBezTo>
                      <a:pt x="12083" y="0"/>
                      <a:pt x="0" y="12083"/>
                      <a:pt x="0" y="26988"/>
                    </a:cubicBezTo>
                    <a:cubicBezTo>
                      <a:pt x="0" y="41892"/>
                      <a:pt x="12083" y="53975"/>
                      <a:pt x="26987" y="53975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058069" y="1743869"/>
                <a:ext cx="202406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202406" h="188912">
                    <a:moveTo>
                      <a:pt x="80962" y="188912"/>
                    </a:moveTo>
                    <a:lnTo>
                      <a:pt x="155178" y="188912"/>
                    </a:lnTo>
                    <a:cubicBezTo>
                      <a:pt x="181261" y="188912"/>
                      <a:pt x="202406" y="167768"/>
                      <a:pt x="202406" y="141684"/>
                    </a:cubicBezTo>
                    <a:cubicBezTo>
                      <a:pt x="202406" y="115601"/>
                      <a:pt x="181261" y="94456"/>
                      <a:pt x="155178" y="94456"/>
                    </a:cubicBezTo>
                    <a:lnTo>
                      <a:pt x="47228" y="94456"/>
                    </a:lnTo>
                    <a:cubicBezTo>
                      <a:pt x="21145" y="94456"/>
                      <a:pt x="0" y="73311"/>
                      <a:pt x="0" y="47228"/>
                    </a:cubicBezTo>
                    <a:cubicBezTo>
                      <a:pt x="0" y="21145"/>
                      <a:pt x="21145" y="0"/>
                      <a:pt x="47228" y="0"/>
                    </a:cubicBezTo>
                    <a:lnTo>
                      <a:pt x="1079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443990" y="1691640"/>
              <a:ext cx="157051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YAML Profile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73455" y="2292668"/>
              <a:ext cx="2606040" cy="15697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公开身份：角色如何自我介绍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私人目标：探索偏好与动机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隐藏信息：不能直接暴露的背景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行动边界：允许移动、询问、检查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探索风格：求真、谨慎或追求声望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90600" y="4229100"/>
              <a:ext cx="27051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319454" y="4407218"/>
              <a:ext cx="20473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B7791F"/>
                  </a:solidFill>
                  <a:latin typeface="Arial"/>
                  <a:ea typeface="Microsoft YaHei"/>
                  <a:cs typeface="Arial"/>
                </a:rPr>
                <a:t>profile 会改变路线选择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476750" y="1466850"/>
            <a:ext cx="6743700" cy="3581400"/>
            <a:chOff x="4476750" y="1466850"/>
            <a:chExt cx="6743700" cy="3581400"/>
          </a:xfrm>
        </p:grpSpPr>
        <p:sp>
          <p:nvSpPr>
            <p:cNvPr id="20" name="Rectangle 20"/>
            <p:cNvSpPr/>
            <p:nvPr/>
          </p:nvSpPr>
          <p:spPr>
            <a:xfrm>
              <a:off x="4476750" y="1466850"/>
              <a:ext cx="6743700" cy="3581400"/>
            </a:xfrm>
            <a:prstGeom prst="roundRect">
              <a:avLst>
                <a:gd name="adj" fmla="val 212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810250" y="2800350"/>
              <a:ext cx="2819400" cy="914400"/>
            </a:xfrm>
            <a:prstGeom prst="roundRect">
              <a:avLst>
                <a:gd name="adj" fmla="val 8333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6141244" y="3062288"/>
              <a:ext cx="233362" cy="316706"/>
              <a:chOff x="6141244" y="3062288"/>
              <a:chExt cx="233362" cy="316706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157912" y="3095625"/>
                <a:ext cx="200025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33350">
                    <a:moveTo>
                      <a:pt x="0" y="33338"/>
                    </a:moveTo>
                    <a:cubicBezTo>
                      <a:pt x="0" y="14926"/>
                      <a:pt x="14926" y="0"/>
                      <a:pt x="33338" y="0"/>
                    </a:cubicBezTo>
                    <a:lnTo>
                      <a:pt x="166688" y="0"/>
                    </a:lnTo>
                    <a:cubicBezTo>
                      <a:pt x="185099" y="0"/>
                      <a:pt x="200025" y="14926"/>
                      <a:pt x="200025" y="33338"/>
                    </a:cubicBezTo>
                    <a:lnTo>
                      <a:pt x="200025" y="100012"/>
                    </a:lnTo>
                    <a:cubicBezTo>
                      <a:pt x="200025" y="118424"/>
                      <a:pt x="185099" y="133350"/>
                      <a:pt x="166688" y="133350"/>
                    </a:cubicBezTo>
                    <a:lnTo>
                      <a:pt x="33338" y="133350"/>
                    </a:lnTo>
                    <a:cubicBezTo>
                      <a:pt x="14926" y="133350"/>
                      <a:pt x="0" y="118424"/>
                      <a:pt x="0" y="100012"/>
                    </a:cubicBez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257925" y="3062288"/>
                <a:ext cx="952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33338">
                    <a:moveTo>
                      <a:pt x="0" y="0"/>
                    </a:moveTo>
                    <a:lnTo>
                      <a:pt x="0" y="333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6207919" y="3228975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6307931" y="3228975"/>
                <a:ext cx="9525" cy="15001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019">
                    <a:moveTo>
                      <a:pt x="0" y="0"/>
                    </a:moveTo>
                    <a:lnTo>
                      <a:pt x="0" y="150019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141244" y="3262312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33338"/>
                    </a:moveTo>
                    <a:lnTo>
                      <a:pt x="66675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6307931" y="3262312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0" y="0"/>
                    </a:moveTo>
                    <a:lnTo>
                      <a:pt x="66675" y="33338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207919" y="3328988"/>
                <a:ext cx="100012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0012" h="9525">
                    <a:moveTo>
                      <a:pt x="0" y="0"/>
                    </a:moveTo>
                    <a:lnTo>
                      <a:pt x="100012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224588" y="316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6291262" y="31623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67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6663690" y="294894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73215" y="3315652"/>
              <a:ext cx="20009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profile-constrained LLM loop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4686300" y="16954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991232" y="1892618"/>
              <a:ext cx="7998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Observe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705600" y="16954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01081" y="18926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Retrieve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724900" y="16954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124344" y="18926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Decide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724900" y="42862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9256661" y="4483418"/>
              <a:ext cx="34617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Act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705600" y="4286250"/>
              <a:ext cx="1409700" cy="552450"/>
            </a:xfrm>
            <a:prstGeom prst="roundRect">
              <a:avLst>
                <a:gd name="adj" fmla="val 13793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3062" y="4483418"/>
              <a:ext cx="71477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Reflect</a:t>
              </a:r>
            </a:p>
          </p:txBody>
        </p:sp>
        <p:sp>
          <p:nvSpPr>
            <p:cNvPr id="44" name="Line 44"/>
            <p:cNvSpPr/>
            <p:nvPr/>
          </p:nvSpPr>
          <p:spPr>
            <a:xfrm>
              <a:off x="6096000" y="19716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5" name="Polygon 45"/>
            <p:cNvSpPr/>
            <p:nvPr/>
          </p:nvSpPr>
          <p:spPr>
            <a:xfrm>
              <a:off x="6610350" y="19145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6" name="Line 46"/>
            <p:cNvSpPr/>
            <p:nvPr/>
          </p:nvSpPr>
          <p:spPr>
            <a:xfrm>
              <a:off x="8115300" y="19716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8629650" y="19145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48" name="Line 48"/>
            <p:cNvSpPr/>
            <p:nvPr/>
          </p:nvSpPr>
          <p:spPr>
            <a:xfrm>
              <a:off x="9429750" y="2247900"/>
              <a:ext cx="9525" cy="2038350"/>
            </a:xfrm>
            <a:custGeom>
              <a:avLst/>
              <a:gdLst/>
              <a:ahLst/>
              <a:cxnLst/>
              <a:rect l="l" t="t" r="r" b="b"/>
              <a:pathLst>
                <a:path w="9525" h="2038350">
                  <a:moveTo>
                    <a:pt x="0" y="0"/>
                  </a:moveTo>
                  <a:lnTo>
                    <a:pt x="0" y="203835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49" name="Polygon 49"/>
            <p:cNvSpPr/>
            <p:nvPr/>
          </p:nvSpPr>
          <p:spPr>
            <a:xfrm>
              <a:off x="9372600" y="41910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95250"/>
                  </a:moveTo>
                  <a:lnTo>
                    <a:pt x="0" y="0"/>
                  </a:lnTo>
                  <a:lnTo>
                    <a:pt x="114300" y="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0" name="Line 50"/>
            <p:cNvSpPr/>
            <p:nvPr/>
          </p:nvSpPr>
          <p:spPr>
            <a:xfrm>
              <a:off x="8115300" y="456247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60960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1" name="Polygon 51"/>
            <p:cNvSpPr/>
            <p:nvPr/>
          </p:nvSpPr>
          <p:spPr>
            <a:xfrm>
              <a:off x="8115300" y="45053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0" y="57150"/>
                  </a:moveTo>
                  <a:lnTo>
                    <a:pt x="95250" y="0"/>
                  </a:lnTo>
                  <a:lnTo>
                    <a:pt x="9525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2" name="Line 52"/>
            <p:cNvSpPr/>
            <p:nvPr/>
          </p:nvSpPr>
          <p:spPr>
            <a:xfrm>
              <a:off x="5391150" y="4562475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1314450" y="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5391150" y="2247900"/>
              <a:ext cx="9525" cy="2314575"/>
            </a:xfrm>
            <a:custGeom>
              <a:avLst/>
              <a:gdLst/>
              <a:ahLst/>
              <a:cxnLst/>
              <a:rect l="l" t="t" r="r" b="b"/>
              <a:pathLst>
                <a:path w="9525" h="2314575">
                  <a:moveTo>
                    <a:pt x="0" y="2314575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5334000" y="2247900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57150" y="0"/>
                  </a:moveTo>
                  <a:lnTo>
                    <a:pt x="0" y="95250"/>
                  </a:lnTo>
                  <a:lnTo>
                    <a:pt x="114300" y="9525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66" name="Group 66"/>
          <p:cNvGrpSpPr/>
          <p:nvPr/>
        </p:nvGrpSpPr>
        <p:grpSpPr>
          <a:xfrm>
            <a:off x="685800" y="5410200"/>
            <a:ext cx="10820400" cy="633412"/>
            <a:chOff x="685800" y="5410200"/>
            <a:chExt cx="10820400" cy="633412"/>
          </a:xfrm>
        </p:grpSpPr>
        <p:sp>
          <p:nvSpPr>
            <p:cNvPr id="56" name="Rectangle 56"/>
            <p:cNvSpPr/>
            <p:nvPr/>
          </p:nvSpPr>
          <p:spPr>
            <a:xfrm>
              <a:off x="685800" y="5410200"/>
              <a:ext cx="10820400" cy="552450"/>
            </a:xfrm>
            <a:prstGeom prst="roundRect">
              <a:avLst>
                <a:gd name="adj" fmla="val 1379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990600" y="5622925"/>
              <a:ext cx="228600" cy="127000"/>
              <a:chOff x="990600" y="5622925"/>
              <a:chExt cx="228600" cy="127000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1003300" y="5635625"/>
                <a:ext cx="203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101600">
                    <a:moveTo>
                      <a:pt x="0" y="101600"/>
                    </a:moveTo>
                    <a:lnTo>
                      <a:pt x="76200" y="12700"/>
                    </a:lnTo>
                    <a:lnTo>
                      <a:pt x="139700" y="76200"/>
                    </a:lnTo>
                    <a:lnTo>
                      <a:pt x="20320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130300" y="56991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66800" y="56356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90600" y="57245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1193800" y="5622925"/>
                <a:ext cx="254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5400" h="25400">
                    <a:moveTo>
                      <a:pt x="0" y="12700"/>
                    </a:moveTo>
                    <a:cubicBezTo>
                      <a:pt x="0" y="19714"/>
                      <a:pt x="5686" y="25400"/>
                      <a:pt x="12700" y="25400"/>
                    </a:cubicBezTo>
                    <a:cubicBezTo>
                      <a:pt x="19714" y="25400"/>
                      <a:pt x="25400" y="19714"/>
                      <a:pt x="25400" y="12700"/>
                    </a:cubicBezTo>
                    <a:cubicBezTo>
                      <a:pt x="25400" y="5686"/>
                      <a:pt x="19714" y="0"/>
                      <a:pt x="12700" y="0"/>
                    </a:cubicBezTo>
                    <a:cubicBezTo>
                      <a:pt x="5686" y="0"/>
                      <a:pt x="0" y="5686"/>
                      <a:pt x="0" y="12700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1411605" y="5483542"/>
              <a:ext cx="1574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导出字段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15415" y="5658802"/>
              <a:ext cx="49622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round · 行动理由 · Traveler 发言 · NPC 回复 · 状态变化 · exploration leads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415415" y="5830252"/>
              <a:ext cx="47872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timing breakdown · arc evidence · ambient arc signals · final outcome</a:t>
              </a:r>
            </a:p>
          </p:txBody>
        </p:sp>
      </p:grpSp>
      <p:sp>
        <p:nvSpPr>
          <p:cNvPr id="67" name="TextBox 67"/>
          <p:cNvSpPr txBox="1"/>
          <p:nvPr/>
        </p:nvSpPr>
        <p:spPr>
          <a:xfrm>
            <a:off x="521970" y="6322695"/>
            <a:ext cx="4583430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2.4 / 3.7 Traveler runtime 与 timeline export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5" grpId="0"/>
      <p:bldP spid="6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7062845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真实证据：界面、课堂 trace 与多 NPC 覆盖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621806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这页用当前仓库中的真实截图和 trace 文件证明系统不是只停留在设计文档。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11 / 14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533400" y="1504950"/>
            <a:ext cx="7334250" cy="4629150"/>
            <a:chOff x="533400" y="1504950"/>
            <a:chExt cx="7334250" cy="4629150"/>
          </a:xfrm>
        </p:grpSpPr>
        <p:sp>
          <p:nvSpPr>
            <p:cNvPr id="9" name="Rectangle 9"/>
            <p:cNvSpPr/>
            <p:nvPr/>
          </p:nvSpPr>
          <p:spPr>
            <a:xfrm>
              <a:off x="533400" y="1504950"/>
              <a:ext cx="7334250" cy="4629150"/>
            </a:xfrm>
            <a:prstGeom prst="roundRect">
              <a:avLst>
                <a:gd name="adj" fmla="val 164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744114" y="1752600"/>
              <a:ext cx="4912822" cy="3752850"/>
            </a:xfrm>
            <a:prstGeom prst="rect">
              <a:avLst/>
            </a:prstGeom>
          </p:spPr>
        </p:pic>
        <p:sp>
          <p:nvSpPr>
            <p:cNvPr id="11" name="Rectangle 11"/>
            <p:cNvSpPr/>
            <p:nvPr/>
          </p:nvSpPr>
          <p:spPr>
            <a:xfrm>
              <a:off x="819150" y="5619750"/>
              <a:ext cx="6762750" cy="323850"/>
            </a:xfrm>
            <a:prstGeom prst="rect">
              <a:avLst/>
            </a:prstGeom>
            <a:solidFill>
              <a:srgbClr val="FFFFFF">
                <a:alpha val="92000"/>
              </a:srgbClr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996315" y="5725478"/>
              <a:ext cx="40731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React/Vite 玩家端界面截图：保留交互界面和开发者 trace 面板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172450" y="1504950"/>
            <a:ext cx="3486150" cy="2762250"/>
            <a:chOff x="8172450" y="1504950"/>
            <a:chExt cx="3486150" cy="2762250"/>
          </a:xfrm>
        </p:grpSpPr>
        <p:sp>
          <p:nvSpPr>
            <p:cNvPr id="14" name="Rectangle 14"/>
            <p:cNvSpPr/>
            <p:nvPr/>
          </p:nvSpPr>
          <p:spPr>
            <a:xfrm>
              <a:off x="8172450" y="1504950"/>
              <a:ext cx="3486150" cy="2762250"/>
            </a:xfrm>
            <a:prstGeom prst="roundRect">
              <a:avLst>
                <a:gd name="adj" fmla="val 275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8520112" y="1890712"/>
              <a:ext cx="257175" cy="142875"/>
              <a:chOff x="8520112" y="1890712"/>
              <a:chExt cx="257175" cy="1428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8534400" y="1905000"/>
                <a:ext cx="2286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114300">
                    <a:moveTo>
                      <a:pt x="0" y="114300"/>
                    </a:moveTo>
                    <a:lnTo>
                      <a:pt x="85725" y="14288"/>
                    </a:lnTo>
                    <a:lnTo>
                      <a:pt x="157162" y="85725"/>
                    </a:lnTo>
                    <a:lnTo>
                      <a:pt x="2286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8677275" y="1976438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8605838" y="1905000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8520112" y="20050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8748712" y="1890712"/>
                <a:ext cx="28575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28575">
                    <a:moveTo>
                      <a:pt x="0" y="14288"/>
                    </a:moveTo>
                    <a:cubicBezTo>
                      <a:pt x="0" y="22178"/>
                      <a:pt x="6397" y="28575"/>
                      <a:pt x="14288" y="28575"/>
                    </a:cubicBezTo>
                    <a:cubicBezTo>
                      <a:pt x="22178" y="28575"/>
                      <a:pt x="28575" y="22178"/>
                      <a:pt x="28575" y="14288"/>
                    </a:cubicBezTo>
                    <a:cubicBezTo>
                      <a:pt x="28575" y="6397"/>
                      <a:pt x="22178" y="0"/>
                      <a:pt x="14288" y="0"/>
                    </a:cubicBezTo>
                    <a:cubicBezTo>
                      <a:pt x="6397" y="0"/>
                      <a:pt x="0" y="6397"/>
                      <a:pt x="0" y="14288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8930640" y="18059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 证据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60105" y="2387918"/>
              <a:ext cx="1997393" cy="14935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Traveler 发言与行动理由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 回复与角色意图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关系变化和状态更新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探索线索与 arc evidence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最终 outcome 与 timing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72450" y="4514850"/>
            <a:ext cx="3486150" cy="1433512"/>
            <a:chOff x="8172450" y="4514850"/>
            <a:chExt cx="3486150" cy="1433512"/>
          </a:xfrm>
        </p:grpSpPr>
        <p:sp>
          <p:nvSpPr>
            <p:cNvPr id="24" name="Rectangle 24"/>
            <p:cNvSpPr/>
            <p:nvPr/>
          </p:nvSpPr>
          <p:spPr>
            <a:xfrm>
              <a:off x="8172450" y="4514850"/>
              <a:ext cx="3486150" cy="1428750"/>
            </a:xfrm>
            <a:prstGeom prst="roundRect">
              <a:avLst>
                <a:gd name="adj" fmla="val 5333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544719" y="4822031"/>
              <a:ext cx="188912" cy="242888"/>
              <a:chOff x="8544719" y="4822031"/>
              <a:chExt cx="188912" cy="24288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8544719" y="4849019"/>
                <a:ext cx="188912" cy="215900"/>
              </a:xfrm>
              <a:custGeom>
                <a:avLst/>
                <a:gdLst/>
                <a:ahLst/>
                <a:cxnLst/>
                <a:rect l="l" t="t" r="r" b="b"/>
                <a:pathLst>
                  <a:path w="188912" h="215900">
                    <a:moveTo>
                      <a:pt x="53975" y="0"/>
                    </a:moveTo>
                    <a:lnTo>
                      <a:pt x="26987" y="0"/>
                    </a:lnTo>
                    <a:cubicBezTo>
                      <a:pt x="12083" y="0"/>
                      <a:pt x="0" y="12083"/>
                      <a:pt x="0" y="26988"/>
                    </a:cubicBezTo>
                    <a:lnTo>
                      <a:pt x="0" y="188912"/>
                    </a:lnTo>
                    <a:cubicBezTo>
                      <a:pt x="0" y="203817"/>
                      <a:pt x="12083" y="215900"/>
                      <a:pt x="26987" y="215900"/>
                    </a:cubicBezTo>
                    <a:lnTo>
                      <a:pt x="161925" y="215900"/>
                    </a:lnTo>
                    <a:cubicBezTo>
                      <a:pt x="176830" y="215900"/>
                      <a:pt x="188912" y="203817"/>
                      <a:pt x="188912" y="188912"/>
                    </a:cubicBezTo>
                    <a:lnTo>
                      <a:pt x="188912" y="26988"/>
                    </a:lnTo>
                    <a:cubicBezTo>
                      <a:pt x="188912" y="12083"/>
                      <a:pt x="176830" y="0"/>
                      <a:pt x="161925" y="0"/>
                    </a:cubicBezTo>
                    <a:lnTo>
                      <a:pt x="134937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598694" y="4822031"/>
                <a:ext cx="80962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53975">
                    <a:moveTo>
                      <a:pt x="0" y="26987"/>
                    </a:moveTo>
                    <a:cubicBezTo>
                      <a:pt x="0" y="12083"/>
                      <a:pt x="12083" y="0"/>
                      <a:pt x="26988" y="0"/>
                    </a:cubicBezTo>
                    <a:lnTo>
                      <a:pt x="53975" y="0"/>
                    </a:lnTo>
                    <a:cubicBezTo>
                      <a:pt x="68880" y="0"/>
                      <a:pt x="80962" y="12083"/>
                      <a:pt x="80962" y="26987"/>
                    </a:cubicBezTo>
                    <a:cubicBezTo>
                      <a:pt x="80962" y="41892"/>
                      <a:pt x="68880" y="53975"/>
                      <a:pt x="53975" y="53975"/>
                    </a:cubicBezTo>
                    <a:lnTo>
                      <a:pt x="26988" y="53975"/>
                    </a:lnTo>
                    <a:cubicBezTo>
                      <a:pt x="12083" y="53975"/>
                      <a:pt x="0" y="41892"/>
                      <a:pt x="0" y="26987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598694" y="4943475"/>
                <a:ext cx="9525" cy="67469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7469">
                    <a:moveTo>
                      <a:pt x="0" y="67469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639175" y="4997450"/>
                <a:ext cx="9525" cy="1349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3494">
                    <a:moveTo>
                      <a:pt x="0" y="1349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79656" y="4970462"/>
                <a:ext cx="9525" cy="404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0481">
                    <a:moveTo>
                      <a:pt x="0" y="404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8936355" y="4845368"/>
              <a:ext cx="173550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复用的真实运行文件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63915" y="529685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classroom_showcase_llm_run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63915" y="5506402"/>
              <a:ext cx="17208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sable_advantage_llm_run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63915" y="5735002"/>
              <a:ext cx="28060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Markdown timeline + JSON trace 对应验证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521970" y="6265545"/>
            <a:ext cx="3995357" cy="354330"/>
            <a:chOff x="521970" y="6265545"/>
            <a:chExt cx="3995357" cy="354330"/>
          </a:xfrm>
        </p:grpSpPr>
        <p:sp>
          <p:nvSpPr>
            <p:cNvPr id="36" name="TextBox 36"/>
            <p:cNvSpPr txBox="1"/>
            <p:nvPr/>
          </p:nvSpPr>
          <p:spPr>
            <a:xfrm>
              <a:off x="521970" y="6265545"/>
              <a:ext cx="184708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Source: player_ui_desktop.png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970" y="6436995"/>
              <a:ext cx="39953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Trace: classroom_showcase_trace.md · sable_advantage_trace.md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3" grpId="0"/>
      <p:bldP spid="3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606312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Sable 路线：语言行为与状态变化分离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567799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真实 trace 显示角色可以试探和引导，但不能直接越权解锁世界事实。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12 / 14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533400" y="1466850"/>
            <a:ext cx="6076950" cy="4476750"/>
            <a:chOff x="533400" y="1466850"/>
            <a:chExt cx="6076950" cy="4476750"/>
          </a:xfrm>
        </p:grpSpPr>
        <p:sp>
          <p:nvSpPr>
            <p:cNvPr id="9" name="Rectangle 9"/>
            <p:cNvSpPr/>
            <p:nvPr/>
          </p:nvSpPr>
          <p:spPr>
            <a:xfrm>
              <a:off x="533400" y="1466850"/>
              <a:ext cx="6076950" cy="4476750"/>
            </a:xfrm>
            <a:prstGeom prst="roundRect">
              <a:avLst>
                <a:gd name="adj" fmla="val 1702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66850"/>
              <a:ext cx="6076950" cy="457200"/>
            </a:xfrm>
            <a:prstGeom prst="roundRect">
              <a:avLst>
                <a:gd name="adj" fmla="val 16667"/>
              </a:avLst>
            </a:prstGeom>
            <a:solidFill>
              <a:srgbClr val="EEF4FA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835819" y="1609725"/>
              <a:ext cx="214312" cy="190500"/>
              <a:chOff x="835819" y="1609725"/>
              <a:chExt cx="214312" cy="1905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835819" y="16573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47625" y="0"/>
                    </a:moveTo>
                    <a:lnTo>
                      <a:pt x="0" y="47625"/>
                    </a:lnTo>
                    <a:lnTo>
                      <a:pt x="47625" y="952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02506" y="1657350"/>
                <a:ext cx="476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95250">
                    <a:moveTo>
                      <a:pt x="0" y="0"/>
                    </a:moveTo>
                    <a:lnTo>
                      <a:pt x="47625" y="47625"/>
                    </a:ln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919162" y="1609725"/>
                <a:ext cx="4762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90500">
                    <a:moveTo>
                      <a:pt x="47625" y="0"/>
                    </a:moveTo>
                    <a:lnTo>
                      <a:pt x="0" y="19050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183005" y="1616392"/>
              <a:ext cx="37675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真实运行片段：sable_advantage · Round 5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" y="217170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3465" y="22869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Traveler action: talk_to · target: sable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53465" y="2496502"/>
              <a:ext cx="46822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理由：Sable 是非正式信息渠道，Traveler 希望建立信任并获取遗迹传闻。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38200" y="291465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53465" y="3029902"/>
              <a:ext cx="29880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NPC decision intent: redirect_ruins_inquiry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53465" y="3239452"/>
              <a:ext cx="37161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NPCMind belief：Traveler 可能知道有利可图的遗迹线索。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38200" y="365760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1F5F9"/>
            </a:solidFill>
            <a:ln w="9525">
              <a:solidFill>
                <a:srgbClr val="CBD5E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53465" y="3772852"/>
              <a:ext cx="332408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Validator: traveler allowed · npc accepted=true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53465" y="398240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行动可以发生，但后续状态变化仍按规则记录。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38200" y="4400550"/>
              <a:ext cx="5467350" cy="552450"/>
            </a:xfrm>
            <a:prstGeom prst="roundRect">
              <a:avLst>
                <a:gd name="adj" fmla="val 13793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53465" y="4515802"/>
              <a:ext cx="39191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Consolas"/>
                  <a:ea typeface="Microsoft YaHei"/>
                  <a:cs typeface="Consolas"/>
                </a:rPr>
                <a:t>State change: trust 0.05 -&gt; 0.10 · affinity 0.10 -&gt; 0.20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53465" y="4725352"/>
              <a:ext cx="29670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允许的是关系推进，不是地点解锁或物品发放。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" y="5143500"/>
              <a:ext cx="5467350" cy="514350"/>
            </a:xfrm>
            <a:prstGeom prst="roundRect">
              <a:avLst>
                <a:gd name="adj" fmla="val 14815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53465" y="5249228"/>
              <a:ext cx="54173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response constraints：不要声称地下遗迹入口已解锁；不要声称玩家获得物品奖励。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010400" y="1466850"/>
            <a:ext cx="4648200" cy="4476750"/>
            <a:chOff x="7010400" y="1466850"/>
            <a:chExt cx="4648200" cy="4476750"/>
          </a:xfrm>
        </p:grpSpPr>
        <p:sp>
          <p:nvSpPr>
            <p:cNvPr id="31" name="Rectangle 31"/>
            <p:cNvSpPr/>
            <p:nvPr/>
          </p:nvSpPr>
          <p:spPr>
            <a:xfrm>
              <a:off x="7010400" y="1466850"/>
              <a:ext cx="46482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7360444" y="1851025"/>
              <a:ext cx="286544" cy="256381"/>
              <a:chOff x="7360444" y="1851025"/>
              <a:chExt cx="286544" cy="256381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435850" y="1926431"/>
                <a:ext cx="120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0650" h="9525">
                    <a:moveTo>
                      <a:pt x="0" y="0"/>
                    </a:moveTo>
                    <a:lnTo>
                      <a:pt x="12065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7435850" y="1986756"/>
                <a:ext cx="904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9525">
                    <a:moveTo>
                      <a:pt x="0" y="0"/>
                    </a:move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7360444" y="1851025"/>
                <a:ext cx="271462" cy="256381"/>
              </a:xfrm>
              <a:custGeom>
                <a:avLst/>
                <a:gdLst/>
                <a:ahLst/>
                <a:cxnLst/>
                <a:rect l="l" t="t" r="r" b="b"/>
                <a:pathLst>
                  <a:path w="271462" h="256381">
                    <a:moveTo>
                      <a:pt x="135731" y="256381"/>
                    </a:moveTo>
                    <a:lnTo>
                      <a:pt x="120650" y="241300"/>
                    </a:lnTo>
                    <a:lnTo>
                      <a:pt x="90488" y="211137"/>
                    </a:lnTo>
                    <a:lnTo>
                      <a:pt x="45244" y="211137"/>
                    </a:lnTo>
                    <a:cubicBezTo>
                      <a:pt x="20256" y="211137"/>
                      <a:pt x="0" y="190881"/>
                      <a:pt x="0" y="165894"/>
                    </a:cubicBezTo>
                    <a:lnTo>
                      <a:pt x="0" y="45244"/>
                    </a:lnTo>
                    <a:cubicBezTo>
                      <a:pt x="0" y="20256"/>
                      <a:pt x="20256" y="0"/>
                      <a:pt x="45244" y="0"/>
                    </a:cubicBezTo>
                    <a:lnTo>
                      <a:pt x="226219" y="0"/>
                    </a:lnTo>
                    <a:cubicBezTo>
                      <a:pt x="251206" y="0"/>
                      <a:pt x="271462" y="20256"/>
                      <a:pt x="271462" y="45244"/>
                    </a:cubicBezTo>
                    <a:lnTo>
                      <a:pt x="271462" y="13573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616825" y="2047081"/>
                <a:ext cx="30163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0163" h="60325">
                    <a:moveTo>
                      <a:pt x="0" y="60325"/>
                    </a:moveTo>
                    <a:lnTo>
                      <a:pt x="30163" y="30163"/>
                    </a:ln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7541419" y="2047081"/>
                <a:ext cx="30162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30162" h="60325">
                    <a:moveTo>
                      <a:pt x="30162" y="0"/>
                    </a:moveTo>
                    <a:lnTo>
                      <a:pt x="0" y="30163"/>
                    </a:lnTo>
                    <a:lnTo>
                      <a:pt x="30162" y="60325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825740" y="1805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语言层允许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298055" y="2368868"/>
              <a:ext cx="3506152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Sable 可以试探、转移话题、引导 Traveler，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并通过自然语言表现误导型角色的社交策略。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315200" y="3009900"/>
              <a:ext cx="3676650" cy="323850"/>
            </a:xfrm>
            <a:prstGeom prst="roundRect">
              <a:avLst>
                <a:gd name="adj" fmla="val 23529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473315" y="3106102"/>
              <a:ext cx="2680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这部分体现角色表达能力和 profile 差异。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7010400" y="3848100"/>
              <a:ext cx="4648200" cy="2095500"/>
            </a:xfrm>
            <a:prstGeom prst="roundRect">
              <a:avLst>
                <a:gd name="adj" fmla="val 363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7340091" y="4217194"/>
              <a:ext cx="294510" cy="271462"/>
              <a:chOff x="7340091" y="4217194"/>
              <a:chExt cx="294510" cy="271462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7340091" y="4217194"/>
                <a:ext cx="294510" cy="269140"/>
              </a:xfrm>
              <a:custGeom>
                <a:avLst/>
                <a:gdLst/>
                <a:ahLst/>
                <a:cxnLst/>
                <a:rect l="l" t="t" r="r" b="b"/>
                <a:pathLst>
                  <a:path w="294510" h="269140">
                    <a:moveTo>
                      <a:pt x="147940" y="269140"/>
                    </a:moveTo>
                    <a:cubicBezTo>
                      <a:pt x="53463" y="239854"/>
                      <a:pt x="0" y="140141"/>
                      <a:pt x="27894" y="45244"/>
                    </a:cubicBezTo>
                    <a:cubicBezTo>
                      <a:pt x="74880" y="47394"/>
                      <a:pt x="120857" y="31167"/>
                      <a:pt x="156084" y="0"/>
                    </a:cubicBezTo>
                    <a:cubicBezTo>
                      <a:pt x="191311" y="31167"/>
                      <a:pt x="237289" y="47394"/>
                      <a:pt x="284275" y="45244"/>
                    </a:cubicBezTo>
                    <a:cubicBezTo>
                      <a:pt x="294510" y="80068"/>
                      <a:pt x="294037" y="117165"/>
                      <a:pt x="282917" y="15171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7541419" y="4428331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lnTo>
                      <a:pt x="30162" y="60325"/>
                    </a:lnTo>
                    <a:lnTo>
                      <a:pt x="90488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7825740" y="418719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状态层受控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298055" y="4750118"/>
              <a:ext cx="3694747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地点、物品、任务完成和关系变化必须通过</a:t>
              </a:r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ActionValidator、任务状态机和 SQLite 写入。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315200" y="5391150"/>
              <a:ext cx="3676650" cy="323850"/>
            </a:xfrm>
            <a:prstGeom prst="roundRect">
              <a:avLst>
                <a:gd name="adj" fmla="val 23529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473315" y="5487352"/>
              <a:ext cx="24069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这部分体现系统事实边界和可复盘性。</a:t>
              </a: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521970" y="6322695"/>
            <a:ext cx="476945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6.1 典型 trace 示例 · sable_advantage_trace.md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3335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410528"/>
            <a:ext cx="10978515" cy="784860"/>
            <a:chOff x="501015" y="410528"/>
            <a:chExt cx="10978515" cy="784860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410528"/>
              <a:ext cx="4706350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评估：已有证据与下一步指标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6255" y="921068"/>
              <a:ext cx="78742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当前评估以 demo trace、JSON / Markdown timeline 和人工复盘为主，不虚构大规模统计结论。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054620" y="58864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13 / 14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533400" y="1466850"/>
            <a:ext cx="7639050" cy="4095750"/>
            <a:chOff x="533400" y="1466850"/>
            <a:chExt cx="7639050" cy="4095750"/>
          </a:xfrm>
        </p:grpSpPr>
        <p:sp>
          <p:nvSpPr>
            <p:cNvPr id="9" name="Rectangle 9"/>
            <p:cNvSpPr/>
            <p:nvPr/>
          </p:nvSpPr>
          <p:spPr>
            <a:xfrm>
              <a:off x="533400" y="1466850"/>
              <a:ext cx="7639050" cy="4095750"/>
            </a:xfrm>
            <a:prstGeom prst="roundRect">
              <a:avLst>
                <a:gd name="adj" fmla="val 1860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33400" y="1466850"/>
              <a:ext cx="7639050" cy="438150"/>
            </a:xfrm>
            <a:prstGeom prst="roundRect">
              <a:avLst>
                <a:gd name="adj" fmla="val 17391"/>
              </a:avLst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2005" y="16068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评估对象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554605" y="16068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当前证据来源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02505" y="16068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能说明什么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50355" y="160686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下一步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286000" y="19050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572000" y="19050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477000" y="1905000"/>
              <a:ext cx="9525" cy="3657600"/>
            </a:xfrm>
            <a:custGeom>
              <a:avLst/>
              <a:gdLst/>
              <a:ahLst/>
              <a:cxnLst/>
              <a:rect l="l" t="t" r="r" b="b"/>
              <a:pathLst>
                <a:path w="9525" h="3657600">
                  <a:moveTo>
                    <a:pt x="0" y="0"/>
                  </a:moveTo>
                  <a:lnTo>
                    <a:pt x="0" y="365760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533400" y="1905000"/>
              <a:ext cx="7639050" cy="609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02005" y="21212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角色一致性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558415" y="2077402"/>
              <a:ext cx="1419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NPCMind trace / lore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58415" y="2267902"/>
              <a:ext cx="11398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classroom trace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806315" y="215360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能复盘语气、知识边界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654165" y="21536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固定对话集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533400" y="25146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02005" y="27308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状态一致性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58415" y="2687002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SQLite / Validator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558415" y="287750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state changes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806315" y="27632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回复和状态写入分离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654165" y="27632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自动一致性脚本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533400" y="31242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33400" y="3124200"/>
              <a:ext cx="7639050" cy="609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2005" y="33404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越权行动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558415" y="3296602"/>
              <a:ext cx="11888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allowed / blocked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58415" y="3487102"/>
              <a:ext cx="149685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response constraints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06315" y="337280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能看到拦截路径存在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654165" y="33728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分类统计频次</a:t>
              </a:r>
            </a:p>
          </p:txBody>
        </p:sp>
        <p:sp>
          <p:nvSpPr>
            <p:cNvPr id="37" name="Line 37"/>
            <p:cNvSpPr/>
            <p:nvPr/>
          </p:nvSpPr>
          <p:spPr>
            <a:xfrm>
              <a:off x="533400" y="37338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802005" y="3950018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Traveler 差异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58415" y="39062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showcase / Sable route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558415" y="4096702"/>
              <a:ext cx="8737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profile YAML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806315" y="3982402"/>
              <a:ext cx="14198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不同 profile 影响路线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54165" y="3982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同初始态重复运行</a:t>
              </a:r>
            </a:p>
          </p:txBody>
        </p:sp>
        <p:sp>
          <p:nvSpPr>
            <p:cNvPr id="43" name="Line 43"/>
            <p:cNvSpPr/>
            <p:nvPr/>
          </p:nvSpPr>
          <p:spPr>
            <a:xfrm>
              <a:off x="533400" y="43434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533400" y="4343400"/>
              <a:ext cx="7639050" cy="6096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2005" y="4559618"/>
              <a:ext cx="136690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Trace 可解释性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558415" y="4515802"/>
              <a:ext cx="11958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JSON / Markdown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2558415" y="4706302"/>
              <a:ext cx="10698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timeline export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806315" y="45920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能定位行为原因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54165" y="45920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图形化回放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533400" y="4953000"/>
              <a:ext cx="7639050" cy="9525"/>
            </a:xfrm>
            <a:custGeom>
              <a:avLst/>
              <a:gdLst/>
              <a:ahLst/>
              <a:cxnLst/>
              <a:rect l="l" t="t" r="r" b="b"/>
              <a:pathLst>
                <a:path w="7639050" h="9525">
                  <a:moveTo>
                    <a:pt x="0" y="0"/>
                  </a:moveTo>
                  <a:lnTo>
                    <a:pt x="763905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02005" y="51692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运行开销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2558415" y="5125402"/>
              <a:ext cx="12098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timing breakdown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558415" y="5315902"/>
              <a:ext cx="12448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Traveler tick 字段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806315" y="52016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能定位耗时阶段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54165" y="52016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固定基准记录</a:t>
              </a:r>
            </a:p>
          </p:txBody>
        </p:sp>
      </p:grpSp>
      <p:grpSp>
        <p:nvGrpSpPr>
          <p:cNvPr id="73" name="Group 73"/>
          <p:cNvGrpSpPr/>
          <p:nvPr/>
        </p:nvGrpSpPr>
        <p:grpSpPr>
          <a:xfrm>
            <a:off x="8572500" y="1466850"/>
            <a:ext cx="3086100" cy="4095750"/>
            <a:chOff x="8572500" y="1466850"/>
            <a:chExt cx="3086100" cy="4095750"/>
          </a:xfrm>
        </p:grpSpPr>
        <p:sp>
          <p:nvSpPr>
            <p:cNvPr id="57" name="Rectangle 57"/>
            <p:cNvSpPr/>
            <p:nvPr/>
          </p:nvSpPr>
          <p:spPr>
            <a:xfrm>
              <a:off x="8572500" y="1466850"/>
              <a:ext cx="3086100" cy="4095750"/>
            </a:xfrm>
            <a:prstGeom prst="roundRect">
              <a:avLst>
                <a:gd name="adj" fmla="val 2469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63" name="Group 63"/>
            <p:cNvGrpSpPr/>
            <p:nvPr/>
          </p:nvGrpSpPr>
          <p:grpSpPr>
            <a:xfrm>
              <a:off x="8952706" y="1797844"/>
              <a:ext cx="211138" cy="271462"/>
              <a:chOff x="8952706" y="1797844"/>
              <a:chExt cx="211138" cy="271462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8952706" y="1828006"/>
                <a:ext cx="21113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211138" h="241300">
                    <a:moveTo>
                      <a:pt x="60325" y="0"/>
                    </a:moveTo>
                    <a:lnTo>
                      <a:pt x="30163" y="0"/>
                    </a:lnTo>
                    <a:cubicBezTo>
                      <a:pt x="13504" y="0"/>
                      <a:pt x="0" y="13504"/>
                      <a:pt x="0" y="30163"/>
                    </a:cubicBezTo>
                    <a:lnTo>
                      <a:pt x="0" y="211138"/>
                    </a:lnTo>
                    <a:cubicBezTo>
                      <a:pt x="0" y="227796"/>
                      <a:pt x="13504" y="241300"/>
                      <a:pt x="30163" y="241300"/>
                    </a:cubicBezTo>
                    <a:lnTo>
                      <a:pt x="180975" y="241300"/>
                    </a:lnTo>
                    <a:cubicBezTo>
                      <a:pt x="197633" y="241300"/>
                      <a:pt x="211138" y="227796"/>
                      <a:pt x="211138" y="211138"/>
                    </a:cubicBezTo>
                    <a:lnTo>
                      <a:pt x="211138" y="30163"/>
                    </a:lnTo>
                    <a:cubicBezTo>
                      <a:pt x="211138" y="13504"/>
                      <a:pt x="197633" y="0"/>
                      <a:pt x="180975" y="0"/>
                    </a:cubicBezTo>
                    <a:lnTo>
                      <a:pt x="150813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9013031" y="1797844"/>
                <a:ext cx="90488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60325">
                    <a:moveTo>
                      <a:pt x="0" y="30162"/>
                    </a:moveTo>
                    <a:cubicBezTo>
                      <a:pt x="0" y="13504"/>
                      <a:pt x="13504" y="0"/>
                      <a:pt x="30162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2"/>
                    </a:cubicBezTo>
                    <a:cubicBezTo>
                      <a:pt x="90488" y="46821"/>
                      <a:pt x="76983" y="60325"/>
                      <a:pt x="60325" y="60325"/>
                    </a:cubicBezTo>
                    <a:lnTo>
                      <a:pt x="30162" y="60325"/>
                    </a:lnTo>
                    <a:cubicBezTo>
                      <a:pt x="13504" y="60325"/>
                      <a:pt x="0" y="46821"/>
                      <a:pt x="0" y="3016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013031" y="1933575"/>
                <a:ext cx="9525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75406">
                    <a:moveTo>
                      <a:pt x="0" y="75406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9058275" y="1993900"/>
                <a:ext cx="9525" cy="150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081">
                    <a:moveTo>
                      <a:pt x="0" y="15081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9103519" y="1963738"/>
                <a:ext cx="9525" cy="4524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5244">
                    <a:moveTo>
                      <a:pt x="0" y="45244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64" name="TextBox 64"/>
            <p:cNvSpPr txBox="1"/>
            <p:nvPr/>
          </p:nvSpPr>
          <p:spPr>
            <a:xfrm>
              <a:off x="9368790" y="1786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当前边界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877300" y="2457450"/>
              <a:ext cx="24765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088755" y="2635568"/>
              <a:ext cx="189752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多 Agent 调度仍需成熟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8877300" y="3181350"/>
              <a:ext cx="24765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088755" y="3359468"/>
              <a:ext cx="147447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评估仍偏案例复盘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8877300" y="3905250"/>
              <a:ext cx="2476500" cy="514350"/>
            </a:xfrm>
            <a:prstGeom prst="roundRect">
              <a:avLst>
                <a:gd name="adj" fmla="val 14815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088755" y="4083368"/>
              <a:ext cx="20955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文本 timeline 阅读成本高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877300" y="4762500"/>
              <a:ext cx="2476500" cy="400050"/>
            </a:xfrm>
            <a:prstGeom prst="roundRect">
              <a:avLst>
                <a:gd name="adj" fmla="val 19048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9111591" y="4896802"/>
              <a:ext cx="20079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0E7490"/>
                  </a:solidFill>
                  <a:latin typeface="Arial"/>
                  <a:ea typeface="Microsoft YaHei"/>
                  <a:cs typeface="Arial"/>
                </a:rPr>
                <a:t>下一步：自动分析 + 可视化回放</a:t>
              </a:r>
            </a:p>
          </p:txBody>
        </p:sp>
      </p:grpSp>
      <p:sp>
        <p:nvSpPr>
          <p:cNvPr id="74" name="TextBox 74"/>
          <p:cNvSpPr txBox="1"/>
          <p:nvPr/>
        </p:nvSpPr>
        <p:spPr>
          <a:xfrm>
            <a:off x="521970" y="6322695"/>
            <a:ext cx="3635311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64748B"/>
                </a:solidFill>
                <a:latin typeface="Arial"/>
                <a:ea typeface="Microsoft YaHei"/>
                <a:cs typeface="Arial"/>
              </a:rPr>
              <a:t>Source: course_report_zh.md · 七、系统评估 / 八、问题与不足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7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8FAFC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152400"/>
            </a:xfrm>
            <a:prstGeom prst="rect">
              <a:avLst/>
            </a:prstGeom>
            <a:solidFill>
              <a:srgbClr val="1D4E89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533400" y="6096000"/>
              <a:ext cx="11125200" cy="9525"/>
            </a:xfrm>
            <a:prstGeom prst="rect">
              <a:avLst/>
            </a:prstGeom>
            <a:solidFill>
              <a:srgbClr val="CBD5E1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643890" y="1034415"/>
            <a:ext cx="9572054" cy="1080135"/>
            <a:chOff x="643890" y="1034415"/>
            <a:chExt cx="9572054" cy="1080135"/>
          </a:xfrm>
        </p:grpSpPr>
        <p:sp>
          <p:nvSpPr>
            <p:cNvPr id="6" name="TextBox 6"/>
            <p:cNvSpPr txBox="1"/>
            <p:nvPr/>
          </p:nvSpPr>
          <p:spPr>
            <a:xfrm>
              <a:off x="643890" y="1034415"/>
              <a:ext cx="768467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结论：可控 LLM 角色需要可追踪执行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01040" y="1748790"/>
              <a:ext cx="95149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项目的关键不是让 LLM 自由写出更像角色的台词，而是把它放入受规则约束的运行流程。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857250" y="2686050"/>
            <a:ext cx="9601200" cy="781050"/>
            <a:chOff x="857250" y="2686050"/>
            <a:chExt cx="9601200" cy="781050"/>
          </a:xfrm>
        </p:grpSpPr>
        <p:sp>
          <p:nvSpPr>
            <p:cNvPr id="9" name="Rectangle 9"/>
            <p:cNvSpPr/>
            <p:nvPr/>
          </p:nvSpPr>
          <p:spPr>
            <a:xfrm>
              <a:off x="8572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40619" y="2938371"/>
              <a:ext cx="223837" cy="173923"/>
              <a:chOff x="1140619" y="2938371"/>
              <a:chExt cx="223837" cy="173923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1140619" y="3093152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140619" y="2938371"/>
                <a:ext cx="214312" cy="1914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19142">
                    <a:moveTo>
                      <a:pt x="0" y="19142"/>
                    </a:moveTo>
                    <a:cubicBezTo>
                      <a:pt x="33154" y="0"/>
                      <a:pt x="74002" y="0"/>
                      <a:pt x="107156" y="19142"/>
                    </a:cubicBezTo>
                    <a:cubicBezTo>
                      <a:pt x="140311" y="0"/>
                      <a:pt x="181158" y="0"/>
                      <a:pt x="214312" y="1914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140619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247775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354931" y="2957512"/>
                <a:ext cx="9525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4781">
                    <a:moveTo>
                      <a:pt x="0" y="0"/>
                    </a:moveTo>
                    <a:lnTo>
                      <a:pt x="0" y="154781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2431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读取状态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285750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3140869" y="2921794"/>
              <a:ext cx="214312" cy="214312"/>
              <a:chOff x="3140869" y="2921794"/>
              <a:chExt cx="214312" cy="214312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248025" y="3040856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18657" y="0"/>
                      <a:pt x="0" y="18657"/>
                      <a:pt x="0" y="41672"/>
                    </a:cubicBezTo>
                    <a:lnTo>
                      <a:pt x="0" y="53578"/>
                    </a:lnTo>
                    <a:cubicBezTo>
                      <a:pt x="0" y="76593"/>
                      <a:pt x="18657" y="95250"/>
                      <a:pt x="41672" y="95250"/>
                    </a:cubicBezTo>
                    <a:cubicBezTo>
                      <a:pt x="64687" y="95250"/>
                      <a:pt x="83344" y="76593"/>
                      <a:pt x="83344" y="53578"/>
                    </a:cubicBezTo>
                    <a:lnTo>
                      <a:pt x="83344" y="3214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164681" y="3040856"/>
                <a:ext cx="83344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0">
                    <a:moveTo>
                      <a:pt x="41672" y="0"/>
                    </a:move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53578"/>
                    </a:lnTo>
                    <a:cubicBezTo>
                      <a:pt x="83344" y="76593"/>
                      <a:pt x="64687" y="95250"/>
                      <a:pt x="41672" y="95250"/>
                    </a:cubicBezTo>
                    <a:cubicBezTo>
                      <a:pt x="18657" y="95250"/>
                      <a:pt x="0" y="76593"/>
                      <a:pt x="0" y="53578"/>
                    </a:cubicBezTo>
                    <a:lnTo>
                      <a:pt x="0" y="32147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307556" y="2993231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5953" y="83344"/>
                    </a:moveTo>
                    <a:cubicBezTo>
                      <a:pt x="28968" y="83344"/>
                      <a:pt x="47625" y="64687"/>
                      <a:pt x="47625" y="41672"/>
                    </a:cubicBezTo>
                    <a:cubicBezTo>
                      <a:pt x="47625" y="18657"/>
                      <a:pt x="28968" y="0"/>
                      <a:pt x="5953" y="0"/>
                    </a:cubicBez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248025" y="2921794"/>
                <a:ext cx="83344" cy="75009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75009">
                    <a:moveTo>
                      <a:pt x="83344" y="75009"/>
                    </a:moveTo>
                    <a:lnTo>
                      <a:pt x="83344" y="41672"/>
                    </a:lnTo>
                    <a:cubicBezTo>
                      <a:pt x="83344" y="18657"/>
                      <a:pt x="64687" y="0"/>
                      <a:pt x="41672" y="0"/>
                    </a:cubicBezTo>
                    <a:cubicBezTo>
                      <a:pt x="18657" y="0"/>
                      <a:pt x="0" y="18657"/>
                      <a:pt x="0" y="41672"/>
                    </a:cubicBez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3140869" y="2993231"/>
                <a:ext cx="47625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83344">
                    <a:moveTo>
                      <a:pt x="41672" y="83344"/>
                    </a:move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3164681" y="2921794"/>
                <a:ext cx="83344" cy="160734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160734">
                    <a:moveTo>
                      <a:pt x="0" y="75009"/>
                    </a:moveTo>
                    <a:lnTo>
                      <a:pt x="0" y="41672"/>
                    </a:lnTo>
                    <a:cubicBezTo>
                      <a:pt x="0" y="18657"/>
                      <a:pt x="18657" y="0"/>
                      <a:pt x="41672" y="0"/>
                    </a:cubicBezTo>
                    <a:cubicBezTo>
                      <a:pt x="64687" y="0"/>
                      <a:pt x="83344" y="18657"/>
                      <a:pt x="83344" y="41672"/>
                    </a:cubicBezTo>
                    <a:lnTo>
                      <a:pt x="83344" y="160734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32624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形成心智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577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5164931" y="2909888"/>
              <a:ext cx="166688" cy="226218"/>
              <a:chOff x="5164931" y="2909888"/>
              <a:chExt cx="166688" cy="226218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176838" y="2933700"/>
                <a:ext cx="14287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0">
                    <a:moveTo>
                      <a:pt x="0" y="23812"/>
                    </a:moveTo>
                    <a:cubicBezTo>
                      <a:pt x="0" y="10661"/>
                      <a:pt x="10661" y="0"/>
                      <a:pt x="23812" y="0"/>
                    </a:cubicBezTo>
                    <a:lnTo>
                      <a:pt x="119062" y="0"/>
                    </a:lnTo>
                    <a:cubicBezTo>
                      <a:pt x="132214" y="0"/>
                      <a:pt x="142875" y="10661"/>
                      <a:pt x="142875" y="23812"/>
                    </a:cubicBezTo>
                    <a:lnTo>
                      <a:pt x="142875" y="71438"/>
                    </a:lnTo>
                    <a:cubicBezTo>
                      <a:pt x="142875" y="84589"/>
                      <a:pt x="132214" y="95250"/>
                      <a:pt x="119062" y="95250"/>
                    </a:cubicBezTo>
                    <a:lnTo>
                      <a:pt x="23812" y="95250"/>
                    </a:lnTo>
                    <a:cubicBezTo>
                      <a:pt x="10661" y="95250"/>
                      <a:pt x="0" y="84589"/>
                      <a:pt x="0" y="71438"/>
                    </a:cubicBez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248275" y="2909888"/>
                <a:ext cx="95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23812">
                    <a:moveTo>
                      <a:pt x="0" y="0"/>
                    </a:moveTo>
                    <a:lnTo>
                      <a:pt x="0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5212556" y="3028950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5283994" y="3028950"/>
                <a:ext cx="9525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7156">
                    <a:moveTo>
                      <a:pt x="0" y="0"/>
                    </a:moveTo>
                    <a:lnTo>
                      <a:pt x="0" y="107156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164931" y="3052762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23812"/>
                    </a:moveTo>
                    <a:lnTo>
                      <a:pt x="47625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5283994" y="3052762"/>
                <a:ext cx="47625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23812">
                    <a:moveTo>
                      <a:pt x="0" y="0"/>
                    </a:moveTo>
                    <a:lnTo>
                      <a:pt x="47625" y="23812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212556" y="3100388"/>
                <a:ext cx="7143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">
                    <a:moveTo>
                      <a:pt x="0" y="0"/>
                    </a:move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5224462" y="2981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5272088" y="29813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0" y="119"/>
                    </a:lnTo>
                  </a:path>
                </a:pathLst>
              </a:custGeom>
              <a:noFill/>
              <a:ln w="19050">
                <a:solidFill>
                  <a:srgbClr val="1D4E89"/>
                </a:solidFill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526265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提出意图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85800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D8F3F7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7125301" y="2921794"/>
              <a:ext cx="232508" cy="214312"/>
              <a:chOff x="7125301" y="2921794"/>
              <a:chExt cx="232508" cy="214312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7125301" y="2921794"/>
                <a:ext cx="232508" cy="212479"/>
              </a:xfrm>
              <a:custGeom>
                <a:avLst/>
                <a:gdLst/>
                <a:ahLst/>
                <a:cxnLst/>
                <a:rect l="l" t="t" r="r" b="b"/>
                <a:pathLst>
                  <a:path w="232508" h="212479">
                    <a:moveTo>
                      <a:pt x="116795" y="212479"/>
                    </a:moveTo>
                    <a:cubicBezTo>
                      <a:pt x="42208" y="189358"/>
                      <a:pt x="0" y="110638"/>
                      <a:pt x="22021" y="35719"/>
                    </a:cubicBezTo>
                    <a:cubicBezTo>
                      <a:pt x="59115" y="37416"/>
                      <a:pt x="95413" y="24605"/>
                      <a:pt x="123224" y="0"/>
                    </a:cubicBezTo>
                    <a:cubicBezTo>
                      <a:pt x="151035" y="24605"/>
                      <a:pt x="187333" y="37416"/>
                      <a:pt x="224427" y="35719"/>
                    </a:cubicBezTo>
                    <a:cubicBezTo>
                      <a:pt x="232508" y="63212"/>
                      <a:pt x="232135" y="92499"/>
                      <a:pt x="223356" y="119777"/>
                    </a:cubicBez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7284244" y="3088481"/>
                <a:ext cx="71438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47625">
                    <a:moveTo>
                      <a:pt x="0" y="23812"/>
                    </a:moveTo>
                    <a:lnTo>
                      <a:pt x="23812" y="47625"/>
                    </a:lnTo>
                    <a:lnTo>
                      <a:pt x="71438" y="0"/>
                    </a:lnTo>
                  </a:path>
                </a:pathLst>
              </a:custGeom>
              <a:noFill/>
              <a:ln w="19050">
                <a:solidFill>
                  <a:srgbClr val="0E7490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726290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校验执行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858250" y="2686050"/>
              <a:ext cx="1600200" cy="781050"/>
            </a:xfrm>
            <a:prstGeom prst="roundRect">
              <a:avLst>
                <a:gd name="adj" fmla="val 9756"/>
              </a:avLst>
            </a:prstGeom>
            <a:solidFill>
              <a:srgbClr val="FFF3D6"/>
            </a:solidFill>
            <a:ln w="9525">
              <a:solidFill>
                <a:srgbClr val="CBD5E1"/>
              </a:solidFill>
            </a:ln>
          </p:spPr>
        </p:sp>
        <p:grpSp>
          <p:nvGrpSpPr>
            <p:cNvPr id="49" name="Group 49"/>
            <p:cNvGrpSpPr/>
            <p:nvPr/>
          </p:nvGrpSpPr>
          <p:grpSpPr>
            <a:xfrm>
              <a:off x="9141619" y="2969419"/>
              <a:ext cx="214312" cy="119062"/>
              <a:chOff x="9141619" y="2969419"/>
              <a:chExt cx="214312" cy="119062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9153525" y="2981325"/>
                <a:ext cx="19050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95250">
                    <a:moveTo>
                      <a:pt x="0" y="95250"/>
                    </a:moveTo>
                    <a:lnTo>
                      <a:pt x="71438" y="11906"/>
                    </a:lnTo>
                    <a:lnTo>
                      <a:pt x="130969" y="71438"/>
                    </a:ln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9272588" y="3040856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9213056" y="2981325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9141619" y="306466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332119" y="2969419"/>
                <a:ext cx="23812" cy="23812"/>
              </a:xfrm>
              <a:custGeom>
                <a:avLst/>
                <a:gdLst/>
                <a:ahLst/>
                <a:cxnLst/>
                <a:rect l="l" t="t" r="r" b="b"/>
                <a:pathLst>
                  <a:path w="23812" h="23812">
                    <a:moveTo>
                      <a:pt x="0" y="11906"/>
                    </a:moveTo>
                    <a:cubicBezTo>
                      <a:pt x="0" y="18482"/>
                      <a:pt x="5331" y="23812"/>
                      <a:pt x="11906" y="23812"/>
                    </a:cubicBezTo>
                    <a:cubicBezTo>
                      <a:pt x="18482" y="23812"/>
                      <a:pt x="23812" y="18482"/>
                      <a:pt x="23812" y="11906"/>
                    </a:cubicBezTo>
                    <a:cubicBezTo>
                      <a:pt x="23812" y="5331"/>
                      <a:pt x="18482" y="0"/>
                      <a:pt x="11906" y="0"/>
                    </a:cubicBezTo>
                    <a:cubicBezTo>
                      <a:pt x="5331" y="0"/>
                      <a:pt x="0" y="5331"/>
                      <a:pt x="0" y="11906"/>
                    </a:cubicBezTo>
                  </a:path>
                </a:pathLst>
              </a:custGeom>
              <a:noFill/>
              <a:ln w="19050">
                <a:solidFill>
                  <a:srgbClr val="B7791F"/>
                </a:solidFill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263158" y="29975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导出证据</a:t>
              </a:r>
            </a:p>
          </p:txBody>
        </p:sp>
        <p:sp>
          <p:nvSpPr>
            <p:cNvPr id="51" name="Line 51"/>
            <p:cNvSpPr/>
            <p:nvPr/>
          </p:nvSpPr>
          <p:spPr>
            <a:xfrm>
              <a:off x="245745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2" name="Polygon 52"/>
            <p:cNvSpPr/>
            <p:nvPr/>
          </p:nvSpPr>
          <p:spPr>
            <a:xfrm>
              <a:off x="276225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3" name="Line 53"/>
            <p:cNvSpPr/>
            <p:nvPr/>
          </p:nvSpPr>
          <p:spPr>
            <a:xfrm>
              <a:off x="445770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4" name="Polygon 54"/>
            <p:cNvSpPr/>
            <p:nvPr/>
          </p:nvSpPr>
          <p:spPr>
            <a:xfrm>
              <a:off x="476250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5" name="Line 55"/>
            <p:cNvSpPr/>
            <p:nvPr/>
          </p:nvSpPr>
          <p:spPr>
            <a:xfrm>
              <a:off x="645795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6" name="Polygon 56"/>
            <p:cNvSpPr/>
            <p:nvPr/>
          </p:nvSpPr>
          <p:spPr>
            <a:xfrm>
              <a:off x="676275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  <p:sp>
          <p:nvSpPr>
            <p:cNvPr id="57" name="Line 57"/>
            <p:cNvSpPr/>
            <p:nvPr/>
          </p:nvSpPr>
          <p:spPr>
            <a:xfrm>
              <a:off x="8458200" y="3076575"/>
              <a:ext cx="400050" cy="9525"/>
            </a:xfrm>
            <a:custGeom>
              <a:avLst/>
              <a:gdLst/>
              <a:ahLst/>
              <a:cxnLst/>
              <a:rect l="l" t="t" r="r" b="b"/>
              <a:pathLst>
                <a:path w="400050" h="9525">
                  <a:moveTo>
                    <a:pt x="0" y="0"/>
                  </a:moveTo>
                  <a:lnTo>
                    <a:pt x="400050" y="0"/>
                  </a:lnTo>
                </a:path>
              </a:pathLst>
            </a:custGeom>
            <a:noFill/>
            <a:ln w="19050">
              <a:solidFill>
                <a:srgbClr val="94A3B8"/>
              </a:solidFill>
            </a:ln>
          </p:spPr>
        </p:sp>
        <p:sp>
          <p:nvSpPr>
            <p:cNvPr id="58" name="Polygon 58"/>
            <p:cNvSpPr/>
            <p:nvPr/>
          </p:nvSpPr>
          <p:spPr>
            <a:xfrm>
              <a:off x="8763000" y="3019425"/>
              <a:ext cx="95250" cy="114300"/>
            </a:xfrm>
            <a:custGeom>
              <a:avLst/>
              <a:gdLst/>
              <a:ahLst/>
              <a:cxnLst/>
              <a:rect l="l" t="t" r="r" b="b"/>
              <a:pathLst>
                <a:path w="95250" h="114300">
                  <a:moveTo>
                    <a:pt x="95250" y="57150"/>
                  </a:moveTo>
                  <a:lnTo>
                    <a:pt x="0" y="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94A3B8"/>
            </a:solidFill>
            <a:ln>
              <a:noFill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96290" y="4072890"/>
            <a:ext cx="10709910" cy="1203960"/>
            <a:chOff x="796290" y="4072890"/>
            <a:chExt cx="10709910" cy="1203960"/>
          </a:xfrm>
        </p:grpSpPr>
        <p:sp>
          <p:nvSpPr>
            <p:cNvPr id="60" name="TextBox 60"/>
            <p:cNvSpPr txBox="1"/>
            <p:nvPr/>
          </p:nvSpPr>
          <p:spPr>
            <a:xfrm>
              <a:off x="796290" y="407289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D4E89"/>
                  </a:solidFill>
                  <a:latin typeface="Arial"/>
                  <a:ea typeface="Microsoft YaHei"/>
                  <a:cs typeface="Arial"/>
                </a:rPr>
                <a:t>后续工作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91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049655" y="4692968"/>
              <a:ext cx="12345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多 Agent 调度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465" y="4982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更稳定的事件顺序与冲突解决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5623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792855" y="4692968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长期记忆质量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3796665" y="4982528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筛选、压缩、检索相关性评估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3055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6536055" y="46929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自动评估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539865" y="4982528"/>
              <a:ext cx="19869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状态一致性、越权率、任务推进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9048750" y="4572000"/>
              <a:ext cx="2457450" cy="704850"/>
            </a:xfrm>
            <a:prstGeom prst="roundRect">
              <a:avLst>
                <a:gd name="adj" fmla="val 10811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9279255" y="4692968"/>
              <a:ext cx="13858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7324D"/>
                  </a:solidFill>
                  <a:latin typeface="Arial"/>
                  <a:ea typeface="Microsoft YaHei"/>
                  <a:cs typeface="Arial"/>
                </a:rPr>
                <a:t>Timeline 可视化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283065" y="49825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75569"/>
                  </a:solidFill>
                  <a:latin typeface="Arial"/>
                  <a:ea typeface="Microsoft YaHei"/>
                  <a:cs typeface="Arial"/>
                </a:rPr>
                <a:t>降低课堂展示和复盘成本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23900" y="5600700"/>
            <a:ext cx="10782300" cy="357188"/>
            <a:chOff x="723900" y="5600700"/>
            <a:chExt cx="10782300" cy="357188"/>
          </a:xfrm>
        </p:grpSpPr>
        <p:sp>
          <p:nvSpPr>
            <p:cNvPr id="74" name="Rectangle 74"/>
            <p:cNvSpPr/>
            <p:nvPr/>
          </p:nvSpPr>
          <p:spPr>
            <a:xfrm>
              <a:off x="723900" y="5600700"/>
              <a:ext cx="10782300" cy="342900"/>
            </a:xfrm>
            <a:prstGeom prst="roundRect">
              <a:avLst>
                <a:gd name="adj" fmla="val 22222"/>
              </a:avLst>
            </a:prstGeom>
            <a:solidFill>
              <a:srgbClr val="EEF4FA"/>
            </a:solidFill>
            <a:ln w="9525">
              <a:solidFill>
                <a:srgbClr val="CBD5E1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695480" y="5683568"/>
              <a:ext cx="68391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Arial"/>
                  <a:ea typeface="Microsoft YaHei"/>
                  <a:cs typeface="Arial"/>
                </a:rPr>
                <a:t>从课堂项目角度，它已经形成一个可运行、可观察、可验证的 LLM 角色 Agent 原型。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712470" y="6322695"/>
            <a:ext cx="10767060" cy="182880"/>
            <a:chOff x="712470" y="6322695"/>
            <a:chExt cx="10767060" cy="182880"/>
          </a:xfrm>
        </p:grpSpPr>
        <p:sp>
          <p:nvSpPr>
            <p:cNvPr id="77" name="TextBox 77"/>
            <p:cNvSpPr txBox="1"/>
            <p:nvPr/>
          </p:nvSpPr>
          <p:spPr>
            <a:xfrm>
              <a:off x="712470" y="6322695"/>
              <a:ext cx="241715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Source: course_report_zh.md · 十、总结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1054620" y="6322695"/>
              <a:ext cx="4249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64748B"/>
                  </a:solidFill>
                  <a:latin typeface="Arial"/>
                  <a:ea typeface="Microsoft YaHei"/>
                  <a:cs typeface="Arial"/>
                </a:rPr>
                <a:t>14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59" grpId="0"/>
      <p:bldP spid="73" grpId="0"/>
      <p:bldP spid="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2026-06-08T05:23:26Z</dcterms:created>
  <dcterms:modified xsi:type="dcterms:W3CDTF">2026-06-08T05:23:26Z</dcterms:modified>
  <cp:category/>
  <cp:contentStatus/>
</cp:coreProperties>
</file>